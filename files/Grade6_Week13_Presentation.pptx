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35c7081-31b2-eda4-1eaa-b0b7f81d8a3c}">
          <p14:sldIdLst>
            <p14:sldId id="256"/>
            <p14:sldId id="257"/>
            <p14:sldId id="258"/>
            <p14:sldId id="259"/>
            <p14:sldId id="260"/>
          </p14:sldIdLst>
        </p14:section>
        <p14:section name="Learn" id="{fdaaad06-63e6-4fea-5669-22e415cf2d66}">
          <p14:sldIdLst>
            <p14:sldId id="261"/>
            <p14:sldId id="262"/>
            <p14:sldId id="263"/>
            <p14:sldId id="264"/>
          </p14:sldIdLst>
        </p14:section>
        <p14:section name="Make" id="{46fcddf5-b9f8-d41e-e9e8-da14fe70a345}">
          <p14:sldIdLst>
            <p14:sldId id="265"/>
            <p14:sldId id="266"/>
            <p14:sldId id="267"/>
            <p14:sldId id="268"/>
          </p14:sldIdLst>
        </p14:section>
        <p14:section name="Check" id="{010f6b52-a684-9b08-2447-8bbe39b1dc48}">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 6 TCD class, Photon AI Mission Session 2 of 2 (2 hours). Students add selection (if-then sensor conditions) and repetition (loops) so Photon can react to obstacles, then complete a mission challenge with a troubleshooting log and peer debugging.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hook video on the TCD website (lesson page, Hook Video tab). Then ask: How can a car with no driver know when to stop?
Video scenes: Driverless vehicles: Being tested on UAE roads today. | Sensors: They constantly check what is around them. | If-then: If something is in the way, then slow down or stop. | Loops: Check again and again, many times every second. | Today: Teach Photon to avoid obstacles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learning goal together. Students rate themselves now (1 to 3 fingers) for each success criterion and again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(5 min): Teacher reads rules: If I raise my hand, stand up. Else, stay seated. Play for one minute with quick changes. Ask students to invent one if-then-else rule for a robot.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Pre-teach vocabulary: selection, condition, if-then-else, repetition, loop, sensor, obstacle, bug, optimise. Point to the word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Selection: if-then-else: Selection lets a program choose between actions. If the obstruction sensor detects something, then turn. Else, keep moving forward. In a flowchart, a decision is a diamond with two arrows: yes and no.
Selection lets a program choose. If a condition is true, the robot does one thing; else, it does something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Repetition: loops: A loop repeats code. Repeat a set number of times, or repeat forever. Put the if-then inside a loop so Photon keeps checking. Without a loop, Photon checks only once.
Repetition (a loop) runs code again and again. Put a sensor check inside a loop so the robot keeps checking while it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Troubleshooting like an engineer: Describe the bug: what happened and what you expected. Find the cause: which block or value? Change one thing and test again. Record each error and fix in the log.
Engineers keep a troubleshooting log: what went wrong, what caused it, what they changed and whether it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mission and peer debugging: Mission: get from start to the goal zone without touching any obstacle. Swap tablets with another pair. Find one issue or improvement in their code. Explain it kindly and let them fix it.
Engineers keep a troubleshooting log: what went wrong, what caused it, what they changed and whether it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each step. 1. Draw the flowchart with a decision 2. Code if-then-else inside a loop 3. Test on the obstacle mat 4. Log errors and fixes 5. Peer debug with another pair 6. Make one optimisation and retest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rule aloud. Students repeat the rule and show the action. Do not continue until every student can say the rules. Keep Photon on the mat. Carry robots with two hands. Respect other pairs' code when peer debugging.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practice. Draw a flowchart with a decision diamond. Code Photon to avoid obstacles using if-then-else inside a loop. Complete the mission from start to the goal zone. Log at least two errors and one optimisation. Peer debug another pair's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a level. Encourage them to try the next level once they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open this lesson on the TCD website, press Start Live Quiz, and write the code on the board. Questions: 1. What does selection let a program do? 2. In a flowchart, a decision is shown as a ... 3. What does a loop do? 4. Why put the obstacle check inside a loop? 5. If the obstruction sensor detects something, then Photon should ... 6. When troubleshooting, change ... 7. What is an optimisation? 8. During peer debugging you should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Closure: Pairs share the best bug they found and how they fixed it. Exit ticket (slide 15). Robots back to charging.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CD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94960" y="0"/>
            <a:ext cx="3749040" cy="5143500"/>
          </a:xfrm>
          <a:prstGeom prst="rect">
            <a:avLst/>
          </a:prstGeom>
          <a:solidFill>
            <a:schemeClr val="accent1"/>
          </a:solidFill>
          <a:ln/>
        </p:spPr>
      </p:sp>
      <p:pic>
        <p:nvPicPr>
          <p:cNvPr id="3" name="Image 0" descr="preencoded.png">    </p:cNvPr>
          <p:cNvPicPr>
            <a:picLocks noChangeAspect="1"/>
          </p:cNvPicPr>
          <p:nvPr/>
        </p:nvPicPr>
        <p:blipFill>
          <a:blip r:embed="rId1"/>
          <a:stretch>
            <a:fillRect/>
          </a:stretch>
        </p:blipFill>
        <p:spPr>
          <a:xfrm>
            <a:off x="457200" y="411480"/>
            <a:ext cx="2377440" cy="722376"/>
          </a:xfrm>
          <a:prstGeom prst="rect">
            <a:avLst/>
          </a:prstGeom>
        </p:spPr>
      </p:pic>
      <p:sp>
        <p:nvSpPr>
          <p:cNvPr id="4" name="Text 1"/>
          <p:cNvSpPr/>
          <p:nvPr>
            <p:ph idx="102" type="title" hasCustomPrompt="1"/>
          </p:nvPr>
        </p:nvSpPr>
        <p:spPr>
          <a:xfrm>
            <a:off x="457200" y="1600200"/>
            <a:ext cx="4663440" cy="155448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5" name="Text 1"/>
          <p:cNvSpPr/>
          <p:nvPr>
            <p:ph idx="103" type="body" hasCustomPrompt="1"/>
          </p:nvPr>
        </p:nvSpPr>
        <p:spPr>
          <a:xfrm>
            <a:off x="457200" y="3291840"/>
            <a:ext cx="4663440" cy="1097280"/>
          </a:xfrm>
          <a:prstGeom prst="rect">
            <a:avLst/>
          </a:prstGeom>
          <a:noFill/>
          <a:ln/>
        </p:spPr>
        <p:txBody>
          <a:bodyPr wrap="square" rtlCol="0"/>
          <a:lstStyle>
            <a:lvl1pPr indent="0" marL="0">
              <a:buNone/>
              <a:defRPr lang="en-US" sz="1500" dirty="0">
                <a:solidFill>
                  <a:schemeClr val="accent6"/>
                </a:solidFill>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CD_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26680" y="4663440"/>
            <a:ext cx="1051560" cy="320040"/>
          </a:xfrm>
          <a:prstGeom prst="rect">
            <a:avLst/>
          </a:prstGeom>
        </p:spPr>
      </p:pic>
      <p:sp>
        <p:nvSpPr>
          <p:cNvPr id="3" name="Text 0"/>
          <p:cNvSpPr/>
          <p:nvPr/>
        </p:nvSpPr>
        <p:spPr>
          <a:xfrm>
            <a:off x="457200" y="4681728"/>
            <a:ext cx="5943600" cy="274320"/>
          </a:xfrm>
          <a:prstGeom prst="rect">
            <a:avLst/>
          </a:prstGeom>
          <a:noFill/>
          <a:ln/>
        </p:spPr>
        <p:txBody>
          <a:bodyPr wrap="square" lIns="0" tIns="0" rIns="0" bIns="0" rtlCol="0" anchor="ctr"/>
          <a:lstStyle/>
          <a:p>
            <a:pPr indent="0" marL="0">
              <a:buNone/>
            </a:pPr>
            <a:r>
              <a:rPr lang="en-US" sz="900" dirty="0">
                <a:solidFill>
                  <a:schemeClr val="accent6"/>
                </a:solidFill>
              </a:rPr>
              <a:t>Grade 6  |  Term 1, Week 13  |  Photon AI Mission</a:t>
            </a:r>
            <a:endParaRPr lang="en-US" sz="900" dirty="0"/>
          </a:p>
        </p:txBody>
      </p:sp>
      <p:sp>
        <p:nvSpPr>
          <p:cNvPr id="4" name="Text 1"/>
          <p:cNvSpPr/>
          <p:nvPr>
            <p:ph idx="102"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CD_DARK">
    <p:bg>
      <p:bgPr>
        <a:solidFill>
          <a:schemeClr val="accent1"/>
        </a:solidFill>
      </p:bgPr>
    </p:bg>
    <p:spTree>
      <p:nvGrpSpPr>
        <p:cNvPr id="1" name=""/>
        <p:cNvGrpSpPr/>
        <p:nvPr/>
      </p:nvGrpSpPr>
      <p:grpSpPr>
        <a:xfrm>
          <a:off x="0" y="0"/>
          <a:ext cx="0" cy="0"/>
          <a:chOff x="0" y="0"/>
          <a:chExt cx="0" cy="0"/>
        </a:xfrm>
      </p:grpSpPr>
      <p:sp>
        <p:nvSpPr>
          <p:cNvPr id="2" name="Shape 0"/>
          <p:cNvSpPr/>
          <p:nvPr/>
        </p:nvSpPr>
        <p:spPr>
          <a:xfrm>
            <a:off x="7589520" y="4553712"/>
            <a:ext cx="1325880" cy="457200"/>
          </a:xfrm>
          <a:prstGeom prst="rect">
            <a:avLst>
              <a:gd name="adj" fmla="val 16000"/>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7680960" y="4617720"/>
            <a:ext cx="1143000" cy="347472"/>
          </a:xfrm>
          <a:prstGeom prst="rect">
            <a:avLst/>
          </a:prstGeom>
        </p:spPr>
      </p:pic>
      <p:sp>
        <p:nvSpPr>
          <p:cNvPr id="4" name="Text 1"/>
          <p:cNvSpPr/>
          <p:nvPr>
            <p:ph idx="102" type="title" hasCustomPrompt="1"/>
          </p:nvPr>
        </p:nvSpPr>
        <p:spPr>
          <a:xfrm>
            <a:off x="457200" y="320040"/>
            <a:ext cx="8229600" cy="68580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457200" y="1600200"/>
            <a:ext cx="4663440" cy="1554480"/>
          </a:xfrm>
          <a:prstGeom prst="rect">
            <a:avLst/>
          </a:prstGeom>
          <a:noFill/>
          <a:ln/>
        </p:spPr>
        <p:txBody>
          <a:bodyPr wrap="square" lIns="0" tIns="0" rIns="0" bIns="0" rtlCol="0" anchor="t"/>
          <a:lstStyle/>
          <a:p>
            <a:pPr indent="0" marL="0">
              <a:buNone/>
            </a:pPr>
            <a:r>
              <a:rPr lang="en-US" sz="3400" b="1" dirty="0">
                <a:solidFill>
                  <a:schemeClr val="tx1"/>
                </a:solidFill>
              </a:rPr>
              <a:t>Selection and Loops Mission</a:t>
            </a:r>
            <a:endParaRPr lang="en-US" sz="3400" dirty="0"/>
          </a:p>
        </p:txBody>
      </p:sp>
      <p:sp>
        <p:nvSpPr>
          <p:cNvPr id="3" name="Text 1"/>
          <p:cNvSpPr/>
          <p:nvPr>
            <p:ph idx="103" type="body" hasCustomPrompt="1"/>
          </p:nvPr>
        </p:nvSpPr>
        <p:spPr>
          <a:xfrm>
            <a:off x="457200" y="3291840"/>
            <a:ext cx="4663440" cy="1097280"/>
          </a:xfrm>
          <a:prstGeom prst="rect">
            <a:avLst/>
          </a:prstGeom>
          <a:noFill/>
          <a:ln/>
        </p:spPr>
        <p:txBody>
          <a:bodyPr wrap="square" lIns="0" tIns="0" rIns="0" bIns="0" rtlCol="0" anchor="t"/>
          <a:lstStyle/>
          <a:p>
            <a:pPr indent="0" marL="0">
              <a:buNone/>
            </a:pPr>
            <a:r>
              <a:rPr lang="en-US" sz="1500" dirty="0">
                <a:solidFill>
                  <a:schemeClr val="accent6"/>
                </a:solidFill>
              </a:rPr>
              <a:t>Photon AI Mission</a:t>
            </a:r>
            <a:endParaRPr lang="en-US" sz="1500" dirty="0"/>
          </a:p>
          <a:p>
            <a:pPr indent="0" marL="0">
              <a:buNone/>
            </a:pPr>
            <a:r>
              <a:rPr lang="en-US" sz="1500" dirty="0">
                <a:solidFill>
                  <a:schemeClr val="accent6"/>
                </a:solidFill>
              </a:rPr>
              <a:t>Grade 6  |  Term 1  |  Week 13 (23 Nov to 27 Nov)</a:t>
            </a:r>
            <a:endParaRPr lang="en-US" sz="1500" dirty="0"/>
          </a:p>
        </p:txBody>
      </p:sp>
      <p:sp>
        <p:nvSpPr>
          <p:cNvPr id="4" name="Text 2"/>
          <p:cNvSpPr txBox="1"/>
          <p:nvPr/>
        </p:nvSpPr>
        <p:spPr>
          <a:xfrm>
            <a:off x="457200" y="1234440"/>
            <a:ext cx="4663440" cy="274320"/>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Calibri" pitchFamily="34" charset="0"/>
                <a:ea typeface="Calibri" pitchFamily="34" charset="-122"/>
                <a:cs typeface="Calibri" pitchFamily="34" charset="-120"/>
              </a:rPr>
              <a:t>PHOTON AI MISSION</a:t>
            </a:r>
            <a:endParaRPr lang="en-US" sz="1100" dirty="0"/>
          </a:p>
        </p:txBody>
      </p:sp>
      <p:sp>
        <p:nvSpPr>
          <p:cNvPr id="5" name="Shape 3"/>
          <p:cNvSpPr/>
          <p:nvPr/>
        </p:nvSpPr>
        <p:spPr>
          <a:xfrm>
            <a:off x="6355080" y="914400"/>
            <a:ext cx="1828800" cy="18288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6793992" y="1353312"/>
            <a:ext cx="950976" cy="950976"/>
          </a:xfrm>
          <a:prstGeom prst="rect">
            <a:avLst/>
          </a:prstGeom>
        </p:spPr>
      </p:pic>
      <p:sp>
        <p:nvSpPr>
          <p:cNvPr id="7" name="Text 4"/>
          <p:cNvSpPr txBox="1"/>
          <p:nvPr/>
        </p:nvSpPr>
        <p:spPr>
          <a:xfrm>
            <a:off x="5669280" y="3063240"/>
            <a:ext cx="3200400" cy="32004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Technology and Career Centre, Dubai</a:t>
            </a:r>
            <a:endParaRPr lang="en-US" sz="1300" dirty="0"/>
          </a:p>
        </p:txBody>
      </p:sp>
      <p:sp>
        <p:nvSpPr>
          <p:cNvPr id="8" name="Text 5"/>
          <p:cNvSpPr txBox="1"/>
          <p:nvPr/>
        </p:nvSpPr>
        <p:spPr>
          <a:xfrm>
            <a:off x="5669280" y="3429000"/>
            <a:ext cx="3200400" cy="548640"/>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Ms. Lubna Kakkengal and Mr. Dilan Devendra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Hook</a:t>
            </a:r>
            <a:endParaRPr lang="en-US" sz="3000" dirty="0"/>
          </a:p>
        </p:txBody>
      </p:sp>
      <p:sp>
        <p:nvSpPr>
          <p:cNvPr id="3" name="Text 1"/>
          <p:cNvSpPr txBox="1"/>
          <p:nvPr/>
        </p:nvSpPr>
        <p:spPr>
          <a:xfrm>
            <a:off x="457200" y="1097280"/>
            <a:ext cx="8229600" cy="109728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How can a car with no driver know when to stop?</a:t>
            </a:r>
            <a:endParaRPr lang="en-US" sz="2400" dirty="0"/>
          </a:p>
        </p:txBody>
      </p:sp>
      <p:sp>
        <p:nvSpPr>
          <p:cNvPr id="4" name="scene0"/>
          <p:cNvSpPr/>
          <p:nvPr/>
        </p:nvSpPr>
        <p:spPr>
          <a:xfrm>
            <a:off x="457200" y="2423160"/>
            <a:ext cx="1885950" cy="1874520"/>
          </a:xfrm>
          <a:prstGeom prst="roundRect">
            <a:avLst>
              <a:gd name="adj" fmla="val 5854"/>
            </a:avLst>
          </a:prstGeom>
          <a:solidFill>
            <a:srgbClr val="0A5C5F"/>
          </a:solidFill>
          <a:ln w="12700">
            <a:solidFill>
              <a:srgbClr val="0A5C5F"/>
            </a:solidFill>
            <a:prstDash val="solid"/>
          </a:ln>
        </p:spPr>
      </p:sp>
      <p:sp>
        <p:nvSpPr>
          <p:cNvPr id="5" name="Text 3"/>
          <p:cNvSpPr txBox="1"/>
          <p:nvPr/>
        </p:nvSpPr>
        <p:spPr>
          <a:xfrm>
            <a:off x="5943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Driverless vehicles</a:t>
            </a:r>
            <a:endParaRPr lang="en-US" sz="1400" dirty="0"/>
          </a:p>
        </p:txBody>
      </p:sp>
      <p:sp>
        <p:nvSpPr>
          <p:cNvPr id="6" name="Text 4"/>
          <p:cNvSpPr txBox="1"/>
          <p:nvPr/>
        </p:nvSpPr>
        <p:spPr>
          <a:xfrm>
            <a:off x="5943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Being tested on UAE roads today.</a:t>
            </a:r>
            <a:endParaRPr lang="en-US" sz="1300" dirty="0"/>
          </a:p>
        </p:txBody>
      </p:sp>
      <p:sp>
        <p:nvSpPr>
          <p:cNvPr id="7" name="scene1"/>
          <p:cNvSpPr/>
          <p:nvPr/>
        </p:nvSpPr>
        <p:spPr>
          <a:xfrm>
            <a:off x="2571750" y="2423160"/>
            <a:ext cx="1885950" cy="1874520"/>
          </a:xfrm>
          <a:prstGeom prst="roundRect">
            <a:avLst>
              <a:gd name="adj" fmla="val 5854"/>
            </a:avLst>
          </a:prstGeom>
          <a:solidFill>
            <a:srgbClr val="0A5C5F"/>
          </a:solidFill>
          <a:ln w="12700">
            <a:solidFill>
              <a:srgbClr val="0A5C5F"/>
            </a:solidFill>
            <a:prstDash val="solid"/>
          </a:ln>
        </p:spPr>
      </p:sp>
      <p:sp>
        <p:nvSpPr>
          <p:cNvPr id="8" name="Text 6"/>
          <p:cNvSpPr txBox="1"/>
          <p:nvPr/>
        </p:nvSpPr>
        <p:spPr>
          <a:xfrm>
            <a:off x="27089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Sensors</a:t>
            </a:r>
            <a:endParaRPr lang="en-US" sz="1400" dirty="0"/>
          </a:p>
        </p:txBody>
      </p:sp>
      <p:sp>
        <p:nvSpPr>
          <p:cNvPr id="9" name="Text 7"/>
          <p:cNvSpPr txBox="1"/>
          <p:nvPr/>
        </p:nvSpPr>
        <p:spPr>
          <a:xfrm>
            <a:off x="27089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They constantly check what is around them.</a:t>
            </a:r>
            <a:endParaRPr lang="en-US" sz="1300" dirty="0"/>
          </a:p>
        </p:txBody>
      </p:sp>
      <p:sp>
        <p:nvSpPr>
          <p:cNvPr id="10" name="scene2"/>
          <p:cNvSpPr/>
          <p:nvPr/>
        </p:nvSpPr>
        <p:spPr>
          <a:xfrm>
            <a:off x="4686300" y="2423160"/>
            <a:ext cx="1885950" cy="1874520"/>
          </a:xfrm>
          <a:prstGeom prst="roundRect">
            <a:avLst>
              <a:gd name="adj" fmla="val 5854"/>
            </a:avLst>
          </a:prstGeom>
          <a:solidFill>
            <a:srgbClr val="0A5C5F"/>
          </a:solidFill>
          <a:ln w="12700">
            <a:solidFill>
              <a:srgbClr val="0A5C5F"/>
            </a:solidFill>
            <a:prstDash val="solid"/>
          </a:ln>
        </p:spPr>
      </p:sp>
      <p:sp>
        <p:nvSpPr>
          <p:cNvPr id="11" name="Text 9"/>
          <p:cNvSpPr txBox="1"/>
          <p:nvPr/>
        </p:nvSpPr>
        <p:spPr>
          <a:xfrm>
            <a:off x="48234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If-then</a:t>
            </a:r>
            <a:endParaRPr lang="en-US" sz="1400" dirty="0"/>
          </a:p>
        </p:txBody>
      </p:sp>
      <p:sp>
        <p:nvSpPr>
          <p:cNvPr id="12" name="Text 10"/>
          <p:cNvSpPr txBox="1"/>
          <p:nvPr/>
        </p:nvSpPr>
        <p:spPr>
          <a:xfrm>
            <a:off x="48234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If something is in the way, then slow down or stop.</a:t>
            </a:r>
            <a:endParaRPr lang="en-US" sz="1300" dirty="0"/>
          </a:p>
        </p:txBody>
      </p:sp>
      <p:sp>
        <p:nvSpPr>
          <p:cNvPr id="13" name="scene3"/>
          <p:cNvSpPr/>
          <p:nvPr/>
        </p:nvSpPr>
        <p:spPr>
          <a:xfrm>
            <a:off x="6800850" y="2423160"/>
            <a:ext cx="1885950" cy="1874520"/>
          </a:xfrm>
          <a:prstGeom prst="roundRect">
            <a:avLst>
              <a:gd name="adj" fmla="val 5854"/>
            </a:avLst>
          </a:prstGeom>
          <a:solidFill>
            <a:srgbClr val="0A5C5F"/>
          </a:solidFill>
          <a:ln w="12700">
            <a:solidFill>
              <a:srgbClr val="0A5C5F"/>
            </a:solidFill>
            <a:prstDash val="solid"/>
          </a:ln>
        </p:spPr>
      </p:sp>
      <p:sp>
        <p:nvSpPr>
          <p:cNvPr id="14" name="Text 12"/>
          <p:cNvSpPr txBox="1"/>
          <p:nvPr/>
        </p:nvSpPr>
        <p:spPr>
          <a:xfrm>
            <a:off x="69380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Loops</a:t>
            </a:r>
            <a:endParaRPr lang="en-US" sz="1400" dirty="0"/>
          </a:p>
        </p:txBody>
      </p:sp>
      <p:sp>
        <p:nvSpPr>
          <p:cNvPr id="15" name="Text 13"/>
          <p:cNvSpPr txBox="1"/>
          <p:nvPr/>
        </p:nvSpPr>
        <p:spPr>
          <a:xfrm>
            <a:off x="69380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Check again and again, many times every second.</a:t>
            </a:r>
            <a:endParaRPr lang="en-US" sz="13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Today's Learning</a:t>
            </a:r>
            <a:endParaRPr lang="en-US" sz="3000" dirty="0"/>
          </a:p>
        </p:txBody>
      </p:sp>
      <p:sp>
        <p:nvSpPr>
          <p:cNvPr id="3" name="walt"/>
          <p:cNvSpPr/>
          <p:nvPr/>
        </p:nvSpPr>
        <p:spPr>
          <a:xfrm>
            <a:off x="457200" y="1143000"/>
            <a:ext cx="3566160" cy="3246120"/>
          </a:xfrm>
          <a:prstGeom prst="roundRect">
            <a:avLst>
              <a:gd name="adj" fmla="val 3380"/>
            </a:avLst>
          </a:prstGeom>
          <a:solidFill>
            <a:srgbClr val="E6F2F2"/>
          </a:solidFill>
          <a:ln w="12700">
            <a:solidFill>
              <a:srgbClr val="E6F2F2"/>
            </a:solidFill>
            <a:prstDash val="solid"/>
          </a:ln>
        </p:spPr>
      </p:sp>
      <p:sp>
        <p:nvSpPr>
          <p:cNvPr id="4" name="Shape 2"/>
          <p:cNvSpPr/>
          <p:nvPr/>
        </p:nvSpPr>
        <p:spPr>
          <a:xfrm>
            <a:off x="685800" y="1371600"/>
            <a:ext cx="640080" cy="64008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39419" y="1525219"/>
            <a:ext cx="332842" cy="332842"/>
          </a:xfrm>
          <a:prstGeom prst="rect">
            <a:avLst/>
          </a:prstGeom>
        </p:spPr>
      </p:pic>
      <p:sp>
        <p:nvSpPr>
          <p:cNvPr id="6" name="Text 3"/>
          <p:cNvSpPr txBox="1"/>
          <p:nvPr/>
        </p:nvSpPr>
        <p:spPr>
          <a:xfrm>
            <a:off x="1463040" y="1417320"/>
            <a:ext cx="2468880" cy="5486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We are learning to (WALT)</a:t>
            </a:r>
            <a:endParaRPr lang="en-US" sz="1500" dirty="0"/>
          </a:p>
        </p:txBody>
      </p:sp>
      <p:sp>
        <p:nvSpPr>
          <p:cNvPr id="7" name="Text 4"/>
          <p:cNvSpPr txBox="1"/>
          <p:nvPr/>
        </p:nvSpPr>
        <p:spPr>
          <a:xfrm>
            <a:off x="685800" y="2194560"/>
            <a:ext cx="3154680" cy="20116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We are learning to use if-then conditions and loops so a robot can make decisions and repeat actions.</a:t>
            </a:r>
            <a:endParaRPr lang="en-US" sz="1800" dirty="0"/>
          </a:p>
        </p:txBody>
      </p:sp>
      <p:sp>
        <p:nvSpPr>
          <p:cNvPr id="8" name="Text 5"/>
          <p:cNvSpPr txBox="1"/>
          <p:nvPr/>
        </p:nvSpPr>
        <p:spPr>
          <a:xfrm>
            <a:off x="4389120" y="1143000"/>
            <a:ext cx="429768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What I am looking for (WILF)</a:t>
            </a:r>
            <a:endParaRPr lang="en-US" sz="1500" dirty="0"/>
          </a:p>
        </p:txBody>
      </p:sp>
      <p:sp>
        <p:nvSpPr>
          <p:cNvPr id="9" name="Text 6"/>
          <p:cNvSpPr txBox="1"/>
          <p:nvPr/>
        </p:nvSpPr>
        <p:spPr>
          <a:xfrm>
            <a:off x="4389120" y="1600200"/>
            <a:ext cx="4297680" cy="2788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explain selection and repetition.</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program Photon to react when its sensor detects an obstacle.</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use a loop so my program keeps checking the sensor.</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log at least two errors and fix them, including one found by a peer.</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Warm-up: If This, Then That</a:t>
            </a:r>
            <a:endParaRPr lang="en-US" sz="3000" dirty="0"/>
          </a:p>
        </p:txBody>
      </p:sp>
      <p:sp>
        <p:nvSpPr>
          <p:cNvPr id="3" name="Shape 1"/>
          <p:cNvSpPr/>
          <p:nvPr/>
        </p:nvSpPr>
        <p:spPr>
          <a:xfrm>
            <a:off x="457200" y="1188720"/>
            <a:ext cx="1188720" cy="1188720"/>
          </a:xfrm>
          <a:prstGeom prst="ellipse">
            <a:avLst/>
          </a:prstGeom>
          <a:solidFill>
            <a:srgbClr val="F2A31B"/>
          </a:solidFill>
          <a:ln w="12700">
            <a:solidFill>
              <a:srgbClr val="F2A31B"/>
            </a:solidFill>
            <a:prstDash val="solid"/>
          </a:ln>
        </p:spPr>
      </p:sp>
      <p:pic>
        <p:nvPicPr>
          <p:cNvPr id="4" name="Image 0" descr="preencoded.png">    </p:cNvPr>
          <p:cNvPicPr>
            <a:picLocks noChangeAspect="1"/>
          </p:cNvPicPr>
          <p:nvPr/>
        </p:nvPicPr>
        <p:blipFill>
          <a:blip r:embed="rId1"/>
          <a:stretch>
            <a:fillRect/>
          </a:stretch>
        </p:blipFill>
        <p:spPr>
          <a:xfrm>
            <a:off x="742493" y="1474013"/>
            <a:ext cx="618134" cy="618134"/>
          </a:xfrm>
          <a:prstGeom prst="rect">
            <a:avLst/>
          </a:prstGeom>
        </p:spPr>
      </p:pic>
      <p:sp>
        <p:nvSpPr>
          <p:cNvPr id="5" name="Text 2"/>
          <p:cNvSpPr txBox="1"/>
          <p:nvPr/>
        </p:nvSpPr>
        <p:spPr>
          <a:xfrm>
            <a:off x="320040" y="2468880"/>
            <a:ext cx="1463040" cy="320040"/>
          </a:xfrm>
          <a:prstGeom prst="rect">
            <a:avLst/>
          </a:prstGeom>
          <a:noFill/>
          <a:ln/>
        </p:spPr>
        <p:txBody>
          <a:bodyPr wrap="square" lIns="0" tIns="0" rIns="0" bIns="0" rtlCol="0" anchor="ctr"/>
          <a:lstStyle/>
          <a:p>
            <a:pPr algn="ctr" indent="0" marL="0">
              <a:buNone/>
            </a:pPr>
            <a:r>
              <a:rPr lang="en-US" sz="1300" b="1" dirty="0">
                <a:solidFill>
                  <a:schemeClr val="accent3"/>
                </a:solidFill>
                <a:latin typeface="Calibri" pitchFamily="34" charset="0"/>
                <a:ea typeface="Calibri" pitchFamily="34" charset="-122"/>
                <a:cs typeface="Calibri" pitchFamily="34" charset="-120"/>
              </a:rPr>
              <a:t>5 minutes</a:t>
            </a:r>
            <a:endParaRPr lang="en-US" sz="1300" dirty="0"/>
          </a:p>
        </p:txBody>
      </p:sp>
      <p:sp>
        <p:nvSpPr>
          <p:cNvPr id="6" name="Shape 3"/>
          <p:cNvSpPr/>
          <p:nvPr/>
        </p:nvSpPr>
        <p:spPr>
          <a:xfrm>
            <a:off x="2103120" y="1234440"/>
            <a:ext cx="457200" cy="457200"/>
          </a:xfrm>
          <a:prstGeom prst="ellipse">
            <a:avLst/>
          </a:prstGeom>
          <a:solidFill>
            <a:srgbClr val="0E7C80"/>
          </a:solidFill>
          <a:ln w="12700">
            <a:solidFill>
              <a:srgbClr val="0E7C80"/>
            </a:solidFill>
            <a:prstDash val="solid"/>
          </a:ln>
        </p:spPr>
      </p:sp>
      <p:sp>
        <p:nvSpPr>
          <p:cNvPr id="7" name="Text 4"/>
          <p:cNvSpPr txBox="1"/>
          <p:nvPr/>
        </p:nvSpPr>
        <p:spPr>
          <a:xfrm>
            <a:off x="210312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8" name="Text 5"/>
          <p:cNvSpPr txBox="1"/>
          <p:nvPr/>
        </p:nvSpPr>
        <p:spPr>
          <a:xfrm>
            <a:off x="2743200" y="118872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Teacher reads rules: If I raise my hand, stand up. Else, stay seated.</a:t>
            </a:r>
            <a:endParaRPr lang="en-US" sz="1500" dirty="0"/>
          </a:p>
        </p:txBody>
      </p:sp>
      <p:sp>
        <p:nvSpPr>
          <p:cNvPr id="9" name="Shape 6"/>
          <p:cNvSpPr/>
          <p:nvPr/>
        </p:nvSpPr>
        <p:spPr>
          <a:xfrm>
            <a:off x="2103120" y="2286000"/>
            <a:ext cx="457200" cy="457200"/>
          </a:xfrm>
          <a:prstGeom prst="ellipse">
            <a:avLst/>
          </a:prstGeom>
          <a:solidFill>
            <a:srgbClr val="0E7C80"/>
          </a:solidFill>
          <a:ln w="12700">
            <a:solidFill>
              <a:srgbClr val="0E7C80"/>
            </a:solidFill>
            <a:prstDash val="solid"/>
          </a:ln>
        </p:spPr>
      </p:sp>
      <p:sp>
        <p:nvSpPr>
          <p:cNvPr id="10" name="Text 7"/>
          <p:cNvSpPr txBox="1"/>
          <p:nvPr/>
        </p:nvSpPr>
        <p:spPr>
          <a:xfrm>
            <a:off x="2103120" y="2286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2743200" y="224028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Play for one minute with quick changes.</a:t>
            </a:r>
            <a:endParaRPr lang="en-US" sz="1500" dirty="0"/>
          </a:p>
        </p:txBody>
      </p:sp>
      <p:sp>
        <p:nvSpPr>
          <p:cNvPr id="12" name="Shape 9"/>
          <p:cNvSpPr/>
          <p:nvPr/>
        </p:nvSpPr>
        <p:spPr>
          <a:xfrm>
            <a:off x="2103120" y="3337560"/>
            <a:ext cx="457200" cy="457200"/>
          </a:xfrm>
          <a:prstGeom prst="ellipse">
            <a:avLst/>
          </a:prstGeom>
          <a:solidFill>
            <a:srgbClr val="0E7C80"/>
          </a:solidFill>
          <a:ln w="12700">
            <a:solidFill>
              <a:srgbClr val="0E7C80"/>
            </a:solidFill>
            <a:prstDash val="solid"/>
          </a:ln>
        </p:spPr>
      </p:sp>
      <p:sp>
        <p:nvSpPr>
          <p:cNvPr id="13" name="Text 10"/>
          <p:cNvSpPr txBox="1"/>
          <p:nvPr/>
        </p:nvSpPr>
        <p:spPr>
          <a:xfrm>
            <a:off x="2103120" y="3337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4" name="Text 11"/>
          <p:cNvSpPr txBox="1"/>
          <p:nvPr/>
        </p:nvSpPr>
        <p:spPr>
          <a:xfrm>
            <a:off x="2743200" y="329184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Ask students to invent one if-then-else rule for a robot.</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Key Words</a:t>
            </a:r>
            <a:endParaRPr lang="en-US" sz="3000" dirty="0"/>
          </a:p>
        </p:txBody>
      </p:sp>
      <p:sp>
        <p:nvSpPr>
          <p:cNvPr id="3" name="word0"/>
          <p:cNvSpPr/>
          <p:nvPr/>
        </p:nvSpPr>
        <p:spPr>
          <a:xfrm>
            <a:off x="457200" y="1280160"/>
            <a:ext cx="1499616" cy="731520"/>
          </a:xfrm>
          <a:prstGeom prst="roundRect">
            <a:avLst>
              <a:gd name="adj" fmla="val 15000"/>
            </a:avLst>
          </a:prstGeom>
          <a:solidFill>
            <a:srgbClr val="FCEFF3"/>
          </a:solidFill>
          <a:ln w="12700">
            <a:solidFill>
              <a:srgbClr val="FCEFF3"/>
            </a:solidFill>
            <a:prstDash val="solid"/>
          </a:ln>
        </p:spPr>
      </p:sp>
      <p:sp>
        <p:nvSpPr>
          <p:cNvPr id="4" name="Text 2"/>
          <p:cNvSpPr txBox="1"/>
          <p:nvPr/>
        </p:nvSpPr>
        <p:spPr>
          <a:xfrm>
            <a:off x="548640" y="128016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selection</a:t>
            </a:r>
            <a:endParaRPr lang="en-US" sz="1700" dirty="0"/>
          </a:p>
        </p:txBody>
      </p:sp>
      <p:sp>
        <p:nvSpPr>
          <p:cNvPr id="5" name="word1"/>
          <p:cNvSpPr/>
          <p:nvPr/>
        </p:nvSpPr>
        <p:spPr>
          <a:xfrm>
            <a:off x="2139696" y="1280160"/>
            <a:ext cx="1499616" cy="731520"/>
          </a:xfrm>
          <a:prstGeom prst="roundRect">
            <a:avLst>
              <a:gd name="adj" fmla="val 15000"/>
            </a:avLst>
          </a:prstGeom>
          <a:solidFill>
            <a:srgbClr val="E6F2F2"/>
          </a:solidFill>
          <a:ln w="12700">
            <a:solidFill>
              <a:srgbClr val="E6F2F2"/>
            </a:solidFill>
            <a:prstDash val="solid"/>
          </a:ln>
        </p:spPr>
      </p:sp>
      <p:sp>
        <p:nvSpPr>
          <p:cNvPr id="6" name="Text 4"/>
          <p:cNvSpPr txBox="1"/>
          <p:nvPr/>
        </p:nvSpPr>
        <p:spPr>
          <a:xfrm>
            <a:off x="2231136" y="1280160"/>
            <a:ext cx="1316736"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condition</a:t>
            </a:r>
            <a:endParaRPr lang="en-US" sz="1700" dirty="0"/>
          </a:p>
        </p:txBody>
      </p:sp>
      <p:sp>
        <p:nvSpPr>
          <p:cNvPr id="7" name="word2"/>
          <p:cNvSpPr/>
          <p:nvPr/>
        </p:nvSpPr>
        <p:spPr>
          <a:xfrm>
            <a:off x="3822192" y="1280160"/>
            <a:ext cx="1499616" cy="731520"/>
          </a:xfrm>
          <a:prstGeom prst="roundRect">
            <a:avLst>
              <a:gd name="adj" fmla="val 15000"/>
            </a:avLst>
          </a:prstGeom>
          <a:solidFill>
            <a:srgbClr val="FCEFF3"/>
          </a:solidFill>
          <a:ln w="12700">
            <a:solidFill>
              <a:srgbClr val="FCEFF3"/>
            </a:solidFill>
            <a:prstDash val="solid"/>
          </a:ln>
        </p:spPr>
      </p:sp>
      <p:sp>
        <p:nvSpPr>
          <p:cNvPr id="8" name="Text 6"/>
          <p:cNvSpPr txBox="1"/>
          <p:nvPr/>
        </p:nvSpPr>
        <p:spPr>
          <a:xfrm>
            <a:off x="3913632" y="128016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if-then-else</a:t>
            </a:r>
            <a:endParaRPr lang="en-US" sz="1700" dirty="0"/>
          </a:p>
        </p:txBody>
      </p:sp>
      <p:sp>
        <p:nvSpPr>
          <p:cNvPr id="9" name="word3"/>
          <p:cNvSpPr/>
          <p:nvPr/>
        </p:nvSpPr>
        <p:spPr>
          <a:xfrm>
            <a:off x="5504688" y="1280160"/>
            <a:ext cx="1499616" cy="731520"/>
          </a:xfrm>
          <a:prstGeom prst="roundRect">
            <a:avLst>
              <a:gd name="adj" fmla="val 15000"/>
            </a:avLst>
          </a:prstGeom>
          <a:solidFill>
            <a:srgbClr val="E6F2F2"/>
          </a:solidFill>
          <a:ln w="12700">
            <a:solidFill>
              <a:srgbClr val="E6F2F2"/>
            </a:solidFill>
            <a:prstDash val="solid"/>
          </a:ln>
        </p:spPr>
      </p:sp>
      <p:sp>
        <p:nvSpPr>
          <p:cNvPr id="10" name="Text 8"/>
          <p:cNvSpPr txBox="1"/>
          <p:nvPr/>
        </p:nvSpPr>
        <p:spPr>
          <a:xfrm>
            <a:off x="5596128" y="1280160"/>
            <a:ext cx="1316736"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repetition</a:t>
            </a:r>
            <a:endParaRPr lang="en-US" sz="1700" dirty="0"/>
          </a:p>
        </p:txBody>
      </p:sp>
      <p:sp>
        <p:nvSpPr>
          <p:cNvPr id="11" name="word4"/>
          <p:cNvSpPr/>
          <p:nvPr/>
        </p:nvSpPr>
        <p:spPr>
          <a:xfrm>
            <a:off x="7187184" y="1280160"/>
            <a:ext cx="1499616" cy="731520"/>
          </a:xfrm>
          <a:prstGeom prst="roundRect">
            <a:avLst>
              <a:gd name="adj" fmla="val 15000"/>
            </a:avLst>
          </a:prstGeom>
          <a:solidFill>
            <a:srgbClr val="FCEFF3"/>
          </a:solidFill>
          <a:ln w="12700">
            <a:solidFill>
              <a:srgbClr val="FCEFF3"/>
            </a:solidFill>
            <a:prstDash val="solid"/>
          </a:ln>
        </p:spPr>
      </p:sp>
      <p:sp>
        <p:nvSpPr>
          <p:cNvPr id="12" name="Text 10"/>
          <p:cNvSpPr txBox="1"/>
          <p:nvPr/>
        </p:nvSpPr>
        <p:spPr>
          <a:xfrm>
            <a:off x="7278624" y="128016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loop</a:t>
            </a:r>
            <a:endParaRPr lang="en-US" sz="1700" dirty="0"/>
          </a:p>
        </p:txBody>
      </p:sp>
      <p:sp>
        <p:nvSpPr>
          <p:cNvPr id="13" name="word5"/>
          <p:cNvSpPr/>
          <p:nvPr/>
        </p:nvSpPr>
        <p:spPr>
          <a:xfrm>
            <a:off x="457200" y="2240280"/>
            <a:ext cx="1499616" cy="731520"/>
          </a:xfrm>
          <a:prstGeom prst="roundRect">
            <a:avLst>
              <a:gd name="adj" fmla="val 15000"/>
            </a:avLst>
          </a:prstGeom>
          <a:solidFill>
            <a:srgbClr val="E6F2F2"/>
          </a:solidFill>
          <a:ln w="12700">
            <a:solidFill>
              <a:srgbClr val="E6F2F2"/>
            </a:solidFill>
            <a:prstDash val="solid"/>
          </a:ln>
        </p:spPr>
      </p:sp>
      <p:sp>
        <p:nvSpPr>
          <p:cNvPr id="14" name="Text 12"/>
          <p:cNvSpPr txBox="1"/>
          <p:nvPr/>
        </p:nvSpPr>
        <p:spPr>
          <a:xfrm>
            <a:off x="548640" y="2240280"/>
            <a:ext cx="1316736"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sensor</a:t>
            </a:r>
            <a:endParaRPr lang="en-US" sz="1700" dirty="0"/>
          </a:p>
        </p:txBody>
      </p:sp>
      <p:sp>
        <p:nvSpPr>
          <p:cNvPr id="15" name="word6"/>
          <p:cNvSpPr/>
          <p:nvPr/>
        </p:nvSpPr>
        <p:spPr>
          <a:xfrm>
            <a:off x="2139696" y="2240280"/>
            <a:ext cx="1499616" cy="731520"/>
          </a:xfrm>
          <a:prstGeom prst="roundRect">
            <a:avLst>
              <a:gd name="adj" fmla="val 15000"/>
            </a:avLst>
          </a:prstGeom>
          <a:solidFill>
            <a:srgbClr val="FCEFF3"/>
          </a:solidFill>
          <a:ln w="12700">
            <a:solidFill>
              <a:srgbClr val="FCEFF3"/>
            </a:solidFill>
            <a:prstDash val="solid"/>
          </a:ln>
        </p:spPr>
      </p:sp>
      <p:sp>
        <p:nvSpPr>
          <p:cNvPr id="16" name="Text 14"/>
          <p:cNvSpPr txBox="1"/>
          <p:nvPr/>
        </p:nvSpPr>
        <p:spPr>
          <a:xfrm>
            <a:off x="2231136" y="224028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obstacle</a:t>
            </a:r>
            <a:endParaRPr lang="en-US" sz="1700" dirty="0"/>
          </a:p>
        </p:txBody>
      </p:sp>
      <p:sp>
        <p:nvSpPr>
          <p:cNvPr id="17" name="word7"/>
          <p:cNvSpPr/>
          <p:nvPr/>
        </p:nvSpPr>
        <p:spPr>
          <a:xfrm>
            <a:off x="3822192" y="2240280"/>
            <a:ext cx="1499616" cy="731520"/>
          </a:xfrm>
          <a:prstGeom prst="roundRect">
            <a:avLst>
              <a:gd name="adj" fmla="val 15000"/>
            </a:avLst>
          </a:prstGeom>
          <a:solidFill>
            <a:srgbClr val="E6F2F2"/>
          </a:solidFill>
          <a:ln w="12700">
            <a:solidFill>
              <a:srgbClr val="E6F2F2"/>
            </a:solidFill>
            <a:prstDash val="solid"/>
          </a:ln>
        </p:spPr>
      </p:sp>
      <p:sp>
        <p:nvSpPr>
          <p:cNvPr id="18" name="Text 16"/>
          <p:cNvSpPr txBox="1"/>
          <p:nvPr/>
        </p:nvSpPr>
        <p:spPr>
          <a:xfrm>
            <a:off x="3913632" y="2240280"/>
            <a:ext cx="1316736"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bug</a:t>
            </a:r>
            <a:endParaRPr lang="en-US" sz="1700" dirty="0"/>
          </a:p>
        </p:txBody>
      </p:sp>
      <p:sp>
        <p:nvSpPr>
          <p:cNvPr id="19" name="word8"/>
          <p:cNvSpPr/>
          <p:nvPr/>
        </p:nvSpPr>
        <p:spPr>
          <a:xfrm>
            <a:off x="5504688" y="2240280"/>
            <a:ext cx="1499616" cy="731520"/>
          </a:xfrm>
          <a:prstGeom prst="roundRect">
            <a:avLst>
              <a:gd name="adj" fmla="val 15000"/>
            </a:avLst>
          </a:prstGeom>
          <a:solidFill>
            <a:srgbClr val="FCEFF3"/>
          </a:solidFill>
          <a:ln w="12700">
            <a:solidFill>
              <a:srgbClr val="FCEFF3"/>
            </a:solidFill>
            <a:prstDash val="solid"/>
          </a:ln>
        </p:spPr>
      </p:sp>
      <p:sp>
        <p:nvSpPr>
          <p:cNvPr id="20" name="Text 18"/>
          <p:cNvSpPr txBox="1"/>
          <p:nvPr/>
        </p:nvSpPr>
        <p:spPr>
          <a:xfrm>
            <a:off x="5596128" y="224028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optimise</a:t>
            </a:r>
            <a:endParaRPr lang="en-US" sz="1700" dirty="0"/>
          </a:p>
        </p:txBody>
      </p:sp>
      <p:sp>
        <p:nvSpPr>
          <p:cNvPr id="21" name="Text 19"/>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300" i="1" dirty="0">
                <a:solidFill>
                  <a:schemeClr val="accent6"/>
                </a:solidFill>
                <a:latin typeface="Calibri" pitchFamily="34" charset="0"/>
                <a:ea typeface="Calibri" pitchFamily="34" charset="-122"/>
                <a:cs typeface="Calibri" pitchFamily="34" charset="-120"/>
              </a:rPr>
              <a:t>Say each word with your partner. Which words do you already know?</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Selection: if-then-else</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Selection lets a program choose between actions.</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If the obstruction sensor detects something, then turn.</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Else, keep moving forward.</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In a flowchart, a decision is a diamond with two arrows: yes and no.</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Repetition: loops</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A loop repeats code.</a:t>
            </a:r>
            <a:endParaRPr lang="en-US" sz="1600" dirty="0"/>
          </a:p>
        </p:txBody>
      </p:sp>
      <p:sp>
        <p:nvSpPr>
          <p:cNvPr id="6" name="Shape 3"/>
          <p:cNvSpPr/>
          <p:nvPr/>
        </p:nvSpPr>
        <p:spPr>
          <a:xfrm>
            <a:off x="457200" y="205740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178101"/>
            <a:ext cx="261518" cy="261518"/>
          </a:xfrm>
          <a:prstGeom prst="rect">
            <a:avLst/>
          </a:prstGeom>
        </p:spPr>
      </p:pic>
      <p:sp>
        <p:nvSpPr>
          <p:cNvPr id="8" name="Text 4"/>
          <p:cNvSpPr txBox="1"/>
          <p:nvPr/>
        </p:nvSpPr>
        <p:spPr>
          <a:xfrm>
            <a:off x="1143000" y="201168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Repeat a set number of times, or repeat forever.</a:t>
            </a:r>
            <a:endParaRPr lang="en-US" sz="1600" dirty="0"/>
          </a:p>
        </p:txBody>
      </p:sp>
      <p:sp>
        <p:nvSpPr>
          <p:cNvPr id="9" name="Shape 5"/>
          <p:cNvSpPr/>
          <p:nvPr/>
        </p:nvSpPr>
        <p:spPr>
          <a:xfrm>
            <a:off x="457200" y="288036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01061"/>
            <a:ext cx="261518" cy="261518"/>
          </a:xfrm>
          <a:prstGeom prst="rect">
            <a:avLst/>
          </a:prstGeom>
        </p:spPr>
      </p:pic>
      <p:sp>
        <p:nvSpPr>
          <p:cNvPr id="11" name="Text 6"/>
          <p:cNvSpPr txBox="1"/>
          <p:nvPr/>
        </p:nvSpPr>
        <p:spPr>
          <a:xfrm>
            <a:off x="1143000" y="283464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Put the if-then inside a loop so Photon keeps checking.</a:t>
            </a:r>
            <a:endParaRPr lang="en-US" sz="1600" dirty="0"/>
          </a:p>
        </p:txBody>
      </p:sp>
      <p:sp>
        <p:nvSpPr>
          <p:cNvPr id="12" name="Shape 7"/>
          <p:cNvSpPr/>
          <p:nvPr/>
        </p:nvSpPr>
        <p:spPr>
          <a:xfrm>
            <a:off x="457200" y="3703320"/>
            <a:ext cx="502920" cy="502920"/>
          </a:xfrm>
          <a:prstGeom prst="ellipse">
            <a:avLst/>
          </a:prstGeom>
          <a:solidFill>
            <a:srgbClr val="9E1B4B"/>
          </a:solidFill>
          <a:ln w="12700">
            <a:solidFill>
              <a:srgbClr val="9E1B4B"/>
            </a:solidFill>
            <a:prstDash val="solid"/>
          </a:ln>
        </p:spPr>
      </p:sp>
      <p:pic>
        <p:nvPicPr>
          <p:cNvPr id="13" name="Image 3" descr="preencoded.png">    </p:cNvPr>
          <p:cNvPicPr>
            <a:picLocks noChangeAspect="1"/>
          </p:cNvPicPr>
          <p:nvPr/>
        </p:nvPicPr>
        <p:blipFill>
          <a:blip r:embed="rId4"/>
          <a:stretch>
            <a:fillRect/>
          </a:stretch>
        </p:blipFill>
        <p:spPr>
          <a:xfrm>
            <a:off x="577901" y="3824021"/>
            <a:ext cx="261518" cy="261518"/>
          </a:xfrm>
          <a:prstGeom prst="rect">
            <a:avLst/>
          </a:prstGeom>
        </p:spPr>
      </p:pic>
      <p:sp>
        <p:nvSpPr>
          <p:cNvPr id="14" name="Text 8"/>
          <p:cNvSpPr txBox="1"/>
          <p:nvPr/>
        </p:nvSpPr>
        <p:spPr>
          <a:xfrm>
            <a:off x="1143000" y="365760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Without a loop, Photon checks only once.</a:t>
            </a:r>
            <a:endParaRPr lang="en-US" sz="1600" dirty="0"/>
          </a:p>
        </p:txBody>
      </p:sp>
      <p:sp>
        <p:nvSpPr>
          <p:cNvPr id="15"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6" name="Shape 10"/>
          <p:cNvSpPr/>
          <p:nvPr/>
        </p:nvSpPr>
        <p:spPr>
          <a:xfrm>
            <a:off x="6903720" y="1463040"/>
            <a:ext cx="1143000" cy="1143000"/>
          </a:xfrm>
          <a:prstGeom prst="ellipse">
            <a:avLst/>
          </a:prstGeom>
          <a:solidFill>
            <a:srgbClr val="FFFFFF"/>
          </a:solidFill>
          <a:ln w="12700">
            <a:solidFill>
              <a:srgbClr val="FFFFFF"/>
            </a:solidFill>
            <a:prstDash val="solid"/>
          </a:ln>
        </p:spPr>
      </p:sp>
      <p:pic>
        <p:nvPicPr>
          <p:cNvPr id="17" name="Image 4" descr="preencoded.png">    </p:cNvPr>
          <p:cNvPicPr>
            <a:picLocks noChangeAspect="1"/>
          </p:cNvPicPr>
          <p:nvPr/>
        </p:nvPicPr>
        <p:blipFill>
          <a:blip r:embed="rId5"/>
          <a:stretch>
            <a:fillRect/>
          </a:stretch>
        </p:blipFill>
        <p:spPr>
          <a:xfrm>
            <a:off x="7178040" y="1737360"/>
            <a:ext cx="594360" cy="594360"/>
          </a:xfrm>
          <a:prstGeom prst="rect">
            <a:avLst/>
          </a:prstGeom>
        </p:spPr>
      </p:pic>
      <p:sp>
        <p:nvSpPr>
          <p:cNvPr id="18" name="Text 11"/>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9" name="Text 12"/>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Troubleshooting like an engineer</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Describe the bug: what happened and what you expected.</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Find the cause: which block or value?</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Change one thing and test again.</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Record each error and fix in the log.</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The mission and peer debugging</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Mission: get from start to the goal zone without touching any obstacle.</a:t>
            </a:r>
            <a:endParaRPr lang="en-US" sz="1600" dirty="0"/>
          </a:p>
        </p:txBody>
      </p:sp>
      <p:sp>
        <p:nvSpPr>
          <p:cNvPr id="6" name="Shape 3"/>
          <p:cNvSpPr/>
          <p:nvPr/>
        </p:nvSpPr>
        <p:spPr>
          <a:xfrm>
            <a:off x="457200" y="205740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178101"/>
            <a:ext cx="261518" cy="261518"/>
          </a:xfrm>
          <a:prstGeom prst="rect">
            <a:avLst/>
          </a:prstGeom>
        </p:spPr>
      </p:pic>
      <p:sp>
        <p:nvSpPr>
          <p:cNvPr id="8" name="Text 4"/>
          <p:cNvSpPr txBox="1"/>
          <p:nvPr/>
        </p:nvSpPr>
        <p:spPr>
          <a:xfrm>
            <a:off x="1143000" y="201168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Swap tablets with another pair.</a:t>
            </a:r>
            <a:endParaRPr lang="en-US" sz="1600" dirty="0"/>
          </a:p>
        </p:txBody>
      </p:sp>
      <p:sp>
        <p:nvSpPr>
          <p:cNvPr id="9" name="Shape 5"/>
          <p:cNvSpPr/>
          <p:nvPr/>
        </p:nvSpPr>
        <p:spPr>
          <a:xfrm>
            <a:off x="457200" y="288036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01061"/>
            <a:ext cx="261518" cy="261518"/>
          </a:xfrm>
          <a:prstGeom prst="rect">
            <a:avLst/>
          </a:prstGeom>
        </p:spPr>
      </p:pic>
      <p:sp>
        <p:nvSpPr>
          <p:cNvPr id="11" name="Text 6"/>
          <p:cNvSpPr txBox="1"/>
          <p:nvPr/>
        </p:nvSpPr>
        <p:spPr>
          <a:xfrm>
            <a:off x="1143000" y="283464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Find one issue or improvement in their code.</a:t>
            </a:r>
            <a:endParaRPr lang="en-US" sz="1600" dirty="0"/>
          </a:p>
        </p:txBody>
      </p:sp>
      <p:sp>
        <p:nvSpPr>
          <p:cNvPr id="12" name="Shape 7"/>
          <p:cNvSpPr/>
          <p:nvPr/>
        </p:nvSpPr>
        <p:spPr>
          <a:xfrm>
            <a:off x="457200" y="3703320"/>
            <a:ext cx="502920" cy="502920"/>
          </a:xfrm>
          <a:prstGeom prst="ellipse">
            <a:avLst/>
          </a:prstGeom>
          <a:solidFill>
            <a:srgbClr val="9E1B4B"/>
          </a:solidFill>
          <a:ln w="12700">
            <a:solidFill>
              <a:srgbClr val="9E1B4B"/>
            </a:solidFill>
            <a:prstDash val="solid"/>
          </a:ln>
        </p:spPr>
      </p:sp>
      <p:pic>
        <p:nvPicPr>
          <p:cNvPr id="13" name="Image 3" descr="preencoded.png">    </p:cNvPr>
          <p:cNvPicPr>
            <a:picLocks noChangeAspect="1"/>
          </p:cNvPicPr>
          <p:nvPr/>
        </p:nvPicPr>
        <p:blipFill>
          <a:blip r:embed="rId4"/>
          <a:stretch>
            <a:fillRect/>
          </a:stretch>
        </p:blipFill>
        <p:spPr>
          <a:xfrm>
            <a:off x="577901" y="3824021"/>
            <a:ext cx="261518" cy="261518"/>
          </a:xfrm>
          <a:prstGeom prst="rect">
            <a:avLst/>
          </a:prstGeom>
        </p:spPr>
      </p:pic>
      <p:sp>
        <p:nvSpPr>
          <p:cNvPr id="14" name="Text 8"/>
          <p:cNvSpPr txBox="1"/>
          <p:nvPr/>
        </p:nvSpPr>
        <p:spPr>
          <a:xfrm>
            <a:off x="1143000" y="365760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Explain it kindly and let them fix it.</a:t>
            </a:r>
            <a:endParaRPr lang="en-US" sz="1600" dirty="0"/>
          </a:p>
        </p:txBody>
      </p:sp>
      <p:sp>
        <p:nvSpPr>
          <p:cNvPr id="15"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6" name="Shape 10"/>
          <p:cNvSpPr/>
          <p:nvPr/>
        </p:nvSpPr>
        <p:spPr>
          <a:xfrm>
            <a:off x="6903720" y="1463040"/>
            <a:ext cx="1143000" cy="1143000"/>
          </a:xfrm>
          <a:prstGeom prst="ellipse">
            <a:avLst/>
          </a:prstGeom>
          <a:solidFill>
            <a:srgbClr val="FFFFFF"/>
          </a:solidFill>
          <a:ln w="12700">
            <a:solidFill>
              <a:srgbClr val="FFFFFF"/>
            </a:solidFill>
            <a:prstDash val="solid"/>
          </a:ln>
        </p:spPr>
      </p:sp>
      <p:pic>
        <p:nvPicPr>
          <p:cNvPr id="17" name="Image 4" descr="preencoded.png">    </p:cNvPr>
          <p:cNvPicPr>
            <a:picLocks noChangeAspect="1"/>
          </p:cNvPicPr>
          <p:nvPr/>
        </p:nvPicPr>
        <p:blipFill>
          <a:blip r:embed="rId5"/>
          <a:stretch>
            <a:fillRect/>
          </a:stretch>
        </p:blipFill>
        <p:spPr>
          <a:xfrm>
            <a:off x="7178040" y="1737360"/>
            <a:ext cx="594360" cy="594360"/>
          </a:xfrm>
          <a:prstGeom prst="rect">
            <a:avLst/>
          </a:prstGeom>
        </p:spPr>
      </p:pic>
      <p:sp>
        <p:nvSpPr>
          <p:cNvPr id="18" name="Text 11"/>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9" name="Text 12"/>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Mission steps</a:t>
            </a:r>
            <a:endParaRPr lang="en-US" sz="3000" dirty="0"/>
          </a:p>
        </p:txBody>
      </p:sp>
      <p:sp>
        <p:nvSpPr>
          <p:cNvPr id="3" name="step0"/>
          <p:cNvSpPr/>
          <p:nvPr/>
        </p:nvSpPr>
        <p:spPr>
          <a:xfrm>
            <a:off x="457200" y="1188720"/>
            <a:ext cx="2590800" cy="1463040"/>
          </a:xfrm>
          <a:prstGeom prst="roundRect">
            <a:avLst>
              <a:gd name="adj" fmla="val 7500"/>
            </a:avLst>
          </a:prstGeom>
          <a:solidFill>
            <a:srgbClr val="E6F2F2"/>
          </a:solidFill>
          <a:ln w="12700">
            <a:solidFill>
              <a:srgbClr val="E6F2F2"/>
            </a:solidFill>
            <a:prstDash val="solid"/>
          </a:ln>
        </p:spPr>
      </p:sp>
      <p:sp>
        <p:nvSpPr>
          <p:cNvPr id="4" name="Shape 2"/>
          <p:cNvSpPr/>
          <p:nvPr/>
        </p:nvSpPr>
        <p:spPr>
          <a:xfrm>
            <a:off x="594360" y="1325880"/>
            <a:ext cx="457200" cy="457200"/>
          </a:xfrm>
          <a:prstGeom prst="ellipse">
            <a:avLst/>
          </a:prstGeom>
          <a:solidFill>
            <a:srgbClr val="0E7C80"/>
          </a:solidFill>
          <a:ln w="12700">
            <a:solidFill>
              <a:srgbClr val="0E7C80"/>
            </a:solidFill>
            <a:prstDash val="solid"/>
          </a:ln>
        </p:spPr>
      </p:sp>
      <p:sp>
        <p:nvSpPr>
          <p:cNvPr id="5" name="Text 3"/>
          <p:cNvSpPr txBox="1"/>
          <p:nvPr/>
        </p:nvSpPr>
        <p:spPr>
          <a:xfrm>
            <a:off x="5943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5943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Draw the flowchart with a decision</a:t>
            </a:r>
            <a:endParaRPr lang="en-US" sz="1300" dirty="0"/>
          </a:p>
        </p:txBody>
      </p:sp>
      <p:sp>
        <p:nvSpPr>
          <p:cNvPr id="7" name="step1"/>
          <p:cNvSpPr/>
          <p:nvPr/>
        </p:nvSpPr>
        <p:spPr>
          <a:xfrm>
            <a:off x="3276600" y="1188720"/>
            <a:ext cx="2590800" cy="1463040"/>
          </a:xfrm>
          <a:prstGeom prst="roundRect">
            <a:avLst>
              <a:gd name="adj" fmla="val 7500"/>
            </a:avLst>
          </a:prstGeom>
          <a:solidFill>
            <a:srgbClr val="E6F2F2"/>
          </a:solidFill>
          <a:ln w="12700">
            <a:solidFill>
              <a:srgbClr val="E6F2F2"/>
            </a:solidFill>
            <a:prstDash val="solid"/>
          </a:ln>
        </p:spPr>
      </p:sp>
      <p:sp>
        <p:nvSpPr>
          <p:cNvPr id="8" name="Shape 6"/>
          <p:cNvSpPr/>
          <p:nvPr/>
        </p:nvSpPr>
        <p:spPr>
          <a:xfrm>
            <a:off x="3413760" y="1325880"/>
            <a:ext cx="457200" cy="457200"/>
          </a:xfrm>
          <a:prstGeom prst="ellipse">
            <a:avLst/>
          </a:prstGeom>
          <a:solidFill>
            <a:srgbClr val="0E7C80"/>
          </a:solidFill>
          <a:ln w="12700">
            <a:solidFill>
              <a:srgbClr val="0E7C80"/>
            </a:solidFill>
            <a:prstDash val="solid"/>
          </a:ln>
        </p:spPr>
      </p:sp>
      <p:sp>
        <p:nvSpPr>
          <p:cNvPr id="9" name="Text 7"/>
          <p:cNvSpPr txBox="1"/>
          <p:nvPr/>
        </p:nvSpPr>
        <p:spPr>
          <a:xfrm>
            <a:off x="34137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34137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Code if-then-else inside a loop</a:t>
            </a:r>
            <a:endParaRPr lang="en-US" sz="1300" dirty="0"/>
          </a:p>
        </p:txBody>
      </p:sp>
      <p:sp>
        <p:nvSpPr>
          <p:cNvPr id="11" name="step2"/>
          <p:cNvSpPr/>
          <p:nvPr/>
        </p:nvSpPr>
        <p:spPr>
          <a:xfrm>
            <a:off x="6096000" y="1188720"/>
            <a:ext cx="2590800" cy="1463040"/>
          </a:xfrm>
          <a:prstGeom prst="roundRect">
            <a:avLst>
              <a:gd name="adj" fmla="val 7500"/>
            </a:avLst>
          </a:prstGeom>
          <a:solidFill>
            <a:srgbClr val="E6F2F2"/>
          </a:solidFill>
          <a:ln w="12700">
            <a:solidFill>
              <a:srgbClr val="E6F2F2"/>
            </a:solidFill>
            <a:prstDash val="solid"/>
          </a:ln>
        </p:spPr>
      </p:sp>
      <p:sp>
        <p:nvSpPr>
          <p:cNvPr id="12" name="Shape 10"/>
          <p:cNvSpPr/>
          <p:nvPr/>
        </p:nvSpPr>
        <p:spPr>
          <a:xfrm>
            <a:off x="6233160" y="1325880"/>
            <a:ext cx="457200" cy="457200"/>
          </a:xfrm>
          <a:prstGeom prst="ellipse">
            <a:avLst/>
          </a:prstGeom>
          <a:solidFill>
            <a:srgbClr val="0E7C80"/>
          </a:solidFill>
          <a:ln w="12700">
            <a:solidFill>
              <a:srgbClr val="0E7C80"/>
            </a:solidFill>
            <a:prstDash val="solid"/>
          </a:ln>
        </p:spPr>
      </p:sp>
      <p:sp>
        <p:nvSpPr>
          <p:cNvPr id="13" name="Text 11"/>
          <p:cNvSpPr txBox="1"/>
          <p:nvPr/>
        </p:nvSpPr>
        <p:spPr>
          <a:xfrm>
            <a:off x="62331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62331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Test on the obstacle mat</a:t>
            </a:r>
            <a:endParaRPr lang="en-US" sz="1300" dirty="0"/>
          </a:p>
        </p:txBody>
      </p:sp>
      <p:sp>
        <p:nvSpPr>
          <p:cNvPr id="15" name="step3"/>
          <p:cNvSpPr/>
          <p:nvPr/>
        </p:nvSpPr>
        <p:spPr>
          <a:xfrm>
            <a:off x="457200" y="2880360"/>
            <a:ext cx="2590800" cy="1463040"/>
          </a:xfrm>
          <a:prstGeom prst="roundRect">
            <a:avLst>
              <a:gd name="adj" fmla="val 7500"/>
            </a:avLst>
          </a:prstGeom>
          <a:solidFill>
            <a:srgbClr val="FCEFF3"/>
          </a:solidFill>
          <a:ln w="12700">
            <a:solidFill>
              <a:srgbClr val="FCEFF3"/>
            </a:solidFill>
            <a:prstDash val="solid"/>
          </a:ln>
        </p:spPr>
      </p:sp>
      <p:sp>
        <p:nvSpPr>
          <p:cNvPr id="16" name="Shape 14"/>
          <p:cNvSpPr/>
          <p:nvPr/>
        </p:nvSpPr>
        <p:spPr>
          <a:xfrm>
            <a:off x="594360" y="3017520"/>
            <a:ext cx="457200" cy="457200"/>
          </a:xfrm>
          <a:prstGeom prst="ellipse">
            <a:avLst/>
          </a:prstGeom>
          <a:solidFill>
            <a:srgbClr val="9E1B4B"/>
          </a:solidFill>
          <a:ln w="12700">
            <a:solidFill>
              <a:srgbClr val="9E1B4B"/>
            </a:solidFill>
            <a:prstDash val="solid"/>
          </a:ln>
        </p:spPr>
      </p:sp>
      <p:sp>
        <p:nvSpPr>
          <p:cNvPr id="17" name="Text 15"/>
          <p:cNvSpPr txBox="1"/>
          <p:nvPr/>
        </p:nvSpPr>
        <p:spPr>
          <a:xfrm>
            <a:off x="5943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5943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Log errors and fixes</a:t>
            </a:r>
            <a:endParaRPr lang="en-US" sz="1300" dirty="0"/>
          </a:p>
        </p:txBody>
      </p:sp>
      <p:sp>
        <p:nvSpPr>
          <p:cNvPr id="19" name="step4"/>
          <p:cNvSpPr/>
          <p:nvPr/>
        </p:nvSpPr>
        <p:spPr>
          <a:xfrm>
            <a:off x="3276600" y="2880360"/>
            <a:ext cx="2590800" cy="1463040"/>
          </a:xfrm>
          <a:prstGeom prst="roundRect">
            <a:avLst>
              <a:gd name="adj" fmla="val 7500"/>
            </a:avLst>
          </a:prstGeom>
          <a:solidFill>
            <a:srgbClr val="FCEFF3"/>
          </a:solidFill>
          <a:ln w="12700">
            <a:solidFill>
              <a:srgbClr val="FCEFF3"/>
            </a:solidFill>
            <a:prstDash val="solid"/>
          </a:ln>
        </p:spPr>
      </p:sp>
      <p:sp>
        <p:nvSpPr>
          <p:cNvPr id="20" name="Shape 18"/>
          <p:cNvSpPr/>
          <p:nvPr/>
        </p:nvSpPr>
        <p:spPr>
          <a:xfrm>
            <a:off x="3413760" y="3017520"/>
            <a:ext cx="457200" cy="457200"/>
          </a:xfrm>
          <a:prstGeom prst="ellipse">
            <a:avLst/>
          </a:prstGeom>
          <a:solidFill>
            <a:srgbClr val="9E1B4B"/>
          </a:solidFill>
          <a:ln w="12700">
            <a:solidFill>
              <a:srgbClr val="9E1B4B"/>
            </a:solidFill>
            <a:prstDash val="solid"/>
          </a:ln>
        </p:spPr>
      </p:sp>
      <p:sp>
        <p:nvSpPr>
          <p:cNvPr id="21" name="Text 19"/>
          <p:cNvSpPr txBox="1"/>
          <p:nvPr/>
        </p:nvSpPr>
        <p:spPr>
          <a:xfrm>
            <a:off x="34137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34137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Peer debug with another pair</a:t>
            </a:r>
            <a:endParaRPr lang="en-US" sz="1300" dirty="0"/>
          </a:p>
        </p:txBody>
      </p:sp>
      <p:sp>
        <p:nvSpPr>
          <p:cNvPr id="23" name="step5"/>
          <p:cNvSpPr/>
          <p:nvPr/>
        </p:nvSpPr>
        <p:spPr>
          <a:xfrm>
            <a:off x="6096000" y="2880360"/>
            <a:ext cx="2590800" cy="1463040"/>
          </a:xfrm>
          <a:prstGeom prst="roundRect">
            <a:avLst>
              <a:gd name="adj" fmla="val 7500"/>
            </a:avLst>
          </a:prstGeom>
          <a:solidFill>
            <a:srgbClr val="FCEFF3"/>
          </a:solidFill>
          <a:ln w="12700">
            <a:solidFill>
              <a:srgbClr val="FCEFF3"/>
            </a:solidFill>
            <a:prstDash val="solid"/>
          </a:ln>
        </p:spPr>
      </p:sp>
      <p:sp>
        <p:nvSpPr>
          <p:cNvPr id="24" name="Shape 22"/>
          <p:cNvSpPr/>
          <p:nvPr/>
        </p:nvSpPr>
        <p:spPr>
          <a:xfrm>
            <a:off x="6233160" y="3017520"/>
            <a:ext cx="457200" cy="457200"/>
          </a:xfrm>
          <a:prstGeom prst="ellipse">
            <a:avLst/>
          </a:prstGeom>
          <a:solidFill>
            <a:srgbClr val="9E1B4B"/>
          </a:solidFill>
          <a:ln w="12700">
            <a:solidFill>
              <a:srgbClr val="9E1B4B"/>
            </a:solidFill>
            <a:prstDash val="solid"/>
          </a:ln>
        </p:spPr>
      </p:sp>
      <p:sp>
        <p:nvSpPr>
          <p:cNvPr id="25" name="Text 23"/>
          <p:cNvSpPr txBox="1"/>
          <p:nvPr/>
        </p:nvSpPr>
        <p:spPr>
          <a:xfrm>
            <a:off x="62331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a:t>
            </a:r>
            <a:endParaRPr lang="en-US" sz="1500" dirty="0"/>
          </a:p>
        </p:txBody>
      </p:sp>
      <p:sp>
        <p:nvSpPr>
          <p:cNvPr id="26" name="Text 24"/>
          <p:cNvSpPr txBox="1"/>
          <p:nvPr/>
        </p:nvSpPr>
        <p:spPr>
          <a:xfrm>
            <a:off x="62331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Make one optimisation and retest</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Safety First</a:t>
            </a:r>
            <a:endParaRPr lang="en-US" sz="3000" dirty="0"/>
          </a:p>
        </p:txBody>
      </p:sp>
      <p:sp>
        <p:nvSpPr>
          <p:cNvPr id="3" name="Shape 1"/>
          <p:cNvSpPr/>
          <p:nvPr/>
        </p:nvSpPr>
        <p:spPr>
          <a:xfrm>
            <a:off x="457200" y="1234440"/>
            <a:ext cx="1280160" cy="1280160"/>
          </a:xfrm>
          <a:prstGeom prst="ellipse">
            <a:avLst/>
          </a:prstGeom>
          <a:solidFill>
            <a:srgbClr val="9E1B4B"/>
          </a:solidFill>
          <a:ln w="12700">
            <a:solidFill>
              <a:srgbClr val="9E1B4B"/>
            </a:solidFill>
            <a:prstDash val="solid"/>
          </a:ln>
        </p:spPr>
      </p:sp>
      <p:pic>
        <p:nvPicPr>
          <p:cNvPr id="4" name="Image 0" descr="preencoded.png">    </p:cNvPr>
          <p:cNvPicPr>
            <a:picLocks noChangeAspect="1"/>
          </p:cNvPicPr>
          <p:nvPr/>
        </p:nvPicPr>
        <p:blipFill>
          <a:blip r:embed="rId1"/>
          <a:stretch>
            <a:fillRect/>
          </a:stretch>
        </p:blipFill>
        <p:spPr>
          <a:xfrm>
            <a:off x="764438" y="1541678"/>
            <a:ext cx="665683" cy="665683"/>
          </a:xfrm>
          <a:prstGeom prst="rect">
            <a:avLst/>
          </a:prstGeom>
        </p:spPr>
      </p:pic>
      <p:sp>
        <p:nvSpPr>
          <p:cNvPr id="5" name="Text 2"/>
          <p:cNvSpPr txBox="1"/>
          <p:nvPr/>
        </p:nvSpPr>
        <p:spPr>
          <a:xfrm>
            <a:off x="274320" y="2651760"/>
            <a:ext cx="1645920" cy="548640"/>
          </a:xfrm>
          <a:prstGeom prst="rect">
            <a:avLst/>
          </a:prstGeom>
          <a:noFill/>
          <a:ln/>
        </p:spPr>
        <p:txBody>
          <a:bodyPr wrap="square" lIns="0" tIns="0" rIns="0" bIns="0" rtlCol="0" anchor="ctr"/>
          <a:lstStyle/>
          <a:p>
            <a:pPr algn="ctr" indent="0" marL="0">
              <a:buNone/>
            </a:pPr>
            <a:r>
              <a:rPr lang="en-US" sz="1200" b="1" dirty="0">
                <a:solidFill>
                  <a:schemeClr val="accent2"/>
                </a:solidFill>
                <a:latin typeface="Calibri" pitchFamily="34" charset="0"/>
                <a:ea typeface="Calibri" pitchFamily="34" charset="-122"/>
                <a:cs typeface="Calibri" pitchFamily="34" charset="-120"/>
              </a:rPr>
              <a:t>Every time. No exceptions.</a:t>
            </a:r>
            <a:endParaRPr lang="en-US" sz="1200" dirty="0"/>
          </a:p>
        </p:txBody>
      </p:sp>
      <p:sp>
        <p:nvSpPr>
          <p:cNvPr id="6" name="safe0"/>
          <p:cNvSpPr/>
          <p:nvPr/>
        </p:nvSpPr>
        <p:spPr>
          <a:xfrm>
            <a:off x="2194560" y="1188720"/>
            <a:ext cx="6492240" cy="566928"/>
          </a:xfrm>
          <a:prstGeom prst="roundRect">
            <a:avLst>
              <a:gd name="adj" fmla="val 19355"/>
            </a:avLst>
          </a:prstGeom>
          <a:solidFill>
            <a:srgbClr val="FCEFF3"/>
          </a:solidFill>
          <a:ln w="12700">
            <a:solidFill>
              <a:srgbClr val="FCEFF3"/>
            </a:solidFill>
            <a:prstDash val="solid"/>
          </a:ln>
        </p:spPr>
      </p:sp>
      <p:sp>
        <p:nvSpPr>
          <p:cNvPr id="7" name="Text 4"/>
          <p:cNvSpPr txBox="1"/>
          <p:nvPr/>
        </p:nvSpPr>
        <p:spPr>
          <a:xfrm>
            <a:off x="2377440" y="1188720"/>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Keep Photon on the mat.</a:t>
            </a:r>
            <a:endParaRPr lang="en-US" sz="1500" dirty="0"/>
          </a:p>
        </p:txBody>
      </p:sp>
      <p:sp>
        <p:nvSpPr>
          <p:cNvPr id="8" name="safe1"/>
          <p:cNvSpPr/>
          <p:nvPr/>
        </p:nvSpPr>
        <p:spPr>
          <a:xfrm>
            <a:off x="2194560" y="1847088"/>
            <a:ext cx="6492240" cy="566928"/>
          </a:xfrm>
          <a:prstGeom prst="roundRect">
            <a:avLst>
              <a:gd name="adj" fmla="val 19355"/>
            </a:avLst>
          </a:prstGeom>
          <a:solidFill>
            <a:srgbClr val="FFFFFF"/>
          </a:solidFill>
          <a:ln w="12700">
            <a:solidFill>
              <a:srgbClr val="FFFFFF"/>
            </a:solidFill>
            <a:prstDash val="solid"/>
          </a:ln>
        </p:spPr>
      </p:sp>
      <p:sp>
        <p:nvSpPr>
          <p:cNvPr id="9" name="Text 6"/>
          <p:cNvSpPr txBox="1"/>
          <p:nvPr/>
        </p:nvSpPr>
        <p:spPr>
          <a:xfrm>
            <a:off x="2377440" y="1847088"/>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Carry robots with two hands.</a:t>
            </a:r>
            <a:endParaRPr lang="en-US" sz="1500" dirty="0"/>
          </a:p>
        </p:txBody>
      </p:sp>
      <p:sp>
        <p:nvSpPr>
          <p:cNvPr id="10" name="safe2"/>
          <p:cNvSpPr/>
          <p:nvPr/>
        </p:nvSpPr>
        <p:spPr>
          <a:xfrm>
            <a:off x="2194560" y="2505456"/>
            <a:ext cx="6492240" cy="566928"/>
          </a:xfrm>
          <a:prstGeom prst="roundRect">
            <a:avLst>
              <a:gd name="adj" fmla="val 19355"/>
            </a:avLst>
          </a:prstGeom>
          <a:solidFill>
            <a:srgbClr val="FCEFF3"/>
          </a:solidFill>
          <a:ln w="12700">
            <a:solidFill>
              <a:srgbClr val="FCEFF3"/>
            </a:solidFill>
            <a:prstDash val="solid"/>
          </a:ln>
        </p:spPr>
      </p:sp>
      <p:sp>
        <p:nvSpPr>
          <p:cNvPr id="11" name="Text 8"/>
          <p:cNvSpPr txBox="1"/>
          <p:nvPr/>
        </p:nvSpPr>
        <p:spPr>
          <a:xfrm>
            <a:off x="2377440" y="2505456"/>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Respect other pairs' code when peer debugging.</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Your task today</a:t>
            </a:r>
            <a:endParaRPr lang="en-US" sz="3000" dirty="0"/>
          </a:p>
        </p:txBody>
      </p:sp>
      <p:sp>
        <p:nvSpPr>
          <p:cNvPr id="3" name="Shape 1"/>
          <p:cNvSpPr/>
          <p:nvPr/>
        </p:nvSpPr>
        <p:spPr>
          <a:xfrm>
            <a:off x="457200" y="1261872"/>
            <a:ext cx="411480" cy="411480"/>
          </a:xfrm>
          <a:prstGeom prst="roundRect">
            <a:avLst>
              <a:gd name="adj" fmla="val 13333"/>
            </a:avLst>
          </a:prstGeom>
          <a:solidFill>
            <a:srgbClr val="FFFFFF"/>
          </a:solidFill>
          <a:ln w="25400">
            <a:solidFill>
              <a:srgbClr val="0E7C80"/>
            </a:solidFill>
            <a:prstDash val="solid"/>
          </a:ln>
        </p:spPr>
      </p:sp>
      <p:sp>
        <p:nvSpPr>
          <p:cNvPr id="4" name="Text 2"/>
          <p:cNvSpPr txBox="1"/>
          <p:nvPr/>
        </p:nvSpPr>
        <p:spPr>
          <a:xfrm>
            <a:off x="1051560" y="1188720"/>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Draw a flowchart with a decision diamond.</a:t>
            </a:r>
            <a:endParaRPr lang="en-US" sz="1600" dirty="0"/>
          </a:p>
        </p:txBody>
      </p:sp>
      <p:sp>
        <p:nvSpPr>
          <p:cNvPr id="5" name="Shape 3"/>
          <p:cNvSpPr/>
          <p:nvPr/>
        </p:nvSpPr>
        <p:spPr>
          <a:xfrm>
            <a:off x="457200" y="1920240"/>
            <a:ext cx="411480" cy="411480"/>
          </a:xfrm>
          <a:prstGeom prst="roundRect">
            <a:avLst>
              <a:gd name="adj" fmla="val 13333"/>
            </a:avLst>
          </a:prstGeom>
          <a:solidFill>
            <a:srgbClr val="FFFFFF"/>
          </a:solidFill>
          <a:ln w="25400">
            <a:solidFill>
              <a:srgbClr val="0E7C80"/>
            </a:solidFill>
            <a:prstDash val="solid"/>
          </a:ln>
        </p:spPr>
      </p:sp>
      <p:sp>
        <p:nvSpPr>
          <p:cNvPr id="6" name="Text 4"/>
          <p:cNvSpPr txBox="1"/>
          <p:nvPr/>
        </p:nvSpPr>
        <p:spPr>
          <a:xfrm>
            <a:off x="1051560" y="1847088"/>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Code Photon to avoid obstacles using if-then-else inside a loop.</a:t>
            </a:r>
            <a:endParaRPr lang="en-US" sz="1600" dirty="0"/>
          </a:p>
        </p:txBody>
      </p:sp>
      <p:sp>
        <p:nvSpPr>
          <p:cNvPr id="7" name="Shape 5"/>
          <p:cNvSpPr/>
          <p:nvPr/>
        </p:nvSpPr>
        <p:spPr>
          <a:xfrm>
            <a:off x="457200" y="2578608"/>
            <a:ext cx="411480" cy="411480"/>
          </a:xfrm>
          <a:prstGeom prst="roundRect">
            <a:avLst>
              <a:gd name="adj" fmla="val 13333"/>
            </a:avLst>
          </a:prstGeom>
          <a:solidFill>
            <a:srgbClr val="FFFFFF"/>
          </a:solidFill>
          <a:ln w="25400">
            <a:solidFill>
              <a:srgbClr val="0E7C80"/>
            </a:solidFill>
            <a:prstDash val="solid"/>
          </a:ln>
        </p:spPr>
      </p:sp>
      <p:sp>
        <p:nvSpPr>
          <p:cNvPr id="8" name="Text 6"/>
          <p:cNvSpPr txBox="1"/>
          <p:nvPr/>
        </p:nvSpPr>
        <p:spPr>
          <a:xfrm>
            <a:off x="1051560" y="2505456"/>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Complete the mission from start to the goal zone.</a:t>
            </a:r>
            <a:endParaRPr lang="en-US" sz="1600" dirty="0"/>
          </a:p>
        </p:txBody>
      </p:sp>
      <p:sp>
        <p:nvSpPr>
          <p:cNvPr id="9" name="Shape 7"/>
          <p:cNvSpPr/>
          <p:nvPr/>
        </p:nvSpPr>
        <p:spPr>
          <a:xfrm>
            <a:off x="457200" y="3236976"/>
            <a:ext cx="411480" cy="411480"/>
          </a:xfrm>
          <a:prstGeom prst="roundRect">
            <a:avLst>
              <a:gd name="adj" fmla="val 13333"/>
            </a:avLst>
          </a:prstGeom>
          <a:solidFill>
            <a:srgbClr val="FFFFFF"/>
          </a:solidFill>
          <a:ln w="25400">
            <a:solidFill>
              <a:srgbClr val="0E7C80"/>
            </a:solidFill>
            <a:prstDash val="solid"/>
          </a:ln>
        </p:spPr>
      </p:sp>
      <p:sp>
        <p:nvSpPr>
          <p:cNvPr id="10" name="Text 8"/>
          <p:cNvSpPr txBox="1"/>
          <p:nvPr/>
        </p:nvSpPr>
        <p:spPr>
          <a:xfrm>
            <a:off x="1051560" y="3163824"/>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Log at least two errors and one optimisation.</a:t>
            </a:r>
            <a:endParaRPr lang="en-US" sz="1600" dirty="0"/>
          </a:p>
        </p:txBody>
      </p:sp>
      <p:sp>
        <p:nvSpPr>
          <p:cNvPr id="11" name="Shape 9"/>
          <p:cNvSpPr/>
          <p:nvPr/>
        </p:nvSpPr>
        <p:spPr>
          <a:xfrm>
            <a:off x="457200" y="3895344"/>
            <a:ext cx="411480" cy="411480"/>
          </a:xfrm>
          <a:prstGeom prst="roundRect">
            <a:avLst>
              <a:gd name="adj" fmla="val 13333"/>
            </a:avLst>
          </a:prstGeom>
          <a:solidFill>
            <a:srgbClr val="FFFFFF"/>
          </a:solidFill>
          <a:ln w="25400">
            <a:solidFill>
              <a:srgbClr val="0E7C80"/>
            </a:solidFill>
            <a:prstDash val="solid"/>
          </a:ln>
        </p:spPr>
      </p:sp>
      <p:sp>
        <p:nvSpPr>
          <p:cNvPr id="12" name="Text 10"/>
          <p:cNvSpPr txBox="1"/>
          <p:nvPr/>
        </p:nvSpPr>
        <p:spPr>
          <a:xfrm>
            <a:off x="1051560" y="3822192"/>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Peer debug another pair's code.</a:t>
            </a:r>
            <a:endParaRPr lang="en-US" sz="1600" dirty="0"/>
          </a:p>
        </p:txBody>
      </p:sp>
      <p:sp>
        <p:nvSpPr>
          <p:cNvPr id="13" name="wsCard"/>
          <p:cNvSpPr/>
          <p:nvPr/>
        </p:nvSpPr>
        <p:spPr>
          <a:xfrm>
            <a:off x="6263640" y="1188720"/>
            <a:ext cx="2423160" cy="3246120"/>
          </a:xfrm>
          <a:prstGeom prst="roundRect">
            <a:avLst>
              <a:gd name="adj" fmla="val 4528"/>
            </a:avLst>
          </a:prstGeom>
          <a:solidFill>
            <a:srgbClr val="E6F2F2"/>
          </a:solidFill>
          <a:ln w="12700">
            <a:solidFill>
              <a:srgbClr val="E6F2F2"/>
            </a:solidFill>
            <a:prstDash val="solid"/>
          </a:ln>
        </p:spPr>
      </p:sp>
      <p:sp>
        <p:nvSpPr>
          <p:cNvPr id="14" name="Shape 12"/>
          <p:cNvSpPr/>
          <p:nvPr/>
        </p:nvSpPr>
        <p:spPr>
          <a:xfrm>
            <a:off x="6949440" y="1417320"/>
            <a:ext cx="1051560" cy="1051560"/>
          </a:xfrm>
          <a:prstGeom prst="ellipse">
            <a:avLst/>
          </a:prstGeom>
          <a:solidFill>
            <a:srgbClr val="0E7C80"/>
          </a:solidFill>
          <a:ln w="12700">
            <a:solidFill>
              <a:srgbClr val="0E7C80"/>
            </a:solidFill>
            <a:prstDash val="solid"/>
          </a:ln>
        </p:spPr>
      </p:sp>
      <p:pic>
        <p:nvPicPr>
          <p:cNvPr id="15" name="Image 0" descr="preencoded.png">    </p:cNvPr>
          <p:cNvPicPr>
            <a:picLocks noChangeAspect="1"/>
          </p:cNvPicPr>
          <p:nvPr/>
        </p:nvPicPr>
        <p:blipFill>
          <a:blip r:embed="rId1"/>
          <a:stretch>
            <a:fillRect/>
          </a:stretch>
        </p:blipFill>
        <p:spPr>
          <a:xfrm>
            <a:off x="7201814" y="1669694"/>
            <a:ext cx="546811" cy="546811"/>
          </a:xfrm>
          <a:prstGeom prst="rect">
            <a:avLst/>
          </a:prstGeom>
        </p:spPr>
      </p:pic>
      <p:sp>
        <p:nvSpPr>
          <p:cNvPr id="16" name="Text 13"/>
          <p:cNvSpPr txBox="1"/>
          <p:nvPr/>
        </p:nvSpPr>
        <p:spPr>
          <a:xfrm>
            <a:off x="6400800" y="2606040"/>
            <a:ext cx="2148840" cy="365760"/>
          </a:xfrm>
          <a:prstGeom prst="rect">
            <a:avLst/>
          </a:prstGeom>
          <a:noFill/>
          <a:ln/>
        </p:spPr>
        <p:txBody>
          <a:bodyPr wrap="square" lIns="0" tIns="0" rIns="0" bIns="0" rtlCol="0" anchor="ctr"/>
          <a:lstStyle/>
          <a:p>
            <a:pPr algn="ctr" indent="0" marL="0">
              <a:buNone/>
            </a:pPr>
            <a:r>
              <a:rPr lang="en-US" sz="1600" b="1" dirty="0">
                <a:solidFill>
                  <a:schemeClr val="tx2"/>
                </a:solidFill>
                <a:latin typeface="Calibri" pitchFamily="34" charset="0"/>
                <a:ea typeface="Calibri" pitchFamily="34" charset="-122"/>
                <a:cs typeface="Calibri" pitchFamily="34" charset="-120"/>
              </a:rPr>
              <a:t>Worksheet</a:t>
            </a:r>
            <a:endParaRPr lang="en-US" sz="1600" dirty="0"/>
          </a:p>
        </p:txBody>
      </p:sp>
      <p:sp>
        <p:nvSpPr>
          <p:cNvPr id="17" name="Text 14"/>
          <p:cNvSpPr txBox="1"/>
          <p:nvPr/>
        </p:nvSpPr>
        <p:spPr>
          <a:xfrm>
            <a:off x="6400800" y="3017520"/>
            <a:ext cx="2148840" cy="82296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Obstacle Mission Log</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Choose Your Challenge</a:t>
            </a:r>
            <a:endParaRPr lang="en-US" sz="3000" dirty="0"/>
          </a:p>
        </p:txBody>
      </p:sp>
      <p:sp>
        <p:nvSpPr>
          <p:cNvPr id="3" name="lvl0"/>
          <p:cNvSpPr/>
          <p:nvPr/>
        </p:nvSpPr>
        <p:spPr>
          <a:xfrm>
            <a:off x="457200" y="1188720"/>
            <a:ext cx="2596896" cy="3246120"/>
          </a:xfrm>
          <a:prstGeom prst="roundRect">
            <a:avLst>
              <a:gd name="adj" fmla="val 4225"/>
            </a:avLst>
          </a:prstGeom>
          <a:solidFill>
            <a:srgbClr val="F3F5F6"/>
          </a:solidFill>
          <a:ln w="12700">
            <a:solidFill>
              <a:srgbClr val="F3F5F6"/>
            </a:solidFill>
            <a:prstDash val="solid"/>
          </a:ln>
        </p:spPr>
      </p:sp>
      <p:sp>
        <p:nvSpPr>
          <p:cNvPr id="4" name="Shape 2"/>
          <p:cNvSpPr/>
          <p:nvPr/>
        </p:nvSpPr>
        <p:spPr>
          <a:xfrm>
            <a:off x="640080" y="1371600"/>
            <a:ext cx="640080" cy="640080"/>
          </a:xfrm>
          <a:prstGeom prst="ellipse">
            <a:avLst/>
          </a:prstGeom>
          <a:solidFill>
            <a:srgbClr val="2E8B57"/>
          </a:solidFill>
          <a:ln w="12700">
            <a:solidFill>
              <a:srgbClr val="2E8B57"/>
            </a:solidFill>
            <a:prstDash val="solid"/>
          </a:ln>
        </p:spPr>
      </p:sp>
      <p:pic>
        <p:nvPicPr>
          <p:cNvPr id="5" name="Image 0" descr="preencoded.png">    </p:cNvPr>
          <p:cNvPicPr>
            <a:picLocks noChangeAspect="1"/>
          </p:cNvPicPr>
          <p:nvPr/>
        </p:nvPicPr>
        <p:blipFill>
          <a:blip r:embed="rId1"/>
          <a:stretch>
            <a:fillRect/>
          </a:stretch>
        </p:blipFill>
        <p:spPr>
          <a:xfrm>
            <a:off x="793699" y="1525219"/>
            <a:ext cx="332842" cy="332842"/>
          </a:xfrm>
          <a:prstGeom prst="rect">
            <a:avLst/>
          </a:prstGeom>
        </p:spPr>
      </p:pic>
      <p:sp>
        <p:nvSpPr>
          <p:cNvPr id="6" name="Text 3"/>
          <p:cNvSpPr txBox="1"/>
          <p:nvPr/>
        </p:nvSpPr>
        <p:spPr>
          <a:xfrm>
            <a:off x="1417320" y="1417320"/>
            <a:ext cx="1554480" cy="548640"/>
          </a:xfrm>
          <a:prstGeom prst="rect">
            <a:avLst/>
          </a:prstGeom>
          <a:noFill/>
          <a:ln/>
        </p:spPr>
        <p:txBody>
          <a:bodyPr wrap="square" lIns="0" tIns="0" rIns="0" bIns="0" rtlCol="0" anchor="ctr"/>
          <a:lstStyle/>
          <a:p>
            <a:pPr indent="0" marL="0">
              <a:buNone/>
            </a:pPr>
            <a:r>
              <a:rPr lang="en-US" sz="2000" b="1" dirty="0">
                <a:solidFill>
                  <a:srgbClr val="2E8B57"/>
                </a:solidFill>
                <a:latin typeface="Calibri" pitchFamily="34" charset="0"/>
                <a:ea typeface="Calibri" pitchFamily="34" charset="-122"/>
                <a:cs typeface="Calibri" pitchFamily="34" charset="-120"/>
              </a:rPr>
              <a:t>Beginning</a:t>
            </a:r>
            <a:endParaRPr lang="en-US" sz="2000" dirty="0"/>
          </a:p>
        </p:txBody>
      </p:sp>
      <p:sp>
        <p:nvSpPr>
          <p:cNvPr id="7" name="Text 4"/>
          <p:cNvSpPr txBox="1"/>
          <p:nvPr/>
        </p:nvSpPr>
        <p:spPr>
          <a:xfrm>
            <a:off x="640080"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Use the flowchart template and code one obstacle check inside a loop.</a:t>
            </a:r>
            <a:endParaRPr lang="en-US" sz="1400" dirty="0"/>
          </a:p>
        </p:txBody>
      </p:sp>
      <p:sp>
        <p:nvSpPr>
          <p:cNvPr id="8" name="lvl1"/>
          <p:cNvSpPr/>
          <p:nvPr/>
        </p:nvSpPr>
        <p:spPr>
          <a:xfrm>
            <a:off x="3273552" y="1188720"/>
            <a:ext cx="2596896" cy="3246120"/>
          </a:xfrm>
          <a:prstGeom prst="roundRect">
            <a:avLst>
              <a:gd name="adj" fmla="val 4225"/>
            </a:avLst>
          </a:prstGeom>
          <a:solidFill>
            <a:srgbClr val="F3F5F6"/>
          </a:solidFill>
          <a:ln w="12700">
            <a:solidFill>
              <a:srgbClr val="F3F5F6"/>
            </a:solidFill>
            <a:prstDash val="solid"/>
          </a:ln>
        </p:spPr>
      </p:sp>
      <p:sp>
        <p:nvSpPr>
          <p:cNvPr id="9" name="Shape 6"/>
          <p:cNvSpPr/>
          <p:nvPr/>
        </p:nvSpPr>
        <p:spPr>
          <a:xfrm>
            <a:off x="3456432" y="1371600"/>
            <a:ext cx="640080" cy="640080"/>
          </a:xfrm>
          <a:prstGeom prst="ellipse">
            <a:avLst/>
          </a:prstGeom>
          <a:solidFill>
            <a:srgbClr val="0E7C80"/>
          </a:solidFill>
          <a:ln w="12700">
            <a:solidFill>
              <a:srgbClr val="0E7C80"/>
            </a:solidFill>
            <a:prstDash val="solid"/>
          </a:ln>
        </p:spPr>
      </p:sp>
      <p:pic>
        <p:nvPicPr>
          <p:cNvPr id="10" name="Image 1" descr="preencoded.png">    </p:cNvPr>
          <p:cNvPicPr>
            <a:picLocks noChangeAspect="1"/>
          </p:cNvPicPr>
          <p:nvPr/>
        </p:nvPicPr>
        <p:blipFill>
          <a:blip r:embed="rId2"/>
          <a:stretch>
            <a:fillRect/>
          </a:stretch>
        </p:blipFill>
        <p:spPr>
          <a:xfrm>
            <a:off x="3610051" y="1525219"/>
            <a:ext cx="332842" cy="332842"/>
          </a:xfrm>
          <a:prstGeom prst="rect">
            <a:avLst/>
          </a:prstGeom>
        </p:spPr>
      </p:pic>
      <p:sp>
        <p:nvSpPr>
          <p:cNvPr id="11" name="Text 7"/>
          <p:cNvSpPr txBox="1"/>
          <p:nvPr/>
        </p:nvSpPr>
        <p:spPr>
          <a:xfrm>
            <a:off x="4233672" y="1417320"/>
            <a:ext cx="1554480" cy="548640"/>
          </a:xfrm>
          <a:prstGeom prst="rect">
            <a:avLst/>
          </a:prstGeom>
          <a:noFill/>
          <a:ln/>
        </p:spPr>
        <p:txBody>
          <a:bodyPr wrap="square" lIns="0" tIns="0" rIns="0" bIns="0" rtlCol="0" anchor="ctr"/>
          <a:lstStyle/>
          <a:p>
            <a:pPr indent="0" marL="0">
              <a:buNone/>
            </a:pPr>
            <a:r>
              <a:rPr lang="en-US" sz="2000" b="1" dirty="0">
                <a:solidFill>
                  <a:srgbClr val="0E7C80"/>
                </a:solidFill>
                <a:latin typeface="Calibri" pitchFamily="34" charset="0"/>
                <a:ea typeface="Calibri" pitchFamily="34" charset="-122"/>
                <a:cs typeface="Calibri" pitchFamily="34" charset="-120"/>
              </a:rPr>
              <a:t>On</a:t>
            </a:r>
            <a:endParaRPr lang="en-US" sz="2000" dirty="0"/>
          </a:p>
        </p:txBody>
      </p:sp>
      <p:sp>
        <p:nvSpPr>
          <p:cNvPr id="12" name="Text 8"/>
          <p:cNvSpPr txBox="1"/>
          <p:nvPr/>
        </p:nvSpPr>
        <p:spPr>
          <a:xfrm>
            <a:off x="3456432"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Complete the full obstacle mission with a working if-then-else inside a loop.</a:t>
            </a:r>
            <a:endParaRPr lang="en-US" sz="1400" dirty="0"/>
          </a:p>
        </p:txBody>
      </p:sp>
      <p:sp>
        <p:nvSpPr>
          <p:cNvPr id="13" name="lvl2"/>
          <p:cNvSpPr/>
          <p:nvPr/>
        </p:nvSpPr>
        <p:spPr>
          <a:xfrm>
            <a:off x="6089904" y="1188720"/>
            <a:ext cx="2596896" cy="3246120"/>
          </a:xfrm>
          <a:prstGeom prst="roundRect">
            <a:avLst>
              <a:gd name="adj" fmla="val 4225"/>
            </a:avLst>
          </a:prstGeom>
          <a:solidFill>
            <a:srgbClr val="F3F5F6"/>
          </a:solidFill>
          <a:ln w="12700">
            <a:solidFill>
              <a:srgbClr val="F3F5F6"/>
            </a:solidFill>
            <a:prstDash val="solid"/>
          </a:ln>
        </p:spPr>
      </p:sp>
      <p:sp>
        <p:nvSpPr>
          <p:cNvPr id="14" name="Shape 10"/>
          <p:cNvSpPr/>
          <p:nvPr/>
        </p:nvSpPr>
        <p:spPr>
          <a:xfrm>
            <a:off x="6272784" y="1371600"/>
            <a:ext cx="640080" cy="640080"/>
          </a:xfrm>
          <a:prstGeom prst="ellipse">
            <a:avLst/>
          </a:prstGeom>
          <a:solidFill>
            <a:srgbClr val="9E1B4B"/>
          </a:solidFill>
          <a:ln w="12700">
            <a:solidFill>
              <a:srgbClr val="9E1B4B"/>
            </a:solidFill>
            <a:prstDash val="solid"/>
          </a:ln>
        </p:spPr>
      </p:sp>
      <p:pic>
        <p:nvPicPr>
          <p:cNvPr id="15" name="Image 2" descr="preencoded.png">    </p:cNvPr>
          <p:cNvPicPr>
            <a:picLocks noChangeAspect="1"/>
          </p:cNvPicPr>
          <p:nvPr/>
        </p:nvPicPr>
        <p:blipFill>
          <a:blip r:embed="rId3"/>
          <a:stretch>
            <a:fillRect/>
          </a:stretch>
        </p:blipFill>
        <p:spPr>
          <a:xfrm>
            <a:off x="6426403" y="1525219"/>
            <a:ext cx="332842" cy="332842"/>
          </a:xfrm>
          <a:prstGeom prst="rect">
            <a:avLst/>
          </a:prstGeom>
        </p:spPr>
      </p:pic>
      <p:sp>
        <p:nvSpPr>
          <p:cNvPr id="16" name="Text 11"/>
          <p:cNvSpPr txBox="1"/>
          <p:nvPr/>
        </p:nvSpPr>
        <p:spPr>
          <a:xfrm>
            <a:off x="7050024" y="1417320"/>
            <a:ext cx="1554480" cy="548640"/>
          </a:xfrm>
          <a:prstGeom prst="rect">
            <a:avLst/>
          </a:prstGeom>
          <a:noFill/>
          <a:ln/>
        </p:spPr>
        <p:txBody>
          <a:bodyPr wrap="square" lIns="0" tIns="0" rIns="0" bIns="0" rtlCol="0" anchor="ctr"/>
          <a:lstStyle/>
          <a:p>
            <a:pPr indent="0" marL="0">
              <a:buNone/>
            </a:pPr>
            <a:r>
              <a:rPr lang="en-US" sz="2000" b="1" dirty="0">
                <a:solidFill>
                  <a:srgbClr val="9E1B4B"/>
                </a:solidFill>
                <a:latin typeface="Calibri" pitchFamily="34" charset="0"/>
                <a:ea typeface="Calibri" pitchFamily="34" charset="-122"/>
                <a:cs typeface="Calibri" pitchFamily="34" charset="-120"/>
              </a:rPr>
              <a:t>Above</a:t>
            </a:r>
            <a:endParaRPr lang="en-US" sz="2000" dirty="0"/>
          </a:p>
        </p:txBody>
      </p:sp>
      <p:sp>
        <p:nvSpPr>
          <p:cNvPr id="17" name="Text 12"/>
          <p:cNvSpPr txBox="1"/>
          <p:nvPr/>
        </p:nvSpPr>
        <p:spPr>
          <a:xfrm>
            <a:off x="6272784"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Add a second condition (for example a sound or light reaction) and explain how your optimisation made the program better.</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Live Quiz Time</a:t>
            </a:r>
            <a:endParaRPr lang="en-US" sz="3000" dirty="0"/>
          </a:p>
        </p:txBody>
      </p:sp>
      <p:sp>
        <p:nvSpPr>
          <p:cNvPr id="3" name="Shape 1"/>
          <p:cNvSpPr/>
          <p:nvPr/>
        </p:nvSpPr>
        <p:spPr>
          <a:xfrm>
            <a:off x="457200" y="1234440"/>
            <a:ext cx="1463040" cy="1463040"/>
          </a:xfrm>
          <a:prstGeom prst="ellipse">
            <a:avLst/>
          </a:prstGeom>
          <a:solidFill>
            <a:srgbClr val="FFFFFF"/>
          </a:solidFill>
          <a:ln w="1270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808330" y="1585570"/>
            <a:ext cx="760781" cy="760781"/>
          </a:xfrm>
          <a:prstGeom prst="rect">
            <a:avLst/>
          </a:prstGeom>
        </p:spPr>
      </p:pic>
      <p:sp>
        <p:nvSpPr>
          <p:cNvPr id="5" name="Text 2"/>
          <p:cNvSpPr txBox="1"/>
          <p:nvPr/>
        </p:nvSpPr>
        <p:spPr>
          <a:xfrm>
            <a:off x="2286000" y="1234440"/>
            <a:ext cx="6400800" cy="2194560"/>
          </a:xfrm>
          <a:prstGeom prst="rect">
            <a:avLst/>
          </a:prstGeom>
          <a:noFill/>
          <a:ln/>
        </p:spPr>
        <p:txBody>
          <a:bodyPr wrap="square" lIns="0" tIns="0" rIns="0" bIns="0" rtlCol="0" anchor="t"/>
          <a:lstStyle/>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1. Open the TCD website and tap Join a Quiz.</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2. Enter the quiz code on the board.</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3. Type your Student ID, first name and last name.</a:t>
            </a:r>
            <a:endParaRPr lang="en-US" sz="1800" dirty="0"/>
          </a:p>
          <a:p>
            <a:pPr indent="0" marL="0">
              <a:buNone/>
            </a:pPr>
            <a:r>
              <a:rPr lang="en-US" sz="1800" dirty="0">
                <a:solidFill>
                  <a:schemeClr val="bg1"/>
                </a:solidFill>
                <a:latin typeface="Calibri" pitchFamily="34" charset="0"/>
                <a:ea typeface="Calibri" pitchFamily="34" charset="-122"/>
                <a:cs typeface="Calibri" pitchFamily="34" charset="-120"/>
              </a:rPr>
              <a:t>4. Answer 8 questions. Fast and correct answers score more points!</a:t>
            </a:r>
            <a:endParaRPr lang="en-US" sz="1800" dirty="0"/>
          </a:p>
        </p:txBody>
      </p:sp>
      <p:sp>
        <p:nvSpPr>
          <p:cNvPr id="6" name="codeBox"/>
          <p:cNvSpPr/>
          <p:nvPr/>
        </p:nvSpPr>
        <p:spPr>
          <a:xfrm>
            <a:off x="2286000" y="3611880"/>
            <a:ext cx="3840480" cy="777240"/>
          </a:xfrm>
          <a:prstGeom prst="roundRect">
            <a:avLst>
              <a:gd name="adj" fmla="val 14118"/>
            </a:avLst>
          </a:prstGeom>
          <a:solidFill>
            <a:srgbClr val="FFFFFF"/>
          </a:solidFill>
          <a:ln w="12700">
            <a:solidFill>
              <a:srgbClr val="FFFFFF"/>
            </a:solidFill>
            <a:prstDash val="solid"/>
          </a:ln>
        </p:spPr>
      </p:sp>
      <p:sp>
        <p:nvSpPr>
          <p:cNvPr id="7" name="Text 4"/>
          <p:cNvSpPr txBox="1"/>
          <p:nvPr/>
        </p:nvSpPr>
        <p:spPr>
          <a:xfrm>
            <a:off x="2286000" y="3611880"/>
            <a:ext cx="3840480" cy="777240"/>
          </a:xfrm>
          <a:prstGeom prst="rect">
            <a:avLst/>
          </a:prstGeom>
          <a:noFill/>
          <a:ln/>
        </p:spPr>
        <p:txBody>
          <a:bodyPr wrap="square" lIns="0" tIns="0" rIns="0" bIns="0" rtlCol="0" anchor="ctr"/>
          <a:lstStyle/>
          <a:p>
            <a:pPr algn="ctr" indent="0" marL="0">
              <a:buNone/>
            </a:pPr>
            <a:r>
              <a:rPr lang="en-US" sz="2200" b="1" dirty="0">
                <a:solidFill>
                  <a:srgbClr val="0E7C80"/>
                </a:solidFill>
                <a:latin typeface="Calibri" pitchFamily="34" charset="0"/>
                <a:ea typeface="Calibri" pitchFamily="34" charset="-122"/>
                <a:cs typeface="Calibri" pitchFamily="34" charset="-120"/>
              </a:rPr>
              <a:t>Quiz code:  _ _ _ _ _ _</a:t>
            </a:r>
            <a:endParaRPr lang="en-US" sz="22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Reflect: Exit Ticket</a:t>
            </a:r>
            <a:endParaRPr lang="en-US" sz="3000" dirty="0"/>
          </a:p>
        </p:txBody>
      </p:sp>
      <p:sp>
        <p:nvSpPr>
          <p:cNvPr id="3" name="ref0"/>
          <p:cNvSpPr/>
          <p:nvPr/>
        </p:nvSpPr>
        <p:spPr>
          <a:xfrm>
            <a:off x="457200" y="1188720"/>
            <a:ext cx="4754880" cy="777240"/>
          </a:xfrm>
          <a:prstGeom prst="roundRect">
            <a:avLst>
              <a:gd name="adj" fmla="val 14118"/>
            </a:avLst>
          </a:prstGeom>
          <a:solidFill>
            <a:srgbClr val="E6F2F2"/>
          </a:solidFill>
          <a:ln w="12700">
            <a:solidFill>
              <a:srgbClr val="E6F2F2"/>
            </a:solidFill>
            <a:prstDash val="solid"/>
          </a:ln>
        </p:spPr>
      </p:sp>
      <p:sp>
        <p:nvSpPr>
          <p:cNvPr id="4" name="Text 2"/>
          <p:cNvSpPr txBox="1"/>
          <p:nvPr/>
        </p:nvSpPr>
        <p:spPr>
          <a:xfrm>
            <a:off x="640080" y="11887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What is the difference between selection and repetition?</a:t>
            </a:r>
            <a:endParaRPr lang="en-US" sz="1600" dirty="0"/>
          </a:p>
        </p:txBody>
      </p:sp>
      <p:sp>
        <p:nvSpPr>
          <p:cNvPr id="5" name="ref1"/>
          <p:cNvSpPr/>
          <p:nvPr/>
        </p:nvSpPr>
        <p:spPr>
          <a:xfrm>
            <a:off x="457200" y="2103120"/>
            <a:ext cx="4754880" cy="777240"/>
          </a:xfrm>
          <a:prstGeom prst="roundRect">
            <a:avLst>
              <a:gd name="adj" fmla="val 14118"/>
            </a:avLst>
          </a:prstGeom>
          <a:solidFill>
            <a:srgbClr val="F3F5F6"/>
          </a:solidFill>
          <a:ln w="12700">
            <a:solidFill>
              <a:srgbClr val="F3F5F6"/>
            </a:solidFill>
            <a:prstDash val="solid"/>
          </a:ln>
        </p:spPr>
      </p:sp>
      <p:sp>
        <p:nvSpPr>
          <p:cNvPr id="6" name="Text 4"/>
          <p:cNvSpPr txBox="1"/>
          <p:nvPr/>
        </p:nvSpPr>
        <p:spPr>
          <a:xfrm>
            <a:off x="640080" y="21031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What was the hardest bug to find?</a:t>
            </a:r>
            <a:endParaRPr lang="en-US" sz="1600" dirty="0"/>
          </a:p>
        </p:txBody>
      </p:sp>
      <p:sp>
        <p:nvSpPr>
          <p:cNvPr id="7" name="Text 5"/>
          <p:cNvSpPr txBox="1"/>
          <p:nvPr/>
        </p:nvSpPr>
        <p:spPr>
          <a:xfrm>
            <a:off x="5577840" y="1188720"/>
            <a:ext cx="310896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Check your success criteria</a:t>
            </a:r>
            <a:endParaRPr lang="en-US" sz="1500" dirty="0"/>
          </a:p>
        </p:txBody>
      </p:sp>
      <p:sp>
        <p:nvSpPr>
          <p:cNvPr id="8" name="Text 6"/>
          <p:cNvSpPr txBox="1"/>
          <p:nvPr/>
        </p:nvSpPr>
        <p:spPr>
          <a:xfrm>
            <a:off x="5577840" y="1645920"/>
            <a:ext cx="310896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explain selection and repetition.</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program Photon to react when its sensor detects an obstacle.</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use a loop so my program keeps checking the sensor.</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log at least two errors and fix them, including one found by a peer.</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TCD Dubai">
  <a:themeElements>
    <a:clrScheme name="TCD Dubai">
      <a:dk1>
        <a:srgbClr val="1F2A33"/>
      </a:dk1>
      <a:lt1>
        <a:srgbClr val="FFFFFF"/>
      </a:lt1>
      <a:dk2>
        <a:srgbClr val="0E7C80"/>
      </a:dk2>
      <a:lt2>
        <a:srgbClr val="E6F2F2"/>
      </a:lt2>
      <a:accent1>
        <a:srgbClr val="0E7C80"/>
      </a:accent1>
      <a:accent2>
        <a:srgbClr val="9E1B4B"/>
      </a:accent2>
      <a:accent3>
        <a:srgbClr val="F2A31B"/>
      </a:accent3>
      <a:accent4>
        <a:srgbClr val="2E8B57"/>
      </a:accent4>
      <a:accent5>
        <a:srgbClr val="3A6EA5"/>
      </a:accent5>
      <a:accent6>
        <a:srgbClr val="5F6B73"/>
      </a:accent6>
      <a:hlink>
        <a:srgbClr val="0E7C80"/>
      </a:hlink>
      <a:folHlink>
        <a:srgbClr val="9E1B4B"/>
      </a:folHlink>
    </a:clrScheme>
    <a:fontScheme name="TCD Duba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Emirates National Schools TCD Dubai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Photon AI Mission: Selection and Loops Mission</dc:title>
  <dc:subject>PptxGenJS Presentation</dc:subject>
  <dc:creator>Ms. Lubna Kakkengal and Mr. Dilan Devendra</dc:creator>
  <cp:lastModifiedBy>Ms. Lubna Kakkengal and Mr. Dilan Devendra</cp:lastModifiedBy>
  <cp:revision>1</cp:revision>
  <dcterms:created xsi:type="dcterms:W3CDTF">2026-10-24T13:20:58Z</dcterms:created>
  <dcterms:modified xsi:type="dcterms:W3CDTF">2026-10-24T13:20:58Z</dcterms:modified>
</cp:coreProperties>
</file>