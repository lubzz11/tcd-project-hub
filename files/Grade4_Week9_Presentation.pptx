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ff6b4ad-f94b-164a-d252-b47619e82bf0}">
          <p14:sldIdLst>
            <p14:sldId id="256"/>
            <p14:sldId id="257"/>
            <p14:sldId id="258"/>
            <p14:sldId id="259"/>
            <p14:sldId id="260"/>
          </p14:sldIdLst>
        </p14:section>
        <p14:section name="Learn" id="{509c5aa1-659e-a6b8-0713-b9b7b8406d3a}">
          <p14:sldIdLst>
            <p14:sldId id="261"/>
            <p14:sldId id="262"/>
            <p14:sldId id="263"/>
          </p14:sldIdLst>
        </p14:section>
        <p14:section name="Make" id="{75342402-2536-8a44-0edd-22dde6cf152f}">
          <p14:sldIdLst>
            <p14:sldId id="264"/>
            <p14:sldId id="265"/>
            <p14:sldId id="266"/>
            <p14:sldId id="267"/>
          </p14:sldIdLst>
        </p14:section>
        <p14:section name="Check" id="{4a47041f-1d69-53a9-b266-2bddcfb0e36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Candle Making Session 2 of 2 (1 hour 30 minutes). Students follow the candle recipe they planned last week, pour a small Oud tealight candle in their UAE colour at supervised stations, and finish their candle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Last week you planned your candle. Today, how do we turn hard wax into a glowing candle?
Video scenes: Last week: You chose a shape, a UAE colour and a brand name for your candle. | Today: We turn your plan into a real Oud candle. | The science: Heat turns solid wax into a liquid. When it cools, it becomes solid again. | The rule: Gloves on. Pour slowly. Never touch hot wax. | Your mission: Make a candle you are proud to give as a gift.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Show pictures one at a time: ice cube, chocolate, stone, butter, crayon, wooden spoon. Students show thumbs up if it melts when warmed and thumbs down if it does not. Ask two students to explain their answer. Link to wax: it melts when hot and becomes solid again when it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wax, wick, melt, pour, solidify, mould, double boiler, fragrance, label.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solid to liquid and back: Wax is a solid at room temperature. In the double boiler it melts into a liquid at about 60 to 70°C. When it cools in the mould, it becomes solid again. This is a change we can reverse.
Wax is a solid at room temperature. When we heat it in a double boiler, it melts and becomes a liquid. When it cools down in the mould, it becomes solid again. Scientists call this a reversible change, because we can change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scent and colour: The teacher adds Oud fragrance and your UAE colour at 75 to 80°C. Stir gently for 2 minutes so the colour is even. Too much fragrance makes the candle weak. We follow the recipe.
The wick is the string in the middle of a candle. When you light it, the flame melts a little wax, and the wick soaks up the melted wax like a straw. That is the fuel that keeps the flame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 wick straight: The wick is stuck to the bottom of the mould. A wooden stick or wick holder keeps it in the centre. A straight wick helps the candle burn evenly.
Long ago, Emirati families used a lantern called the Fanar to light their homes at night. Oud is a special scent that Emirati families use to welcome guests. Our candle joins both of these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Gloves and apron on 2. Check your recipe: shape and colour 3. Place the wick in the centre of your mould 4. Teacher pours wax into your jug 5. Pour slowly into the mould, stop below the rim 6. Hold the wick straight with the stick 7. Leave it to cool and do not move it 8. Finish your label while it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Wear gloves and an apron at the station. Never touch liquid wax or the double boiler. Only pour when the teacher says go. Keep your face away from the jug. Tell an adult straight away if wax spills. Never light a candle at home without an adult.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Read your recipe from last week to your partner. Pour your candle at the station with an adult beside you. Fix your wick in the centre. Finish your candle label: brand name, logo and slogan. Clean your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happens to wax when it is heated? 2. What happens to the wax when it cools in the mould? 3. What must you wear at the candle station? 4. Why do we keep the wick in the centre? 5. How should you pour the wax? 6. What was the Fanar used for in Emirati homes? 7. If wax spills, what should you do? 8. Can you light your candle at home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Gallery walk of the finished candles and labels. Exit ticket: students say which success criteria they met (slide 14). Reminder: never light the candle at home without an adult.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9  |  Candle Making: Lighting the UAE Heritage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Candle Making Session 2: Make My Candle</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Candle Making: Lighting the UAE Heritage</a:t>
            </a:r>
            <a:endParaRPr lang="en-US" sz="1500" dirty="0"/>
          </a:p>
          <a:p>
            <a:pPr indent="0" marL="0">
              <a:buNone/>
            </a:pPr>
            <a:r>
              <a:rPr lang="en-US" sz="1500" dirty="0">
                <a:solidFill>
                  <a:schemeClr val="accent6"/>
                </a:solidFill>
              </a:rPr>
              <a:t>Grade 4  |  Term 1  |  Week 9 (26 Oct to 30 Oct)</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CANDLE MAKING: LIGHTING THE UAE HERITAGE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Last week you planned your candle. Today, how do we turn hard wax into a glowing candle?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Last week</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You chose a shape, a UAE colour and a brand name for your candle.</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Today</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We turn your plan into a real Oud candle.</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science</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Heat turns solid wax into a liquid. When it cools, it becomes solid again.</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rule</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Gloves on. Pour slowly. Never touch hot wax.</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make a small Oud candle safely by following our own recipe.</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what happens to wax when it is heated and when it cools.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pour my wax slowly and safely, wearing gloves.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keep my wick straight and in the centre.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finish my candle label with my brand name and logo.</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Melt or Not?</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Show pictures one at a time: ice cube, chocolate, stone, butter, crayon, wooden spoon.</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show thumbs up if it melts when warmed and thumbs down if it does not.</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two students to explain their answer. Link to wax: it melts when hot and becomes solid again when it cools.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wax</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wick</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melt</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pour</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solidify</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mould</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double boiler</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fragrance</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label</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From solid to liquid and back</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Wax is a solid at room temperature.</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In the double boiler it melts into a liquid at about 60 to 70°C.</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When it cools in the mould, it becomes solid again.</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This is a change we can reverse.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Adding scent and colour</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teacher adds Oud fragrance and your UAE colour at 75 to 80°C.</a:t>
            </a:r>
            <a:endParaRPr lang="en-US" sz="1600" dirty="0"/>
          </a:p>
        </p:txBody>
      </p:sp>
      <p:sp>
        <p:nvSpPr>
          <p:cNvPr id="6" name="Shape 3"/>
          <p:cNvSpPr/>
          <p:nvPr/>
        </p:nvSpPr>
        <p:spPr>
          <a:xfrm>
            <a:off x="457200" y="210312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223821"/>
            <a:ext cx="261518" cy="261518"/>
          </a:xfrm>
          <a:prstGeom prst="rect">
            <a:avLst/>
          </a:prstGeom>
        </p:spPr>
      </p:pic>
      <p:sp>
        <p:nvSpPr>
          <p:cNvPr id="8" name="Text 4"/>
          <p:cNvSpPr txBox="1"/>
          <p:nvPr/>
        </p:nvSpPr>
        <p:spPr>
          <a:xfrm>
            <a:off x="1143000" y="205740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Stir gently for 2 minutes so the colour is even.</a:t>
            </a:r>
            <a:endParaRPr lang="en-US" sz="1600" dirty="0"/>
          </a:p>
        </p:txBody>
      </p:sp>
      <p:sp>
        <p:nvSpPr>
          <p:cNvPr id="9" name="Shape 5"/>
          <p:cNvSpPr/>
          <p:nvPr/>
        </p:nvSpPr>
        <p:spPr>
          <a:xfrm>
            <a:off x="457200" y="297180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92501"/>
            <a:ext cx="261518" cy="261518"/>
          </a:xfrm>
          <a:prstGeom prst="rect">
            <a:avLst/>
          </a:prstGeom>
        </p:spPr>
      </p:pic>
      <p:sp>
        <p:nvSpPr>
          <p:cNvPr id="11" name="Text 6"/>
          <p:cNvSpPr txBox="1"/>
          <p:nvPr/>
        </p:nvSpPr>
        <p:spPr>
          <a:xfrm>
            <a:off x="1143000" y="292608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Too much fragrance makes the candle weak. We follow the recipe.</a:t>
            </a:r>
            <a:endParaRPr lang="en-US" sz="1600" dirty="0"/>
          </a:p>
        </p:txBody>
      </p:sp>
      <p:sp>
        <p:nvSpPr>
          <p:cNvPr id="12"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3" name="Shape 8"/>
          <p:cNvSpPr/>
          <p:nvPr/>
        </p:nvSpPr>
        <p:spPr>
          <a:xfrm>
            <a:off x="6903720" y="1463040"/>
            <a:ext cx="1143000" cy="1143000"/>
          </a:xfrm>
          <a:prstGeom prst="ellipse">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7178040" y="1737360"/>
            <a:ext cx="594360" cy="594360"/>
          </a:xfrm>
          <a:prstGeom prst="rect">
            <a:avLst/>
          </a:prstGeom>
        </p:spPr>
      </p:pic>
      <p:sp>
        <p:nvSpPr>
          <p:cNvPr id="15" name="Text 9"/>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6" name="Text 10"/>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Keeping the wick straight</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wick is stuck to the bottom of the mould.</a:t>
            </a:r>
            <a:endParaRPr lang="en-US" sz="1600" dirty="0"/>
          </a:p>
        </p:txBody>
      </p:sp>
      <p:sp>
        <p:nvSpPr>
          <p:cNvPr id="6" name="Shape 3"/>
          <p:cNvSpPr/>
          <p:nvPr/>
        </p:nvSpPr>
        <p:spPr>
          <a:xfrm>
            <a:off x="457200" y="210312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223821"/>
            <a:ext cx="261518" cy="261518"/>
          </a:xfrm>
          <a:prstGeom prst="rect">
            <a:avLst/>
          </a:prstGeom>
        </p:spPr>
      </p:pic>
      <p:sp>
        <p:nvSpPr>
          <p:cNvPr id="8" name="Text 4"/>
          <p:cNvSpPr txBox="1"/>
          <p:nvPr/>
        </p:nvSpPr>
        <p:spPr>
          <a:xfrm>
            <a:off x="1143000" y="205740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wooden stick or wick holder keeps it in the centre.</a:t>
            </a:r>
            <a:endParaRPr lang="en-US" sz="1600" dirty="0"/>
          </a:p>
        </p:txBody>
      </p:sp>
      <p:sp>
        <p:nvSpPr>
          <p:cNvPr id="9" name="Shape 5"/>
          <p:cNvSpPr/>
          <p:nvPr/>
        </p:nvSpPr>
        <p:spPr>
          <a:xfrm>
            <a:off x="457200" y="297180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92501"/>
            <a:ext cx="261518" cy="261518"/>
          </a:xfrm>
          <a:prstGeom prst="rect">
            <a:avLst/>
          </a:prstGeom>
        </p:spPr>
      </p:pic>
      <p:sp>
        <p:nvSpPr>
          <p:cNvPr id="11" name="Text 6"/>
          <p:cNvSpPr txBox="1"/>
          <p:nvPr/>
        </p:nvSpPr>
        <p:spPr>
          <a:xfrm>
            <a:off x="1143000" y="2926080"/>
            <a:ext cx="4754880" cy="82296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straight wick helps the candle burn evenly.</a:t>
            </a:r>
            <a:endParaRPr lang="en-US" sz="1600" dirty="0"/>
          </a:p>
        </p:txBody>
      </p:sp>
      <p:sp>
        <p:nvSpPr>
          <p:cNvPr id="12"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3" name="Shape 8"/>
          <p:cNvSpPr/>
          <p:nvPr/>
        </p:nvSpPr>
        <p:spPr>
          <a:xfrm>
            <a:off x="6903720" y="1463040"/>
            <a:ext cx="1143000" cy="1143000"/>
          </a:xfrm>
          <a:prstGeom prst="ellipse">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7178040" y="1737360"/>
            <a:ext cx="594360" cy="594360"/>
          </a:xfrm>
          <a:prstGeom prst="rect">
            <a:avLst/>
          </a:prstGeom>
        </p:spPr>
      </p:pic>
      <p:sp>
        <p:nvSpPr>
          <p:cNvPr id="15" name="Text 9"/>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6" name="Text 10"/>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How we make our candle</a:t>
            </a:r>
            <a:endParaRPr lang="en-US" sz="3000" dirty="0"/>
          </a:p>
        </p:txBody>
      </p:sp>
      <p:sp>
        <p:nvSpPr>
          <p:cNvPr id="3" name="step0"/>
          <p:cNvSpPr/>
          <p:nvPr/>
        </p:nvSpPr>
        <p:spPr>
          <a:xfrm>
            <a:off x="457200" y="1188720"/>
            <a:ext cx="188595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Gloves and apron on</a:t>
            </a:r>
            <a:endParaRPr lang="en-US" sz="1300" dirty="0"/>
          </a:p>
        </p:txBody>
      </p:sp>
      <p:sp>
        <p:nvSpPr>
          <p:cNvPr id="7" name="step1"/>
          <p:cNvSpPr/>
          <p:nvPr/>
        </p:nvSpPr>
        <p:spPr>
          <a:xfrm>
            <a:off x="2571750" y="1188720"/>
            <a:ext cx="188595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270891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270891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2708910" y="187452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Check your recipe: shape and colour</a:t>
            </a:r>
            <a:endParaRPr lang="en-US" sz="1300" dirty="0"/>
          </a:p>
        </p:txBody>
      </p:sp>
      <p:sp>
        <p:nvSpPr>
          <p:cNvPr id="11" name="step2"/>
          <p:cNvSpPr/>
          <p:nvPr/>
        </p:nvSpPr>
        <p:spPr>
          <a:xfrm>
            <a:off x="4686300" y="1188720"/>
            <a:ext cx="188595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48234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48234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4823460" y="187452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Place the wick in the centre of your mould</a:t>
            </a:r>
            <a:endParaRPr lang="en-US" sz="1300" dirty="0"/>
          </a:p>
        </p:txBody>
      </p:sp>
      <p:sp>
        <p:nvSpPr>
          <p:cNvPr id="15" name="step3"/>
          <p:cNvSpPr/>
          <p:nvPr/>
        </p:nvSpPr>
        <p:spPr>
          <a:xfrm>
            <a:off x="6800850" y="1188720"/>
            <a:ext cx="1885950" cy="1463040"/>
          </a:xfrm>
          <a:prstGeom prst="roundRect">
            <a:avLst>
              <a:gd name="adj" fmla="val 7500"/>
            </a:avLst>
          </a:prstGeom>
          <a:solidFill>
            <a:srgbClr val="E6F2F2"/>
          </a:solidFill>
          <a:ln w="12700">
            <a:solidFill>
              <a:srgbClr val="E6F2F2"/>
            </a:solidFill>
            <a:prstDash val="solid"/>
          </a:ln>
        </p:spPr>
      </p:sp>
      <p:sp>
        <p:nvSpPr>
          <p:cNvPr id="16" name="Shape 14"/>
          <p:cNvSpPr/>
          <p:nvPr/>
        </p:nvSpPr>
        <p:spPr>
          <a:xfrm>
            <a:off x="6938010" y="1325880"/>
            <a:ext cx="457200" cy="457200"/>
          </a:xfrm>
          <a:prstGeom prst="ellipse">
            <a:avLst/>
          </a:prstGeom>
          <a:solidFill>
            <a:srgbClr val="0E7C80"/>
          </a:solidFill>
          <a:ln w="12700">
            <a:solidFill>
              <a:srgbClr val="0E7C80"/>
            </a:solidFill>
            <a:prstDash val="solid"/>
          </a:ln>
        </p:spPr>
      </p:sp>
      <p:sp>
        <p:nvSpPr>
          <p:cNvPr id="17" name="Text 15"/>
          <p:cNvSpPr txBox="1"/>
          <p:nvPr/>
        </p:nvSpPr>
        <p:spPr>
          <a:xfrm>
            <a:off x="693801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6938010" y="187452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Teacher pours wax into your jug</a:t>
            </a:r>
            <a:endParaRPr lang="en-US" sz="1300" dirty="0"/>
          </a:p>
        </p:txBody>
      </p:sp>
      <p:sp>
        <p:nvSpPr>
          <p:cNvPr id="19" name="step4"/>
          <p:cNvSpPr/>
          <p:nvPr/>
        </p:nvSpPr>
        <p:spPr>
          <a:xfrm>
            <a:off x="457200" y="2880360"/>
            <a:ext cx="188595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5943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594360" y="356616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Pour slowly into the mould, stop below the rim</a:t>
            </a:r>
            <a:endParaRPr lang="en-US" sz="1300" dirty="0"/>
          </a:p>
        </p:txBody>
      </p:sp>
      <p:sp>
        <p:nvSpPr>
          <p:cNvPr id="23" name="step5"/>
          <p:cNvSpPr/>
          <p:nvPr/>
        </p:nvSpPr>
        <p:spPr>
          <a:xfrm>
            <a:off x="2571750" y="2880360"/>
            <a:ext cx="188595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270891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270891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2708910" y="356616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Hold the wick straight with the stick</a:t>
            </a:r>
            <a:endParaRPr lang="en-US" sz="1300" dirty="0"/>
          </a:p>
        </p:txBody>
      </p:sp>
      <p:sp>
        <p:nvSpPr>
          <p:cNvPr id="27" name="step6"/>
          <p:cNvSpPr/>
          <p:nvPr/>
        </p:nvSpPr>
        <p:spPr>
          <a:xfrm>
            <a:off x="4686300" y="2880360"/>
            <a:ext cx="1885950" cy="1463040"/>
          </a:xfrm>
          <a:prstGeom prst="roundRect">
            <a:avLst>
              <a:gd name="adj" fmla="val 7500"/>
            </a:avLst>
          </a:prstGeom>
          <a:solidFill>
            <a:srgbClr val="FCEFF3"/>
          </a:solidFill>
          <a:ln w="12700">
            <a:solidFill>
              <a:srgbClr val="FCEFF3"/>
            </a:solidFill>
            <a:prstDash val="solid"/>
          </a:ln>
        </p:spPr>
      </p:sp>
      <p:sp>
        <p:nvSpPr>
          <p:cNvPr id="28" name="Shape 26"/>
          <p:cNvSpPr/>
          <p:nvPr/>
        </p:nvSpPr>
        <p:spPr>
          <a:xfrm>
            <a:off x="4823460" y="3017520"/>
            <a:ext cx="457200" cy="457200"/>
          </a:xfrm>
          <a:prstGeom prst="ellipse">
            <a:avLst/>
          </a:prstGeom>
          <a:solidFill>
            <a:srgbClr val="9E1B4B"/>
          </a:solidFill>
          <a:ln w="12700">
            <a:solidFill>
              <a:srgbClr val="9E1B4B"/>
            </a:solidFill>
            <a:prstDash val="solid"/>
          </a:ln>
        </p:spPr>
      </p:sp>
      <p:sp>
        <p:nvSpPr>
          <p:cNvPr id="29" name="Text 27"/>
          <p:cNvSpPr txBox="1"/>
          <p:nvPr/>
        </p:nvSpPr>
        <p:spPr>
          <a:xfrm>
            <a:off x="48234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a:t>
            </a:r>
            <a:endParaRPr lang="en-US" sz="1500" dirty="0"/>
          </a:p>
        </p:txBody>
      </p:sp>
      <p:sp>
        <p:nvSpPr>
          <p:cNvPr id="30" name="Text 28"/>
          <p:cNvSpPr txBox="1"/>
          <p:nvPr/>
        </p:nvSpPr>
        <p:spPr>
          <a:xfrm>
            <a:off x="4823460" y="356616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Leave it to cool and do not move it</a:t>
            </a:r>
            <a:endParaRPr lang="en-US" sz="1300" dirty="0"/>
          </a:p>
        </p:txBody>
      </p:sp>
      <p:sp>
        <p:nvSpPr>
          <p:cNvPr id="31" name="step7"/>
          <p:cNvSpPr/>
          <p:nvPr/>
        </p:nvSpPr>
        <p:spPr>
          <a:xfrm>
            <a:off x="6800850" y="2880360"/>
            <a:ext cx="1885950" cy="1463040"/>
          </a:xfrm>
          <a:prstGeom prst="roundRect">
            <a:avLst>
              <a:gd name="adj" fmla="val 7500"/>
            </a:avLst>
          </a:prstGeom>
          <a:solidFill>
            <a:srgbClr val="FCEFF3"/>
          </a:solidFill>
          <a:ln w="12700">
            <a:solidFill>
              <a:srgbClr val="FCEFF3"/>
            </a:solidFill>
            <a:prstDash val="solid"/>
          </a:ln>
        </p:spPr>
      </p:sp>
      <p:sp>
        <p:nvSpPr>
          <p:cNvPr id="32" name="Shape 30"/>
          <p:cNvSpPr/>
          <p:nvPr/>
        </p:nvSpPr>
        <p:spPr>
          <a:xfrm>
            <a:off x="6938010" y="3017520"/>
            <a:ext cx="457200" cy="457200"/>
          </a:xfrm>
          <a:prstGeom prst="ellipse">
            <a:avLst/>
          </a:prstGeom>
          <a:solidFill>
            <a:srgbClr val="9E1B4B"/>
          </a:solidFill>
          <a:ln w="12700">
            <a:solidFill>
              <a:srgbClr val="9E1B4B"/>
            </a:solidFill>
            <a:prstDash val="solid"/>
          </a:ln>
        </p:spPr>
      </p:sp>
      <p:sp>
        <p:nvSpPr>
          <p:cNvPr id="33" name="Text 31"/>
          <p:cNvSpPr txBox="1"/>
          <p:nvPr/>
        </p:nvSpPr>
        <p:spPr>
          <a:xfrm>
            <a:off x="693801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a:t>
            </a:r>
            <a:endParaRPr lang="en-US" sz="1500" dirty="0"/>
          </a:p>
        </p:txBody>
      </p:sp>
      <p:sp>
        <p:nvSpPr>
          <p:cNvPr id="34" name="Text 32"/>
          <p:cNvSpPr txBox="1"/>
          <p:nvPr/>
        </p:nvSpPr>
        <p:spPr>
          <a:xfrm>
            <a:off x="6938010" y="3566160"/>
            <a:ext cx="161163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Finish your label while it cools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457200"/>
          </a:xfrm>
          <a:prstGeom prst="roundRect">
            <a:avLst>
              <a:gd name="adj" fmla="val 24000"/>
            </a:avLst>
          </a:prstGeom>
          <a:solidFill>
            <a:srgbClr val="FCEFF3"/>
          </a:solidFill>
          <a:ln w="12700">
            <a:solidFill>
              <a:srgbClr val="FCEFF3"/>
            </a:solidFill>
            <a:prstDash val="solid"/>
          </a:ln>
        </p:spPr>
      </p:sp>
      <p:sp>
        <p:nvSpPr>
          <p:cNvPr id="7" name="Text 4"/>
          <p:cNvSpPr txBox="1"/>
          <p:nvPr/>
        </p:nvSpPr>
        <p:spPr>
          <a:xfrm>
            <a:off x="2377440" y="118872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Wear gloves and an apron at the station.</a:t>
            </a:r>
            <a:endParaRPr lang="en-US" sz="1500" dirty="0"/>
          </a:p>
        </p:txBody>
      </p:sp>
      <p:sp>
        <p:nvSpPr>
          <p:cNvPr id="8" name="safe1"/>
          <p:cNvSpPr/>
          <p:nvPr/>
        </p:nvSpPr>
        <p:spPr>
          <a:xfrm>
            <a:off x="2194560" y="1737360"/>
            <a:ext cx="6492240" cy="457200"/>
          </a:xfrm>
          <a:prstGeom prst="roundRect">
            <a:avLst>
              <a:gd name="adj" fmla="val 24000"/>
            </a:avLst>
          </a:prstGeom>
          <a:solidFill>
            <a:srgbClr val="FFFFFF"/>
          </a:solidFill>
          <a:ln w="12700">
            <a:solidFill>
              <a:srgbClr val="FFFFFF"/>
            </a:solidFill>
            <a:prstDash val="solid"/>
          </a:ln>
        </p:spPr>
      </p:sp>
      <p:sp>
        <p:nvSpPr>
          <p:cNvPr id="9" name="Text 6"/>
          <p:cNvSpPr txBox="1"/>
          <p:nvPr/>
        </p:nvSpPr>
        <p:spPr>
          <a:xfrm>
            <a:off x="2377440" y="173736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Never touch liquid wax or the double boiler.</a:t>
            </a:r>
            <a:endParaRPr lang="en-US" sz="1500" dirty="0"/>
          </a:p>
        </p:txBody>
      </p:sp>
      <p:sp>
        <p:nvSpPr>
          <p:cNvPr id="10" name="safe2"/>
          <p:cNvSpPr/>
          <p:nvPr/>
        </p:nvSpPr>
        <p:spPr>
          <a:xfrm>
            <a:off x="2194560" y="2286000"/>
            <a:ext cx="6492240" cy="457200"/>
          </a:xfrm>
          <a:prstGeom prst="roundRect">
            <a:avLst>
              <a:gd name="adj" fmla="val 24000"/>
            </a:avLst>
          </a:prstGeom>
          <a:solidFill>
            <a:srgbClr val="FCEFF3"/>
          </a:solidFill>
          <a:ln w="12700">
            <a:solidFill>
              <a:srgbClr val="FCEFF3"/>
            </a:solidFill>
            <a:prstDash val="solid"/>
          </a:ln>
        </p:spPr>
      </p:sp>
      <p:sp>
        <p:nvSpPr>
          <p:cNvPr id="11" name="Text 8"/>
          <p:cNvSpPr txBox="1"/>
          <p:nvPr/>
        </p:nvSpPr>
        <p:spPr>
          <a:xfrm>
            <a:off x="2377440" y="228600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Only pour when the teacher says go.</a:t>
            </a:r>
            <a:endParaRPr lang="en-US" sz="1500" dirty="0"/>
          </a:p>
        </p:txBody>
      </p:sp>
      <p:sp>
        <p:nvSpPr>
          <p:cNvPr id="12" name="safe3"/>
          <p:cNvSpPr/>
          <p:nvPr/>
        </p:nvSpPr>
        <p:spPr>
          <a:xfrm>
            <a:off x="2194560" y="2834640"/>
            <a:ext cx="6492240" cy="457200"/>
          </a:xfrm>
          <a:prstGeom prst="roundRect">
            <a:avLst>
              <a:gd name="adj" fmla="val 24000"/>
            </a:avLst>
          </a:prstGeom>
          <a:solidFill>
            <a:srgbClr val="FFFFFF"/>
          </a:solidFill>
          <a:ln w="12700">
            <a:solidFill>
              <a:srgbClr val="FFFFFF"/>
            </a:solidFill>
            <a:prstDash val="solid"/>
          </a:ln>
        </p:spPr>
      </p:sp>
      <p:sp>
        <p:nvSpPr>
          <p:cNvPr id="13" name="Text 10"/>
          <p:cNvSpPr txBox="1"/>
          <p:nvPr/>
        </p:nvSpPr>
        <p:spPr>
          <a:xfrm>
            <a:off x="2377440" y="283464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your face away from the jug.</a:t>
            </a:r>
            <a:endParaRPr lang="en-US" sz="1500" dirty="0"/>
          </a:p>
        </p:txBody>
      </p:sp>
      <p:sp>
        <p:nvSpPr>
          <p:cNvPr id="14" name="safe4"/>
          <p:cNvSpPr/>
          <p:nvPr/>
        </p:nvSpPr>
        <p:spPr>
          <a:xfrm>
            <a:off x="2194560" y="3383280"/>
            <a:ext cx="6492240" cy="457200"/>
          </a:xfrm>
          <a:prstGeom prst="roundRect">
            <a:avLst>
              <a:gd name="adj" fmla="val 24000"/>
            </a:avLst>
          </a:prstGeom>
          <a:solidFill>
            <a:srgbClr val="FCEFF3"/>
          </a:solidFill>
          <a:ln w="12700">
            <a:solidFill>
              <a:srgbClr val="FCEFF3"/>
            </a:solidFill>
            <a:prstDash val="solid"/>
          </a:ln>
        </p:spPr>
      </p:sp>
      <p:sp>
        <p:nvSpPr>
          <p:cNvPr id="15" name="Text 12"/>
          <p:cNvSpPr txBox="1"/>
          <p:nvPr/>
        </p:nvSpPr>
        <p:spPr>
          <a:xfrm>
            <a:off x="2377440" y="338328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Tell an adult straight away if wax spills.</a:t>
            </a:r>
            <a:endParaRPr lang="en-US" sz="1500" dirty="0"/>
          </a:p>
        </p:txBody>
      </p:sp>
      <p:sp>
        <p:nvSpPr>
          <p:cNvPr id="16" name="safe5"/>
          <p:cNvSpPr/>
          <p:nvPr/>
        </p:nvSpPr>
        <p:spPr>
          <a:xfrm>
            <a:off x="2194560" y="3931920"/>
            <a:ext cx="6492240" cy="457200"/>
          </a:xfrm>
          <a:prstGeom prst="roundRect">
            <a:avLst>
              <a:gd name="adj" fmla="val 24000"/>
            </a:avLst>
          </a:prstGeom>
          <a:solidFill>
            <a:srgbClr val="FFFFFF"/>
          </a:solidFill>
          <a:ln w="12700">
            <a:solidFill>
              <a:srgbClr val="FFFFFF"/>
            </a:solidFill>
            <a:prstDash val="solid"/>
          </a:ln>
        </p:spPr>
      </p:sp>
      <p:sp>
        <p:nvSpPr>
          <p:cNvPr id="17" name="Text 14"/>
          <p:cNvSpPr txBox="1"/>
          <p:nvPr/>
        </p:nvSpPr>
        <p:spPr>
          <a:xfrm>
            <a:off x="2377440" y="3931920"/>
            <a:ext cx="62179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Never light a candle at home without an adult.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Read your recipe from last week to your partner.</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Pour your candle at the station with an adult beside you.</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Fix your wick in the centre.</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Finish your candle label: brand name, logo and slogan.</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Clean your station.</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Make My Candle</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Follow the picture steps card and pour with an adult holding the mould steady.</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Follow the recipe and pour safely on your own with the teacher watching.</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Pour two thin layers in two UAE colours and explain why the first layer must set before the second.</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was the hardest step today?</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success criteria did you meet?</a:t>
            </a:r>
            <a:endParaRPr lang="en-US" sz="1600" dirty="0"/>
          </a:p>
        </p:txBody>
      </p:sp>
      <p:sp>
        <p:nvSpPr>
          <p:cNvPr id="7" name="ref2"/>
          <p:cNvSpPr/>
          <p:nvPr/>
        </p:nvSpPr>
        <p:spPr>
          <a:xfrm>
            <a:off x="457200" y="3017520"/>
            <a:ext cx="4754880" cy="777240"/>
          </a:xfrm>
          <a:prstGeom prst="roundRect">
            <a:avLst>
              <a:gd name="adj" fmla="val 14118"/>
            </a:avLst>
          </a:prstGeom>
          <a:solidFill>
            <a:srgbClr val="E6F2F2"/>
          </a:solidFill>
          <a:ln w="12700">
            <a:solidFill>
              <a:srgbClr val="E6F2F2"/>
            </a:solidFill>
            <a:prstDash val="solid"/>
          </a:ln>
        </p:spPr>
      </p:sp>
      <p:sp>
        <p:nvSpPr>
          <p:cNvPr id="8" name="Text 6"/>
          <p:cNvSpPr txBox="1"/>
          <p:nvPr/>
        </p:nvSpPr>
        <p:spPr>
          <a:xfrm>
            <a:off x="640080" y="30175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Who will you give your candle to?</a:t>
            </a:r>
            <a:endParaRPr lang="en-US" sz="1600" dirty="0"/>
          </a:p>
        </p:txBody>
      </p:sp>
      <p:sp>
        <p:nvSpPr>
          <p:cNvPr id="9" name="Text 7"/>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10" name="Text 8"/>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what happens to wax when it is heated and when it cools.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pour my wax slowly and safely, wearing gloves.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keep my wick straight and in the centre.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finish my candle label with my brand name and logo.</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Candle Making: Lighting the UAE Heritage: Candle Making Session 2: Make My Candle</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