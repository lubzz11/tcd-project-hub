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73" r:id="rId4"/>
    <p:sldId id="274" r:id="rId5"/>
    <p:sldId id="258" r:id="rId6"/>
    <p:sldId id="259" r:id="rId7"/>
    <p:sldId id="260" r:id="rId8"/>
    <p:sldId id="261" r:id="rId9"/>
    <p:sldId id="262" r:id="rId10"/>
    <p:sldId id="268" r:id="rId11"/>
    <p:sldId id="272" r:id="rId12"/>
    <p:sldId id="269" r:id="rId13"/>
    <p:sldId id="263" r:id="rId14"/>
    <p:sldId id="264" r:id="rId15"/>
    <p:sldId id="265" r:id="rId16"/>
    <p:sldId id="270" r:id="rId17"/>
    <p:sldId id="271" r:id="rId18"/>
    <p:sldId id="266" r:id="rId19"/>
    <p:sldId id="267" r:id="rId20"/>
    <p:sldId id="275" r:id="rId21"/>
  </p:sldIdLst>
  <p:sldSz cx="12192000" cy="6858000"/>
  <p:notesSz cx="6858000" cy="9144000"/>
  <p:embeddedFontLst>
    <p:embeddedFont>
      <p:font typeface="Montserrat" panose="00000500000000000000" pitchFamily="2" charset="0"/>
      <p:regular r:id="rId23"/>
      <p:bold r:id="rId24"/>
      <p:italic r:id="rId25"/>
      <p:boldItalic r:id="rId26"/>
    </p:embeddedFont>
    <p:embeddedFont>
      <p:font typeface="Outfit" panose="020B0604020202020204" charset="0"/>
      <p:regular r:id="rId27"/>
      <p:bold r:id="rId28"/>
    </p:embeddedFont>
    <p:embeddedFont>
      <p:font typeface="Outfit SemiBold" panose="020B0604020202020204" charset="0"/>
      <p:regular r:id="rId29"/>
      <p:bold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bna Kakkengal" userId="e6498a5d-28b3-4b6a-8ee9-60ac9fa7031d" providerId="ADAL" clId="{0FAFB8D6-C382-49D4-A18A-845D8C692B21}"/>
    <pc:docChg chg="undo custSel addSld modSld">
      <pc:chgData name="Lubna Kakkengal" userId="e6498a5d-28b3-4b6a-8ee9-60ac9fa7031d" providerId="ADAL" clId="{0FAFB8D6-C382-49D4-A18A-845D8C692B21}" dt="2026-06-09T11:00:04.139" v="92" actId="6549"/>
      <pc:docMkLst>
        <pc:docMk/>
      </pc:docMkLst>
      <pc:sldChg chg="modSp mod">
        <pc:chgData name="Lubna Kakkengal" userId="e6498a5d-28b3-4b6a-8ee9-60ac9fa7031d" providerId="ADAL" clId="{0FAFB8D6-C382-49D4-A18A-845D8C692B21}" dt="2026-06-09T11:00:04.139" v="92" actId="6549"/>
        <pc:sldMkLst>
          <pc:docMk/>
          <pc:sldMk cId="0" sldId="256"/>
        </pc:sldMkLst>
        <pc:spChg chg="mod">
          <ac:chgData name="Lubna Kakkengal" userId="e6498a5d-28b3-4b6a-8ee9-60ac9fa7031d" providerId="ADAL" clId="{0FAFB8D6-C382-49D4-A18A-845D8C692B21}" dt="2026-06-09T11:00:04.139" v="92" actId="6549"/>
          <ac:spMkLst>
            <pc:docMk/>
            <pc:sldMk cId="0" sldId="256"/>
            <ac:spMk id="87" creationId="{00000000-0000-0000-0000-000000000000}"/>
          </ac:spMkLst>
        </pc:spChg>
      </pc:sldChg>
      <pc:sldChg chg="modAnim">
        <pc:chgData name="Lubna Kakkengal" userId="e6498a5d-28b3-4b6a-8ee9-60ac9fa7031d" providerId="ADAL" clId="{0FAFB8D6-C382-49D4-A18A-845D8C692B21}" dt="2026-05-19T09:00:44" v="40"/>
        <pc:sldMkLst>
          <pc:docMk/>
          <pc:sldMk cId="0" sldId="269"/>
        </pc:sldMkLst>
      </pc:sldChg>
      <pc:sldChg chg="addSp delSp modSp new mod">
        <pc:chgData name="Lubna Kakkengal" userId="e6498a5d-28b3-4b6a-8ee9-60ac9fa7031d" providerId="ADAL" clId="{0FAFB8D6-C382-49D4-A18A-845D8C692B21}" dt="2026-05-19T09:06:43.707" v="46" actId="931"/>
        <pc:sldMkLst>
          <pc:docMk/>
          <pc:sldMk cId="3283622919" sldId="273"/>
        </pc:sldMkLst>
        <pc:picChg chg="add mod">
          <ac:chgData name="Lubna Kakkengal" userId="e6498a5d-28b3-4b6a-8ee9-60ac9fa7031d" providerId="ADAL" clId="{0FAFB8D6-C382-49D4-A18A-845D8C692B21}" dt="2026-05-19T09:06:43.707" v="46" actId="931"/>
          <ac:picMkLst>
            <pc:docMk/>
            <pc:sldMk cId="3283622919" sldId="273"/>
            <ac:picMk id="7" creationId="{6641358C-690D-C574-9B1C-8935EF44633D}"/>
          </ac:picMkLst>
        </pc:picChg>
      </pc:sldChg>
      <pc:sldChg chg="addSp delSp modSp new mod">
        <pc:chgData name="Lubna Kakkengal" userId="e6498a5d-28b3-4b6a-8ee9-60ac9fa7031d" providerId="ADAL" clId="{0FAFB8D6-C382-49D4-A18A-845D8C692B21}" dt="2026-05-19T09:11:27.931" v="52" actId="931"/>
        <pc:sldMkLst>
          <pc:docMk/>
          <pc:sldMk cId="711541084" sldId="274"/>
        </pc:sldMkLst>
        <pc:picChg chg="add mod">
          <ac:chgData name="Lubna Kakkengal" userId="e6498a5d-28b3-4b6a-8ee9-60ac9fa7031d" providerId="ADAL" clId="{0FAFB8D6-C382-49D4-A18A-845D8C692B21}" dt="2026-05-19T09:11:27.931" v="52" actId="931"/>
          <ac:picMkLst>
            <pc:docMk/>
            <pc:sldMk cId="711541084" sldId="274"/>
            <ac:picMk id="7" creationId="{B3A53EE6-F84F-E9BA-5ABB-4EE59B61BFA5}"/>
          </ac:picMkLst>
        </pc:picChg>
      </pc:sldChg>
      <pc:sldChg chg="addSp delSp modSp new mod setBg">
        <pc:chgData name="Lubna Kakkengal" userId="e6498a5d-28b3-4b6a-8ee9-60ac9fa7031d" providerId="ADAL" clId="{0FAFB8D6-C382-49D4-A18A-845D8C692B21}" dt="2026-06-04T05:09:49.254" v="91" actId="20577"/>
        <pc:sldMkLst>
          <pc:docMk/>
          <pc:sldMk cId="2647996187" sldId="275"/>
        </pc:sldMkLst>
        <pc:spChg chg="mod">
          <ac:chgData name="Lubna Kakkengal" userId="e6498a5d-28b3-4b6a-8ee9-60ac9fa7031d" providerId="ADAL" clId="{0FAFB8D6-C382-49D4-A18A-845D8C692B21}" dt="2026-06-04T05:09:49.254" v="91" actId="20577"/>
          <ac:spMkLst>
            <pc:docMk/>
            <pc:sldMk cId="2647996187" sldId="275"/>
            <ac:spMk id="3" creationId="{85953CE9-CFA4-48F6-62BE-4F52EB762FD9}"/>
          </ac:spMkLst>
        </pc:spChg>
        <pc:spChg chg="add">
          <ac:chgData name="Lubna Kakkengal" userId="e6498a5d-28b3-4b6a-8ee9-60ac9fa7031d" providerId="ADAL" clId="{0FAFB8D6-C382-49D4-A18A-845D8C692B21}" dt="2026-06-04T05:09:29.207" v="76" actId="26606"/>
          <ac:spMkLst>
            <pc:docMk/>
            <pc:sldMk cId="2647996187" sldId="275"/>
            <ac:spMk id="8" creationId="{489B7BFD-8F45-4093-AD9C-91B15B0503D9}"/>
          </ac:spMkLst>
        </pc:spChg>
        <pc:spChg chg="add">
          <ac:chgData name="Lubna Kakkengal" userId="e6498a5d-28b3-4b6a-8ee9-60ac9fa7031d" providerId="ADAL" clId="{0FAFB8D6-C382-49D4-A18A-845D8C692B21}" dt="2026-06-04T05:09:29.207" v="76" actId="26606"/>
          <ac:spMkLst>
            <pc:docMk/>
            <pc:sldMk cId="2647996187" sldId="275"/>
            <ac:spMk id="14" creationId="{498F8FF6-43B4-494A-AF8F-123A4983EDF7}"/>
          </ac:spMkLst>
        </pc:spChg>
        <pc:spChg chg="add">
          <ac:chgData name="Lubna Kakkengal" userId="e6498a5d-28b3-4b6a-8ee9-60ac9fa7031d" providerId="ADAL" clId="{0FAFB8D6-C382-49D4-A18A-845D8C692B21}" dt="2026-06-04T05:09:29.207" v="76" actId="26606"/>
          <ac:spMkLst>
            <pc:docMk/>
            <pc:sldMk cId="2647996187" sldId="275"/>
            <ac:spMk id="18" creationId="{5AFEC601-A132-47EE-B0C2-B38ACD9FCE6F}"/>
          </ac:spMkLst>
        </pc:spChg>
        <pc:spChg chg="add">
          <ac:chgData name="Lubna Kakkengal" userId="e6498a5d-28b3-4b6a-8ee9-60ac9fa7031d" providerId="ADAL" clId="{0FAFB8D6-C382-49D4-A18A-845D8C692B21}" dt="2026-06-04T05:09:29.207" v="76" actId="26606"/>
          <ac:spMkLst>
            <pc:docMk/>
            <pc:sldMk cId="2647996187" sldId="275"/>
            <ac:spMk id="20" creationId="{279CAF82-0ECF-42BE-8F37-F71941E5D410}"/>
          </ac:spMkLst>
        </pc:spChg>
        <pc:spChg chg="add">
          <ac:chgData name="Lubna Kakkengal" userId="e6498a5d-28b3-4b6a-8ee9-60ac9fa7031d" providerId="ADAL" clId="{0FAFB8D6-C382-49D4-A18A-845D8C692B21}" dt="2026-06-04T05:09:29.207" v="76" actId="26606"/>
          <ac:spMkLst>
            <pc:docMk/>
            <pc:sldMk cId="2647996187" sldId="275"/>
            <ac:spMk id="22" creationId="{218E095B-4870-4AD5-9C41-C16D59523501}"/>
          </ac:spMkLst>
        </pc:spChg>
        <pc:spChg chg="add">
          <ac:chgData name="Lubna Kakkengal" userId="e6498a5d-28b3-4b6a-8ee9-60ac9fa7031d" providerId="ADAL" clId="{0FAFB8D6-C382-49D4-A18A-845D8C692B21}" dt="2026-06-04T05:09:29.207" v="76" actId="26606"/>
          <ac:spMkLst>
            <pc:docMk/>
            <pc:sldMk cId="2647996187" sldId="275"/>
            <ac:spMk id="31" creationId="{033BC44A-0661-43B4-9C14-FD5963C226AE}"/>
          </ac:spMkLst>
        </pc:spChg>
        <pc:spChg chg="add">
          <ac:chgData name="Lubna Kakkengal" userId="e6498a5d-28b3-4b6a-8ee9-60ac9fa7031d" providerId="ADAL" clId="{0FAFB8D6-C382-49D4-A18A-845D8C692B21}" dt="2026-06-04T05:09:29.207" v="76" actId="26606"/>
          <ac:spMkLst>
            <pc:docMk/>
            <pc:sldMk cId="2647996187" sldId="275"/>
            <ac:spMk id="33" creationId="{BE8CB2F0-2F5A-4EBD-B214-E0309C31F578}"/>
          </ac:spMkLst>
        </pc:spChg>
        <pc:spChg chg="add">
          <ac:chgData name="Lubna Kakkengal" userId="e6498a5d-28b3-4b6a-8ee9-60ac9fa7031d" providerId="ADAL" clId="{0FAFB8D6-C382-49D4-A18A-845D8C692B21}" dt="2026-06-04T05:09:29.207" v="76" actId="26606"/>
          <ac:spMkLst>
            <pc:docMk/>
            <pc:sldMk cId="2647996187" sldId="275"/>
            <ac:spMk id="35" creationId="{FFD3887D-244B-4EC4-9208-E304984C5D0F}"/>
          </ac:spMkLst>
        </pc:spChg>
        <pc:spChg chg="add">
          <ac:chgData name="Lubna Kakkengal" userId="e6498a5d-28b3-4b6a-8ee9-60ac9fa7031d" providerId="ADAL" clId="{0FAFB8D6-C382-49D4-A18A-845D8C692B21}" dt="2026-06-04T05:09:29.207" v="76" actId="26606"/>
          <ac:spMkLst>
            <pc:docMk/>
            <pc:sldMk cId="2647996187" sldId="275"/>
            <ac:spMk id="37" creationId="{97224C31-855E-4593-8A58-5B2B0CC4F53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5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ayground.com/admin/assessment/6a2102533702ced7c5d7a687?source=lesson_shar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773866"/>
            <a:ext cx="12192000" cy="608413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7700" y="993058"/>
            <a:ext cx="10896600" cy="5217242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145631" y="2105173"/>
            <a:ext cx="5900737" cy="1760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Lighting the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UAE Heritage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048000" y="3960465"/>
            <a:ext cx="60960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A7C82C8-12CC-B6C2-9081-FA9A318F65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763" y="15195"/>
            <a:ext cx="523702" cy="56942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CA8D532-7F3D-32FA-1F45-C38563BD8C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28292" y="73384"/>
            <a:ext cx="1433945" cy="5112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943100"/>
            <a:ext cx="52578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647700" y="2636787"/>
            <a:ext cx="5257800" cy="109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Before modern electricity, the </a:t>
            </a:r>
            <a:r>
              <a:rPr lang="en-US" sz="1800" b="1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Fanar</a:t>
            </a:r>
            <a:r>
              <a:rPr lang="en-US" sz="18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(traditional lantern) was the heart of every Emirati home. It lit up late-night stories of the desert and pearl diving.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647700" y="3962400"/>
            <a:ext cx="5257800" cy="109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Today, we carry this tradition forward by making our own candles, blending modern science with ancient scents.</a:t>
            </a:r>
            <a:endParaRPr/>
          </a:p>
        </p:txBody>
      </p:sp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24600" y="1981200"/>
            <a:ext cx="518160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838200" y="647700"/>
            <a:ext cx="1124140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4D4D"/>
                </a:solidFill>
                <a:latin typeface="Montserrat"/>
                <a:ea typeface="Montserrat"/>
                <a:cs typeface="Montserrat"/>
                <a:sym typeface="Montserrat"/>
              </a:rPr>
              <a:t>Light in Emirati History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647700" y="647700"/>
            <a:ext cx="95250" cy="5524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641358C-690D-C574-9B1C-8935EF446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909"/>
            <a:ext cx="12192000" cy="665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622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3A53EE6-F84F-E9BA-5ABB-4EE59B61B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909"/>
            <a:ext cx="12192000" cy="665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541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7700" y="2313682"/>
            <a:ext cx="3441650" cy="3068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75100" y="2313682"/>
            <a:ext cx="3441650" cy="3068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02500" y="2313682"/>
            <a:ext cx="3441650" cy="3068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58900" y="2599432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861696" y="3266182"/>
            <a:ext cx="301365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004D4D"/>
                </a:solidFill>
                <a:latin typeface="Montserrat"/>
                <a:ea typeface="Montserrat"/>
                <a:cs typeface="Montserrat"/>
                <a:sym typeface="Montserrat"/>
              </a:rPr>
              <a:t>Wax</a:t>
            </a:r>
            <a:endParaRPr dirty="0"/>
          </a:p>
        </p:txBody>
      </p:sp>
      <p:sp>
        <p:nvSpPr>
          <p:cNvPr id="109" name="Google Shape;109;p15"/>
          <p:cNvSpPr txBox="1"/>
          <p:nvPr/>
        </p:nvSpPr>
        <p:spPr>
          <a:xfrm>
            <a:off x="933450" y="3713857"/>
            <a:ext cx="287015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We use Paraffin and Bee wax for a clean, long-lasting burn.</a:t>
            </a:r>
            <a:endParaRPr dirty="0"/>
          </a:p>
        </p:txBody>
      </p:sp>
      <p:pic>
        <p:nvPicPr>
          <p:cNvPr id="110" name="Google Shape;110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57726" y="259943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4589096" y="3266182"/>
            <a:ext cx="301365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4D4D"/>
                </a:solidFill>
                <a:latin typeface="Montserrat"/>
                <a:ea typeface="Montserrat"/>
                <a:cs typeface="Montserrat"/>
                <a:sym typeface="Montserrat"/>
              </a:rPr>
              <a:t>Fragrance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4660850" y="3713857"/>
            <a:ext cx="287015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Traditional scents like Oud, Musk, Amber, and Rose to fill the air.</a:t>
            </a:r>
            <a:endParaRPr dirty="0"/>
          </a:p>
        </p:txBody>
      </p:sp>
      <p:pic>
        <p:nvPicPr>
          <p:cNvPr id="113" name="Google Shape;113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85126" y="259943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8316497" y="3266182"/>
            <a:ext cx="301365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4D4D"/>
                </a:solidFill>
                <a:latin typeface="Montserrat"/>
                <a:ea typeface="Montserrat"/>
                <a:cs typeface="Montserrat"/>
                <a:sym typeface="Montserrat"/>
              </a:rPr>
              <a:t>Colors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388250" y="3713857"/>
            <a:ext cx="28701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Safe dyes to create flag patterns.</a:t>
            </a:r>
            <a:endParaRPr dirty="0"/>
          </a:p>
        </p:txBody>
      </p:sp>
      <p:sp>
        <p:nvSpPr>
          <p:cNvPr id="116" name="Google Shape;116;p15"/>
          <p:cNvSpPr txBox="1"/>
          <p:nvPr/>
        </p:nvSpPr>
        <p:spPr>
          <a:xfrm>
            <a:off x="838200" y="647700"/>
            <a:ext cx="1124140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4D4D"/>
                </a:solidFill>
                <a:latin typeface="Montserrat"/>
                <a:ea typeface="Montserrat"/>
                <a:cs typeface="Montserrat"/>
                <a:sym typeface="Montserrat"/>
              </a:rPr>
              <a:t>What's in our Maker Kit?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647700" y="647700"/>
            <a:ext cx="95250" cy="5524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5234880" y="2664321"/>
            <a:ext cx="662489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4D4D"/>
                </a:solidFill>
                <a:latin typeface="Montserrat"/>
                <a:ea typeface="Montserrat"/>
                <a:cs typeface="Montserrat"/>
                <a:sym typeface="Montserrat"/>
              </a:rPr>
              <a:t>Signature Aromas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5234880" y="3111996"/>
            <a:ext cx="6309419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Oud: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The "Wood of the Gods," known for its deep, smoky warmth. It is a symbol of hospitality.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5234880" y="4071937"/>
            <a:ext cx="6309419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Musk &amp; Rose: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Soft, floral notes that reflect the beauty of UAE gardens and heritage luxury.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38200" y="647700"/>
            <a:ext cx="1124140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4D4D"/>
                </a:solidFill>
                <a:latin typeface="Montserrat"/>
                <a:ea typeface="Montserrat"/>
                <a:cs typeface="Montserrat"/>
                <a:sym typeface="Montserrat"/>
              </a:rPr>
              <a:t>A Journey for the Senses</a:t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647700" y="647700"/>
            <a:ext cx="95250" cy="5524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850DA5-D942-A2EA-E6B8-32DC476736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664321"/>
            <a:ext cx="3610479" cy="256258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7"/>
          <p:cNvSpPr txBox="1"/>
          <p:nvPr/>
        </p:nvSpPr>
        <p:spPr>
          <a:xfrm>
            <a:off x="647700" y="2854821"/>
            <a:ext cx="552069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4D4D"/>
                </a:solidFill>
                <a:latin typeface="Montserrat"/>
                <a:ea typeface="Montserrat"/>
                <a:cs typeface="Montserrat"/>
                <a:sym typeface="Montserrat"/>
              </a:rPr>
              <a:t>Symbolic Colors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1028700" y="3226296"/>
            <a:ext cx="48768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Red: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Bravery and strength.</a:t>
            </a:r>
            <a:endParaRPr dirty="0"/>
          </a:p>
        </p:txBody>
      </p:sp>
      <p:sp>
        <p:nvSpPr>
          <p:cNvPr id="141" name="Google Shape;141;p17"/>
          <p:cNvSpPr txBox="1"/>
          <p:nvPr/>
        </p:nvSpPr>
        <p:spPr>
          <a:xfrm>
            <a:off x="1028700" y="3591966"/>
            <a:ext cx="48768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Green: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Hope and prosperity.</a:t>
            </a:r>
            <a:endParaRPr dirty="0"/>
          </a:p>
        </p:txBody>
      </p:sp>
      <p:sp>
        <p:nvSpPr>
          <p:cNvPr id="143" name="Google Shape;143;p17"/>
          <p:cNvSpPr txBox="1"/>
          <p:nvPr/>
        </p:nvSpPr>
        <p:spPr>
          <a:xfrm>
            <a:off x="1028700" y="3957637"/>
            <a:ext cx="48768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White: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Peace and honesty.</a:t>
            </a:r>
            <a:endParaRPr dirty="0"/>
          </a:p>
        </p:txBody>
      </p:sp>
      <p:sp>
        <p:nvSpPr>
          <p:cNvPr id="145" name="Google Shape;145;p17"/>
          <p:cNvSpPr txBox="1"/>
          <p:nvPr/>
        </p:nvSpPr>
        <p:spPr>
          <a:xfrm>
            <a:off x="1028700" y="4323308"/>
            <a:ext cx="48768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Black: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Resilience of the mind.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838200" y="647700"/>
            <a:ext cx="1124140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4D4D"/>
                </a:solidFill>
                <a:latin typeface="Montserrat"/>
                <a:ea typeface="Montserrat"/>
                <a:cs typeface="Montserrat"/>
                <a:sym typeface="Montserrat"/>
              </a:rPr>
              <a:t>The National Day Palette</a:t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647700" y="647700"/>
            <a:ext cx="95250" cy="5524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41A96CF2-838C-A638-39F6-568C64136D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3763" y="2073770"/>
            <a:ext cx="6722996" cy="3579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>
            <a:off x="838200" y="599479"/>
            <a:ext cx="492061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4D4D"/>
                </a:solidFill>
                <a:latin typeface="Montserrat"/>
                <a:ea typeface="Montserrat"/>
                <a:cs typeface="Montserrat"/>
                <a:sym typeface="Montserrat"/>
              </a:rPr>
              <a:t>Precision Setup</a:t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647700" y="599479"/>
            <a:ext cx="95250" cy="5524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 txBox="1"/>
          <p:nvPr/>
        </p:nvSpPr>
        <p:spPr>
          <a:xfrm>
            <a:off x="647700" y="1437679"/>
            <a:ext cx="512064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4D4D"/>
                </a:solidFill>
                <a:latin typeface="Montserrat"/>
                <a:ea typeface="Montserrat"/>
                <a:cs typeface="Montserrat"/>
                <a:sym typeface="Montserrat"/>
              </a:rPr>
              <a:t>The Needle &amp; Cork Method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647700" y="1885354"/>
            <a:ext cx="48768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To make a perfect pillar candle, we must secure the wick in the center. Here is our expert trick: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647700" y="3073896"/>
            <a:ext cx="48768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1. </a:t>
            </a:r>
            <a:r>
              <a:rPr lang="en-US" sz="1800" b="1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Needle: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Pierce the bottom of the silicone mould to pull the wick through.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647700" y="4262437"/>
            <a:ext cx="48768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2. </a:t>
            </a:r>
            <a:r>
              <a:rPr lang="en-US" sz="1800" b="1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Cork: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Use a cork at the bottom to seal the hole and stop wax from leaking!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647700" y="5450978"/>
            <a:ext cx="48768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3. </a:t>
            </a:r>
            <a:r>
              <a:rPr lang="en-US" sz="1800" b="1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Tension: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Keep the wick straight for an even burn.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DD27E4-F6D2-83EC-D7D1-399531AE42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9126" y="3746742"/>
            <a:ext cx="3124185" cy="29140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717623-3C19-233B-AC06-ED88BE4C71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7741" y="545090"/>
            <a:ext cx="3124185" cy="28839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252ED62-AA29-7984-744D-D73F9928F6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5767" y="2477882"/>
            <a:ext cx="2973096" cy="29730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1123950" y="2640508"/>
            <a:ext cx="104203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Melt the Magic: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Heat the wax flakes in a double boiler until they turn into clear liquid.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1123950" y="3244304"/>
            <a:ext cx="104203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Scent &amp; Style: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Add your chosen fragrance oil and color dye. Stir gently for 2 minutes!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1123950" y="3848100"/>
            <a:ext cx="104203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The Perfect Pour: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Slowly pour the wax into your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mould</a:t>
            </a:r>
            <a:r>
              <a:rPr lang="en-US" sz="1800" dirty="0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, then put the wick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 dirty="0"/>
          </a:p>
        </p:txBody>
      </p:sp>
      <p:sp>
        <p:nvSpPr>
          <p:cNvPr id="169" name="Google Shape;169;p19"/>
          <p:cNvSpPr txBox="1"/>
          <p:nvPr/>
        </p:nvSpPr>
        <p:spPr>
          <a:xfrm>
            <a:off x="1123950" y="4451895"/>
            <a:ext cx="104203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Patience is Key: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Let it cool before removing it from the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mould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 dirty="0"/>
          </a:p>
        </p:txBody>
      </p:sp>
      <p:sp>
        <p:nvSpPr>
          <p:cNvPr id="170" name="Google Shape;170;p19"/>
          <p:cNvSpPr txBox="1"/>
          <p:nvPr/>
        </p:nvSpPr>
        <p:spPr>
          <a:xfrm>
            <a:off x="838200" y="647700"/>
            <a:ext cx="1124140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4D4D"/>
                </a:solidFill>
                <a:latin typeface="Montserrat"/>
                <a:ea typeface="Montserrat"/>
                <a:cs typeface="Montserrat"/>
                <a:sym typeface="Montserrat"/>
              </a:rPr>
              <a:t>How it's Made</a:t>
            </a:r>
            <a:endParaRPr/>
          </a:p>
        </p:txBody>
      </p:sp>
      <p:sp>
        <p:nvSpPr>
          <p:cNvPr id="171" name="Google Shape;171;p19"/>
          <p:cNvSpPr/>
          <p:nvPr/>
        </p:nvSpPr>
        <p:spPr>
          <a:xfrm>
            <a:off x="647700" y="647700"/>
            <a:ext cx="95250" cy="5524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7700" y="2640508"/>
            <a:ext cx="2000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7700" y="3244304"/>
            <a:ext cx="2000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7700" y="3848100"/>
            <a:ext cx="2000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7700" y="4451895"/>
            <a:ext cx="200025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C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noGrp="1"/>
          </p:cNvSpPr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7B3F00"/>
          </a:solidFill>
        </p:spPr>
        <p:txBody>
          <a:bodyPr wrap="square" lIns="228600" tIns="45720" rIns="228600" bIns="45720" anchor="ctr"/>
          <a:lstStyle/>
          <a:p>
            <a:pPr algn="ctr">
              <a:buNone/>
            </a:pPr>
            <a:r>
              <a:rPr lang="en-US" sz="2800" b="1" dirty="0">
                <a:solidFill>
                  <a:srgbClr val="FFFFFF"/>
                </a:solidFill>
                <a:latin typeface="Outfit"/>
              </a:rPr>
              <a:t>Candle Making: Step-by-Step Flow</a:t>
            </a:r>
          </a:p>
        </p:txBody>
      </p:sp>
      <p:sp>
        <p:nvSpPr>
          <p:cNvPr id="10" name="S1"/>
          <p:cNvSpPr>
            <a:spLocks noGrp="1"/>
          </p:cNvSpPr>
          <p:nvPr/>
        </p:nvSpPr>
        <p:spPr>
          <a:xfrm>
            <a:off x="228600" y="1308947"/>
            <a:ext cx="2057400" cy="1384505"/>
          </a:xfrm>
          <a:prstGeom prst="roundRect">
            <a:avLst>
              <a:gd name="adj" fmla="val 20000"/>
            </a:avLst>
          </a:prstGeom>
          <a:solidFill>
            <a:srgbClr val="E76F0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b="1" dirty="0">
                <a:solidFill>
                  <a:srgbClr val="FFFFFF"/>
                </a:solidFill>
                <a:latin typeface="Outfit"/>
              </a:rPr>
              <a:t>1. Gather Materials</a:t>
            </a:r>
          </a:p>
          <a:p>
            <a:pPr algn="ctr">
              <a:buNone/>
            </a:pPr>
            <a:r>
              <a:rPr lang="en-US" sz="1050" dirty="0">
                <a:solidFill>
                  <a:srgbClr val="FFE8CC"/>
                </a:solidFill>
                <a:latin typeface="Outfit"/>
              </a:rPr>
              <a:t>Wax, wick, </a:t>
            </a:r>
            <a:r>
              <a:rPr lang="en-US" sz="1050" dirty="0" err="1">
                <a:solidFill>
                  <a:srgbClr val="FFE8CC"/>
                </a:solidFill>
                <a:latin typeface="Outfit"/>
              </a:rPr>
              <a:t>mould</a:t>
            </a:r>
            <a:r>
              <a:rPr lang="en-US" sz="1050" dirty="0">
                <a:solidFill>
                  <a:srgbClr val="FFE8CC"/>
                </a:solidFill>
                <a:latin typeface="Outfit"/>
              </a:rPr>
              <a:t>, scent</a:t>
            </a:r>
          </a:p>
        </p:txBody>
      </p:sp>
      <p:sp>
        <p:nvSpPr>
          <p:cNvPr id="11" name="A1"/>
          <p:cNvSpPr txBox="1"/>
          <p:nvPr/>
        </p:nvSpPr>
        <p:spPr>
          <a:xfrm>
            <a:off x="2385862" y="1869801"/>
            <a:ext cx="342900" cy="17145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buNone/>
            </a:pPr>
            <a:r>
              <a:rPr lang="en-US" sz="2000" b="1" dirty="0">
                <a:solidFill>
                  <a:srgbClr val="E76F00"/>
                </a:solidFill>
                <a:latin typeface="Outfit"/>
              </a:rPr>
              <a:t>➡</a:t>
            </a:r>
          </a:p>
        </p:txBody>
      </p:sp>
      <p:sp>
        <p:nvSpPr>
          <p:cNvPr id="12" name="S2"/>
          <p:cNvSpPr>
            <a:spLocks noGrp="1"/>
          </p:cNvSpPr>
          <p:nvPr/>
        </p:nvSpPr>
        <p:spPr>
          <a:xfrm>
            <a:off x="2905431" y="1308946"/>
            <a:ext cx="2057400" cy="1384503"/>
          </a:xfrm>
          <a:prstGeom prst="roundRect">
            <a:avLst>
              <a:gd name="adj" fmla="val 20000"/>
            </a:avLst>
          </a:prstGeom>
          <a:solidFill>
            <a:srgbClr val="C95B0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b="1" dirty="0">
                <a:solidFill>
                  <a:srgbClr val="FFFFFF"/>
                </a:solidFill>
                <a:latin typeface="Outfit"/>
              </a:rPr>
              <a:t>2. Melt the Wax</a:t>
            </a:r>
          </a:p>
          <a:p>
            <a:pPr algn="ctr">
              <a:buNone/>
            </a:pPr>
            <a:r>
              <a:rPr lang="en-US" sz="1050" dirty="0">
                <a:solidFill>
                  <a:srgbClr val="FFE8CC"/>
                </a:solidFill>
                <a:latin typeface="Outfit"/>
              </a:rPr>
              <a:t>Double boiler, 75-80C</a:t>
            </a:r>
          </a:p>
        </p:txBody>
      </p:sp>
      <p:sp>
        <p:nvSpPr>
          <p:cNvPr id="13" name="A2"/>
          <p:cNvSpPr txBox="1"/>
          <p:nvPr/>
        </p:nvSpPr>
        <p:spPr>
          <a:xfrm>
            <a:off x="4962831" y="1878830"/>
            <a:ext cx="526638" cy="1320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buNone/>
            </a:pPr>
            <a:r>
              <a:rPr lang="en-US" sz="2000" b="1" dirty="0">
                <a:solidFill>
                  <a:srgbClr val="E76F00"/>
                </a:solidFill>
                <a:latin typeface="Outfit"/>
              </a:rPr>
              <a:t>➡</a:t>
            </a:r>
          </a:p>
        </p:txBody>
      </p:sp>
      <p:sp>
        <p:nvSpPr>
          <p:cNvPr id="14" name="S3"/>
          <p:cNvSpPr>
            <a:spLocks noGrp="1"/>
          </p:cNvSpPr>
          <p:nvPr/>
        </p:nvSpPr>
        <p:spPr>
          <a:xfrm>
            <a:off x="5505455" y="1308947"/>
            <a:ext cx="2286000" cy="1384504"/>
          </a:xfrm>
          <a:prstGeom prst="roundRect">
            <a:avLst>
              <a:gd name="adj" fmla="val 20000"/>
            </a:avLst>
          </a:prstGeom>
          <a:solidFill>
            <a:srgbClr val="A0400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b="1" dirty="0">
                <a:solidFill>
                  <a:srgbClr val="FFFFFF"/>
                </a:solidFill>
                <a:latin typeface="Outfit"/>
              </a:rPr>
              <a:t>3. Add Scent &amp; Color</a:t>
            </a:r>
          </a:p>
          <a:p>
            <a:pPr algn="ctr">
              <a:buNone/>
            </a:pPr>
            <a:r>
              <a:rPr lang="en-US" sz="1050" dirty="0">
                <a:solidFill>
                  <a:srgbClr val="FFE8CC"/>
                </a:solidFill>
                <a:latin typeface="Outfit"/>
              </a:rPr>
              <a:t>Oud, Musk or Amber + dye</a:t>
            </a:r>
          </a:p>
        </p:txBody>
      </p:sp>
      <p:sp>
        <p:nvSpPr>
          <p:cNvPr id="15" name="A3"/>
          <p:cNvSpPr txBox="1"/>
          <p:nvPr/>
        </p:nvSpPr>
        <p:spPr>
          <a:xfrm>
            <a:off x="7921730" y="1878830"/>
            <a:ext cx="342900" cy="17145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buNone/>
            </a:pPr>
            <a:r>
              <a:rPr lang="en-US" sz="2000" b="1" dirty="0">
                <a:solidFill>
                  <a:srgbClr val="E76F00"/>
                </a:solidFill>
                <a:latin typeface="Outfit"/>
              </a:rPr>
              <a:t>➡</a:t>
            </a:r>
          </a:p>
        </p:txBody>
      </p:sp>
      <p:sp>
        <p:nvSpPr>
          <p:cNvPr id="16" name="S4"/>
          <p:cNvSpPr>
            <a:spLocks noGrp="1"/>
          </p:cNvSpPr>
          <p:nvPr/>
        </p:nvSpPr>
        <p:spPr>
          <a:xfrm>
            <a:off x="8501832" y="1328323"/>
            <a:ext cx="2286000" cy="1365127"/>
          </a:xfrm>
          <a:prstGeom prst="roundRect">
            <a:avLst>
              <a:gd name="adj" fmla="val 20000"/>
            </a:avLst>
          </a:prstGeom>
          <a:solidFill>
            <a:srgbClr val="006B3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b="1" dirty="0">
                <a:solidFill>
                  <a:srgbClr val="FFFFFF"/>
                </a:solidFill>
                <a:latin typeface="Outfit"/>
              </a:rPr>
              <a:t>4. Set the Wick</a:t>
            </a:r>
          </a:p>
          <a:p>
            <a:pPr algn="ctr">
              <a:buNone/>
            </a:pPr>
            <a:r>
              <a:rPr lang="en-US" sz="1050" dirty="0">
                <a:solidFill>
                  <a:srgbClr val="CCFFCC"/>
                </a:solidFill>
                <a:latin typeface="Outfit"/>
              </a:rPr>
              <a:t>Needle + cork method</a:t>
            </a:r>
          </a:p>
        </p:txBody>
      </p:sp>
      <p:sp>
        <p:nvSpPr>
          <p:cNvPr id="17" name="TurnArrow"/>
          <p:cNvSpPr txBox="1"/>
          <p:nvPr/>
        </p:nvSpPr>
        <p:spPr>
          <a:xfrm>
            <a:off x="10577666" y="2536723"/>
            <a:ext cx="447368" cy="118724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buNone/>
            </a:pPr>
            <a:r>
              <a:rPr lang="en-US" sz="2800" b="1" dirty="0">
                <a:solidFill>
                  <a:srgbClr val="E76F00"/>
                </a:solidFill>
                <a:latin typeface="Outfit"/>
              </a:rPr>
              <a:t>↴</a:t>
            </a:r>
          </a:p>
        </p:txBody>
      </p:sp>
      <p:sp>
        <p:nvSpPr>
          <p:cNvPr id="20" name="S7"/>
          <p:cNvSpPr>
            <a:spLocks noGrp="1"/>
          </p:cNvSpPr>
          <p:nvPr/>
        </p:nvSpPr>
        <p:spPr>
          <a:xfrm>
            <a:off x="271614" y="3723969"/>
            <a:ext cx="2242986" cy="1263778"/>
          </a:xfrm>
          <a:prstGeom prst="roundRect">
            <a:avLst>
              <a:gd name="adj" fmla="val 20000"/>
            </a:avLst>
          </a:prstGeom>
          <a:solidFill>
            <a:srgbClr val="C8A800"/>
          </a:solidFill>
          <a:ln w="57150">
            <a:solidFill>
              <a:srgbClr val="E76F00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b="1" dirty="0">
                <a:solidFill>
                  <a:srgbClr val="FFFFFF"/>
                </a:solidFill>
                <a:latin typeface="Outfit"/>
              </a:rPr>
              <a:t>Your UAE Candle!</a:t>
            </a:r>
          </a:p>
          <a:p>
            <a:pPr algn="ctr">
              <a:buNone/>
            </a:pPr>
            <a:r>
              <a:rPr lang="en-US" sz="1200" dirty="0">
                <a:solidFill>
                  <a:srgbClr val="FFFFFF"/>
                </a:solidFill>
                <a:latin typeface="Outfit"/>
              </a:rPr>
              <a:t>Ready to display!</a:t>
            </a:r>
          </a:p>
        </p:txBody>
      </p:sp>
      <p:sp>
        <p:nvSpPr>
          <p:cNvPr id="21" name="A67"/>
          <p:cNvSpPr txBox="1"/>
          <p:nvPr/>
        </p:nvSpPr>
        <p:spPr>
          <a:xfrm>
            <a:off x="2523200" y="4226001"/>
            <a:ext cx="342900" cy="17145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buNone/>
            </a:pPr>
            <a:r>
              <a:rPr lang="en-US" sz="2000" b="1" dirty="0">
                <a:solidFill>
                  <a:srgbClr val="E76F00"/>
                </a:solidFill>
                <a:latin typeface="Outfit"/>
              </a:rPr>
              <a:t>⬅</a:t>
            </a:r>
          </a:p>
        </p:txBody>
      </p:sp>
      <p:sp>
        <p:nvSpPr>
          <p:cNvPr id="22" name="S6"/>
          <p:cNvSpPr>
            <a:spLocks noGrp="1"/>
          </p:cNvSpPr>
          <p:nvPr/>
        </p:nvSpPr>
        <p:spPr>
          <a:xfrm>
            <a:off x="2998836" y="3686551"/>
            <a:ext cx="2242986" cy="1301196"/>
          </a:xfrm>
          <a:prstGeom prst="roundRect">
            <a:avLst>
              <a:gd name="adj" fmla="val 20000"/>
            </a:avLst>
          </a:prstGeom>
          <a:solidFill>
            <a:srgbClr val="7B3F0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b="1" dirty="0">
                <a:solidFill>
                  <a:srgbClr val="FFFFFF"/>
                </a:solidFill>
                <a:latin typeface="Outfit"/>
              </a:rPr>
              <a:t>6. </a:t>
            </a:r>
            <a:r>
              <a:rPr lang="en-US" b="1" dirty="0" err="1">
                <a:solidFill>
                  <a:srgbClr val="FFFFFF"/>
                </a:solidFill>
                <a:latin typeface="Outfit"/>
              </a:rPr>
              <a:t>Unmould</a:t>
            </a:r>
            <a:r>
              <a:rPr lang="en-US" b="1" dirty="0">
                <a:solidFill>
                  <a:srgbClr val="FFFFFF"/>
                </a:solidFill>
                <a:latin typeface="Outfit"/>
              </a:rPr>
              <a:t> Candle</a:t>
            </a:r>
          </a:p>
          <a:p>
            <a:pPr algn="ctr">
              <a:buNone/>
            </a:pPr>
            <a:r>
              <a:rPr lang="en-US" sz="1050" dirty="0">
                <a:solidFill>
                  <a:srgbClr val="FFE8CC"/>
                </a:solidFill>
                <a:latin typeface="Outfit"/>
              </a:rPr>
              <a:t>Gently pop from </a:t>
            </a:r>
            <a:r>
              <a:rPr lang="en-US" sz="1050" dirty="0" err="1">
                <a:solidFill>
                  <a:srgbClr val="FFE8CC"/>
                </a:solidFill>
                <a:latin typeface="Outfit"/>
              </a:rPr>
              <a:t>mould</a:t>
            </a:r>
            <a:endParaRPr lang="en-US" sz="1050" dirty="0">
              <a:solidFill>
                <a:srgbClr val="FFE8CC"/>
              </a:solidFill>
              <a:latin typeface="Outfit"/>
            </a:endParaRPr>
          </a:p>
        </p:txBody>
      </p:sp>
      <p:sp>
        <p:nvSpPr>
          <p:cNvPr id="23" name="A56"/>
          <p:cNvSpPr txBox="1"/>
          <p:nvPr/>
        </p:nvSpPr>
        <p:spPr>
          <a:xfrm>
            <a:off x="5334005" y="4226001"/>
            <a:ext cx="342900" cy="17145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buNone/>
            </a:pPr>
            <a:r>
              <a:rPr lang="en-US" sz="2000" b="1" dirty="0">
                <a:solidFill>
                  <a:srgbClr val="E76F00"/>
                </a:solidFill>
                <a:latin typeface="Outfit"/>
              </a:rPr>
              <a:t>⬅</a:t>
            </a:r>
          </a:p>
        </p:txBody>
      </p:sp>
      <p:sp>
        <p:nvSpPr>
          <p:cNvPr id="24" name="S5"/>
          <p:cNvSpPr>
            <a:spLocks noGrp="1"/>
          </p:cNvSpPr>
          <p:nvPr/>
        </p:nvSpPr>
        <p:spPr>
          <a:xfrm>
            <a:off x="5850194" y="3686551"/>
            <a:ext cx="2242986" cy="1301198"/>
          </a:xfrm>
          <a:prstGeom prst="roundRect">
            <a:avLst>
              <a:gd name="adj" fmla="val 20000"/>
            </a:avLst>
          </a:prstGeom>
          <a:solidFill>
            <a:srgbClr val="2E86AB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b="1" dirty="0">
                <a:solidFill>
                  <a:srgbClr val="FFFFFF"/>
                </a:solidFill>
                <a:latin typeface="Outfit"/>
              </a:rPr>
              <a:t>5. Cool &amp; Solidify</a:t>
            </a:r>
          </a:p>
          <a:p>
            <a:pPr algn="ctr">
              <a:buNone/>
            </a:pPr>
            <a:r>
              <a:rPr lang="en-US" sz="1050" dirty="0">
                <a:solidFill>
                  <a:srgbClr val="CCF0FF"/>
                </a:solidFill>
                <a:latin typeface="Outfit"/>
              </a:rPr>
              <a:t>Wait 1 hour at room temp</a:t>
            </a:r>
          </a:p>
        </p:txBody>
      </p:sp>
      <p:sp>
        <p:nvSpPr>
          <p:cNvPr id="25" name="A45"/>
          <p:cNvSpPr txBox="1"/>
          <p:nvPr/>
        </p:nvSpPr>
        <p:spPr>
          <a:xfrm>
            <a:off x="8201337" y="4184408"/>
            <a:ext cx="342900" cy="17145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buNone/>
            </a:pPr>
            <a:r>
              <a:rPr lang="en-US" sz="2000" b="1" dirty="0">
                <a:solidFill>
                  <a:srgbClr val="E76F00"/>
                </a:solidFill>
                <a:latin typeface="Outfit"/>
              </a:rPr>
              <a:t>⬅</a:t>
            </a:r>
          </a:p>
        </p:txBody>
      </p:sp>
      <p:sp>
        <p:nvSpPr>
          <p:cNvPr id="26" name="S45"/>
          <p:cNvSpPr>
            <a:spLocks noGrp="1"/>
          </p:cNvSpPr>
          <p:nvPr/>
        </p:nvSpPr>
        <p:spPr>
          <a:xfrm>
            <a:off x="8567584" y="3686550"/>
            <a:ext cx="2295832" cy="1301197"/>
          </a:xfrm>
          <a:prstGeom prst="roundRect">
            <a:avLst>
              <a:gd name="adj" fmla="val 20000"/>
            </a:avLst>
          </a:prstGeom>
          <a:solidFill>
            <a:srgbClr val="8B1A1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b="1" dirty="0">
                <a:solidFill>
                  <a:srgbClr val="FFFFFF"/>
                </a:solidFill>
                <a:latin typeface="Outfit"/>
              </a:rPr>
              <a:t>4b. Pour into </a:t>
            </a:r>
            <a:r>
              <a:rPr lang="en-US" b="1" dirty="0" err="1">
                <a:solidFill>
                  <a:srgbClr val="FFFFFF"/>
                </a:solidFill>
                <a:latin typeface="Outfit"/>
              </a:rPr>
              <a:t>Mould</a:t>
            </a:r>
            <a:endParaRPr lang="en-US" b="1" dirty="0">
              <a:solidFill>
                <a:srgbClr val="FFFFFF"/>
              </a:solidFill>
              <a:latin typeface="Outfit"/>
            </a:endParaRPr>
          </a:p>
          <a:p>
            <a:pPr algn="ctr">
              <a:buNone/>
            </a:pPr>
            <a:r>
              <a:rPr lang="en-US" sz="1050" dirty="0">
                <a:solidFill>
                  <a:srgbClr val="FFD0D0"/>
                </a:solidFill>
                <a:latin typeface="Outfit"/>
              </a:rPr>
              <a:t>Slow &amp; steady pour</a:t>
            </a:r>
          </a:p>
        </p:txBody>
      </p:sp>
      <p:sp>
        <p:nvSpPr>
          <p:cNvPr id="50" name="Footer"/>
          <p:cNvSpPr txBox="1"/>
          <p:nvPr/>
        </p:nvSpPr>
        <p:spPr>
          <a:xfrm>
            <a:off x="0" y="6343200"/>
            <a:ext cx="12192000" cy="514800"/>
          </a:xfrm>
          <a:prstGeom prst="rect">
            <a:avLst/>
          </a:prstGeom>
          <a:solidFill>
            <a:srgbClr val="E76F00"/>
          </a:solidFill>
        </p:spPr>
        <p:txBody>
          <a:bodyPr wrap="square" lIns="228600" tIns="45720" rIns="228600" bIns="4572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Outfit"/>
              </a:rPr>
              <a:t>Workshop: Lighting the UAE Heritage | Candle Making Flow Diagram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2A937F9-FEDF-5390-07FC-3DA16890D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956" y="78660"/>
            <a:ext cx="11690554" cy="7039896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EFA62F5-3ABD-129A-BA51-6F61C7D953C5}"/>
              </a:ext>
            </a:extLst>
          </p:cNvPr>
          <p:cNvSpPr/>
          <p:nvPr/>
        </p:nvSpPr>
        <p:spPr>
          <a:xfrm>
            <a:off x="5417574" y="6501577"/>
            <a:ext cx="1553497" cy="5383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 Hours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214412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A00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3200" b="1">
                <a:solidFill>
                  <a:srgbClr val="FFC653"/>
                </a:solidFill>
                <a:latin typeface="Outfit"/>
              </a:rPr>
              <a:t>Did You Know? Candle Fun Facts!</a:t>
            </a:r>
          </a:p>
        </p:txBody>
      </p:sp>
      <p:sp>
        <p:nvSpPr>
          <p:cNvPr id="10" name="F1"/>
          <p:cNvSpPr>
            <a:spLocks noGrp="1"/>
          </p:cNvSpPr>
          <p:nvPr/>
        </p:nvSpPr>
        <p:spPr>
          <a:xfrm>
            <a:off x="228600" y="1028700"/>
            <a:ext cx="3657600" cy="1600200"/>
          </a:xfrm>
          <a:prstGeom prst="roundRect">
            <a:avLst>
              <a:gd name="adj" fmla="val 10000"/>
            </a:avLst>
          </a:prstGeom>
          <a:solidFill>
            <a:srgbClr val="E76F00"/>
          </a:solidFill>
          <a:ln>
            <a:noFill/>
          </a:ln>
        </p:spPr>
        <p:txBody>
          <a:bodyPr wrap="square" lIns="182880" tIns="182880" rIns="182880" bIns="182880" anchor="t"/>
          <a:lstStyle/>
          <a:p>
            <a:pPr algn="ctr">
              <a:buNone/>
            </a:pPr>
            <a:r>
              <a:rPr lang="en-US" sz="2800" b="1" dirty="0">
                <a:solidFill>
                  <a:srgbClr val="FFFFFF"/>
                </a:solidFill>
                <a:latin typeface="Outfit"/>
              </a:rPr>
              <a:t>🍰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Outfit"/>
              </a:rPr>
              <a:t>Ancient Candles!</a:t>
            </a:r>
          </a:p>
          <a:p>
            <a:pPr algn="l">
              <a:buNone/>
            </a:pPr>
            <a:r>
              <a:rPr lang="en-US" sz="1100" dirty="0">
                <a:solidFill>
                  <a:srgbClr val="FFE8CC"/>
                </a:solidFill>
                <a:latin typeface="Outfit"/>
              </a:rPr>
              <a:t>The first candles were made over 5,000 years ago in Ancient Egypt from reeds dipped in animal fat!</a:t>
            </a:r>
          </a:p>
        </p:txBody>
      </p:sp>
      <p:sp>
        <p:nvSpPr>
          <p:cNvPr id="11" name="F2"/>
          <p:cNvSpPr>
            <a:spLocks noGrp="1"/>
          </p:cNvSpPr>
          <p:nvPr/>
        </p:nvSpPr>
        <p:spPr>
          <a:xfrm>
            <a:off x="4115100" y="1028700"/>
            <a:ext cx="3657600" cy="1600200"/>
          </a:xfrm>
          <a:prstGeom prst="roundRect">
            <a:avLst>
              <a:gd name="adj" fmla="val 10000"/>
            </a:avLst>
          </a:prstGeom>
          <a:solidFill>
            <a:srgbClr val="7B3F00"/>
          </a:solidFill>
          <a:ln>
            <a:noFill/>
          </a:ln>
        </p:spPr>
        <p:txBody>
          <a:bodyPr wrap="square" lIns="182880" tIns="182880" rIns="182880" bIns="182880" anchor="t"/>
          <a:lstStyle/>
          <a:p>
            <a:pPr algn="ctr">
              <a:buNone/>
            </a:pPr>
            <a:r>
              <a:rPr lang="en-US" sz="2800" b="1">
                <a:solidFill>
                  <a:srgbClr val="FFC653"/>
                </a:solidFill>
                <a:latin typeface="Outfit"/>
              </a:rPr>
              <a:t>🫙</a:t>
            </a:r>
          </a:p>
          <a:p>
            <a:pPr algn="ctr">
              <a:buNone/>
            </a:pPr>
            <a:r>
              <a:rPr lang="en-US" sz="1400" b="1">
                <a:solidFill>
                  <a:srgbClr val="FFC653"/>
                </a:solidFill>
                <a:latin typeface="Outfit"/>
              </a:rPr>
              <a:t>Oud: Worth More Than Gold!</a:t>
            </a:r>
          </a:p>
          <a:p>
            <a:pPr algn="l">
              <a:buNone/>
            </a:pPr>
            <a:r>
              <a:rPr lang="en-US" sz="1100">
                <a:solidFill>
                  <a:srgbClr val="FFE8CC"/>
                </a:solidFill>
                <a:latin typeface="Outfit"/>
              </a:rPr>
              <a:t>Oud (agarwood) is one of the most expensive natural ingredients in the world. 1kg can cost up to $100,000!</a:t>
            </a:r>
          </a:p>
        </p:txBody>
      </p:sp>
      <p:sp>
        <p:nvSpPr>
          <p:cNvPr id="12" name="F3"/>
          <p:cNvSpPr>
            <a:spLocks noGrp="1"/>
          </p:cNvSpPr>
          <p:nvPr/>
        </p:nvSpPr>
        <p:spPr>
          <a:xfrm>
            <a:off x="8001600" y="1028700"/>
            <a:ext cx="3657600" cy="1600200"/>
          </a:xfrm>
          <a:prstGeom prst="roundRect">
            <a:avLst>
              <a:gd name="adj" fmla="val 10000"/>
            </a:avLst>
          </a:prstGeom>
          <a:solidFill>
            <a:srgbClr val="006B3C"/>
          </a:solidFill>
          <a:ln>
            <a:noFill/>
          </a:ln>
        </p:spPr>
        <p:txBody>
          <a:bodyPr wrap="square" lIns="182880" tIns="182880" rIns="182880" bIns="182880" anchor="t"/>
          <a:lstStyle/>
          <a:p>
            <a:pPr algn="ctr">
              <a:buNone/>
            </a:pPr>
            <a:r>
              <a:rPr lang="en-US" sz="2800" b="1" dirty="0">
                <a:solidFill>
                  <a:srgbClr val="FFFFFF"/>
                </a:solidFill>
                <a:latin typeface="Outfit"/>
              </a:rPr>
              <a:t>🐢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CCFFCC"/>
                </a:solidFill>
                <a:latin typeface="Outfit"/>
              </a:rPr>
              <a:t>Slow Burn Science!</a:t>
            </a:r>
          </a:p>
          <a:p>
            <a:pPr algn="l">
              <a:buNone/>
            </a:pPr>
            <a:r>
              <a:rPr lang="en-US" sz="1100" dirty="0">
                <a:solidFill>
                  <a:srgbClr val="E0FFE0"/>
                </a:solidFill>
                <a:latin typeface="Outfit"/>
              </a:rPr>
              <a:t>A candle flame burns at approximately 1400 degrees Celsius at its hottest point!</a:t>
            </a:r>
          </a:p>
        </p:txBody>
      </p:sp>
      <p:sp>
        <p:nvSpPr>
          <p:cNvPr id="13" name="F4"/>
          <p:cNvSpPr>
            <a:spLocks noGrp="1"/>
          </p:cNvSpPr>
          <p:nvPr/>
        </p:nvSpPr>
        <p:spPr>
          <a:xfrm>
            <a:off x="228600" y="2742900"/>
            <a:ext cx="3657600" cy="1600200"/>
          </a:xfrm>
          <a:prstGeom prst="roundRect">
            <a:avLst>
              <a:gd name="adj" fmla="val 10000"/>
            </a:avLst>
          </a:prstGeom>
          <a:solidFill>
            <a:srgbClr val="2E86AB"/>
          </a:solidFill>
          <a:ln>
            <a:noFill/>
          </a:ln>
        </p:spPr>
        <p:txBody>
          <a:bodyPr wrap="square" lIns="182880" tIns="182880" rIns="182880" bIns="182880" anchor="t"/>
          <a:lstStyle/>
          <a:p>
            <a:pPr algn="ctr">
              <a:buNone/>
            </a:pPr>
            <a:r>
              <a:rPr lang="en-US" sz="2800" b="1" dirty="0">
                <a:solidFill>
                  <a:srgbClr val="FFFFFF"/>
                </a:solidFill>
                <a:latin typeface="Outfit"/>
              </a:rPr>
              <a:t>🌊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CCF0FF"/>
                </a:solidFill>
                <a:latin typeface="Outfit"/>
              </a:rPr>
              <a:t>UAE Pearl Diving Legacy!</a:t>
            </a:r>
          </a:p>
          <a:p>
            <a:pPr algn="l">
              <a:buNone/>
            </a:pPr>
            <a:r>
              <a:rPr lang="en-US" sz="1100" dirty="0">
                <a:solidFill>
                  <a:srgbClr val="E0F7FF"/>
                </a:solidFill>
                <a:latin typeface="Outfit"/>
              </a:rPr>
              <a:t>Before oil, the UAE economy depended on pearl diving. Divers used lanterns and candles to navigate the dark seas at night!</a:t>
            </a:r>
          </a:p>
        </p:txBody>
      </p:sp>
      <p:sp>
        <p:nvSpPr>
          <p:cNvPr id="14" name="F5"/>
          <p:cNvSpPr>
            <a:spLocks noGrp="1"/>
          </p:cNvSpPr>
          <p:nvPr/>
        </p:nvSpPr>
        <p:spPr>
          <a:xfrm>
            <a:off x="4115100" y="2742900"/>
            <a:ext cx="3657600" cy="1600200"/>
          </a:xfrm>
          <a:prstGeom prst="roundRect">
            <a:avLst>
              <a:gd name="adj" fmla="val 10000"/>
            </a:avLst>
          </a:prstGeom>
          <a:solidFill>
            <a:srgbClr val="8B1A1A"/>
          </a:solidFill>
          <a:ln>
            <a:noFill/>
          </a:ln>
        </p:spPr>
        <p:txBody>
          <a:bodyPr wrap="square" lIns="182880" tIns="182880" rIns="182880" bIns="182880" anchor="t"/>
          <a:lstStyle/>
          <a:p>
            <a:pPr algn="ctr">
              <a:buNone/>
            </a:pPr>
            <a:r>
              <a:rPr lang="en-US" sz="2800" b="1" dirty="0">
                <a:solidFill>
                  <a:srgbClr val="FFC653"/>
                </a:solidFill>
                <a:latin typeface="Outfit"/>
              </a:rPr>
              <a:t>🧪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FFD0D0"/>
                </a:solidFill>
                <a:latin typeface="Outfit"/>
              </a:rPr>
              <a:t>Beeswax is Brilliant!</a:t>
            </a:r>
          </a:p>
          <a:p>
            <a:pPr algn="l">
              <a:buNone/>
            </a:pPr>
            <a:r>
              <a:rPr lang="en-US" sz="1100" dirty="0">
                <a:solidFill>
                  <a:srgbClr val="FFE8E8"/>
                </a:solidFill>
                <a:latin typeface="Outfit"/>
              </a:rPr>
              <a:t>Beeswax candles are the cleanest burning candles. They release negative ions that actually purify the air around you!</a:t>
            </a:r>
          </a:p>
        </p:txBody>
      </p:sp>
      <p:sp>
        <p:nvSpPr>
          <p:cNvPr id="15" name="F6"/>
          <p:cNvSpPr>
            <a:spLocks noGrp="1"/>
          </p:cNvSpPr>
          <p:nvPr/>
        </p:nvSpPr>
        <p:spPr>
          <a:xfrm>
            <a:off x="8001600" y="2742900"/>
            <a:ext cx="3657600" cy="1600200"/>
          </a:xfrm>
          <a:prstGeom prst="roundRect">
            <a:avLst>
              <a:gd name="adj" fmla="val 10000"/>
            </a:avLst>
          </a:prstGeom>
          <a:solidFill>
            <a:srgbClr val="5B2E91"/>
          </a:solidFill>
          <a:ln>
            <a:noFill/>
          </a:ln>
        </p:spPr>
        <p:txBody>
          <a:bodyPr wrap="square" lIns="182880" tIns="182880" rIns="182880" bIns="182880" anchor="t"/>
          <a:lstStyle/>
          <a:p>
            <a:pPr algn="ctr">
              <a:buNone/>
            </a:pPr>
            <a:r>
              <a:rPr lang="en-US" sz="2800" b="1">
                <a:solidFill>
                  <a:srgbClr val="E0CCFF"/>
                </a:solidFill>
                <a:latin typeface="Outfit"/>
              </a:rPr>
              <a:t>💡</a:t>
            </a:r>
          </a:p>
          <a:p>
            <a:pPr algn="ctr">
              <a:buNone/>
            </a:pPr>
            <a:r>
              <a:rPr lang="en-US" sz="1400" b="1">
                <a:solidFill>
                  <a:srgbClr val="E0CCFF"/>
                </a:solidFill>
                <a:latin typeface="Outfit"/>
              </a:rPr>
              <a:t>Scent Memory!</a:t>
            </a:r>
          </a:p>
          <a:p>
            <a:pPr algn="l">
              <a:buNone/>
            </a:pPr>
            <a:r>
              <a:rPr lang="en-US" sz="1100">
                <a:solidFill>
                  <a:srgbClr val="F0E6FF"/>
                </a:solidFill>
                <a:latin typeface="Outfit"/>
              </a:rPr>
              <a:t>Smell is the strongest sense linked to memory. That is why UAE homes use Oud incense to create warm, lasting memories for guests!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7700" y="1485900"/>
            <a:ext cx="10896600" cy="47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647700" y="4622452"/>
            <a:ext cx="108966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Precision ensures your candle doesn't crack and holds its scent perfectly!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838200" y="647700"/>
            <a:ext cx="1124140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4D4D"/>
                </a:solidFill>
                <a:latin typeface="Montserrat"/>
                <a:ea typeface="Montserrat"/>
                <a:cs typeface="Montserrat"/>
                <a:sym typeface="Montserrat"/>
              </a:rPr>
              <a:t>The Temperature Guide</a:t>
            </a:r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647700" y="647700"/>
            <a:ext cx="95250" cy="5524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BBED72-77B3-D981-4F1F-CB0C26D89FB6}"/>
              </a:ext>
            </a:extLst>
          </p:cNvPr>
          <p:cNvSpPr/>
          <p:nvPr/>
        </p:nvSpPr>
        <p:spPr>
          <a:xfrm>
            <a:off x="742950" y="3556449"/>
            <a:ext cx="678426" cy="472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/>
          <p:nvPr/>
        </p:nvSpPr>
        <p:spPr>
          <a:xfrm>
            <a:off x="647700" y="3848100"/>
            <a:ext cx="108966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587770" y="2565052"/>
            <a:ext cx="251703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D4AF37"/>
                </a:solidFill>
                <a:latin typeface="Montserrat"/>
                <a:ea typeface="Montserrat"/>
                <a:cs typeface="Montserrat"/>
                <a:sym typeface="Montserrat"/>
              </a:rPr>
              <a:t>0-</a:t>
            </a:r>
            <a:r>
              <a:rPr lang="en-US" sz="1800" b="1" dirty="0">
                <a:solidFill>
                  <a:srgbClr val="D4AF37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n-US" sz="1800" b="1" i="0" u="none" strike="noStrike" cap="none" dirty="0">
                <a:solidFill>
                  <a:srgbClr val="D4AF37"/>
                </a:solidFill>
                <a:latin typeface="Montserrat"/>
                <a:ea typeface="Montserrat"/>
                <a:cs typeface="Montserrat"/>
                <a:sym typeface="Montserrat"/>
              </a:rPr>
              <a:t>0m</a:t>
            </a:r>
            <a:endParaRPr dirty="0"/>
          </a:p>
        </p:txBody>
      </p:sp>
      <p:sp>
        <p:nvSpPr>
          <p:cNvPr id="192" name="Google Shape;192;p21"/>
          <p:cNvSpPr/>
          <p:nvPr/>
        </p:nvSpPr>
        <p:spPr>
          <a:xfrm>
            <a:off x="1731912" y="293652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08080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647700" y="3393727"/>
            <a:ext cx="2397174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Intro &amp; History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3420862" y="3708052"/>
            <a:ext cx="251703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D4AF37"/>
                </a:solidFill>
                <a:latin typeface="Montserrat"/>
                <a:ea typeface="Montserrat"/>
                <a:cs typeface="Montserrat"/>
                <a:sym typeface="Montserrat"/>
              </a:rPr>
              <a:t>20-60m</a:t>
            </a:r>
            <a:endParaRPr dirty="0"/>
          </a:p>
        </p:txBody>
      </p:sp>
      <p:sp>
        <p:nvSpPr>
          <p:cNvPr id="195" name="Google Shape;195;p21"/>
          <p:cNvSpPr/>
          <p:nvPr/>
        </p:nvSpPr>
        <p:spPr>
          <a:xfrm>
            <a:off x="4565005" y="407952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08080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3480792" y="4536727"/>
            <a:ext cx="2397174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Melting &amp; Pouring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6253955" y="2565052"/>
            <a:ext cx="251703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D4AF37"/>
                </a:solidFill>
                <a:latin typeface="Montserrat"/>
                <a:ea typeface="Montserrat"/>
                <a:cs typeface="Montserrat"/>
                <a:sym typeface="Montserrat"/>
              </a:rPr>
              <a:t>60-90m</a:t>
            </a:r>
            <a:endParaRPr dirty="0"/>
          </a:p>
        </p:txBody>
      </p:sp>
      <p:sp>
        <p:nvSpPr>
          <p:cNvPr id="198" name="Google Shape;198;p21"/>
          <p:cNvSpPr/>
          <p:nvPr/>
        </p:nvSpPr>
        <p:spPr>
          <a:xfrm>
            <a:off x="7398097" y="293652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08080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6313884" y="3393727"/>
            <a:ext cx="23971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Cooling &amp; </a:t>
            </a:r>
            <a:r>
              <a:rPr lang="en-US" sz="1800" dirty="0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Cleanup</a:t>
            </a:r>
            <a:endParaRPr dirty="0"/>
          </a:p>
        </p:txBody>
      </p:sp>
      <p:sp>
        <p:nvSpPr>
          <p:cNvPr id="200" name="Google Shape;200;p21"/>
          <p:cNvSpPr txBox="1"/>
          <p:nvPr/>
        </p:nvSpPr>
        <p:spPr>
          <a:xfrm>
            <a:off x="9087047" y="3708052"/>
            <a:ext cx="251703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D4AF37"/>
                </a:solidFill>
                <a:latin typeface="Montserrat"/>
                <a:sym typeface="Montserrat"/>
              </a:rPr>
              <a:t>Next Session</a:t>
            </a:r>
            <a:endParaRPr dirty="0"/>
          </a:p>
        </p:txBody>
      </p:sp>
      <p:sp>
        <p:nvSpPr>
          <p:cNvPr id="201" name="Google Shape;201;p21"/>
          <p:cNvSpPr/>
          <p:nvPr/>
        </p:nvSpPr>
        <p:spPr>
          <a:xfrm>
            <a:off x="10231189" y="407952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08080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9146976" y="4536727"/>
            <a:ext cx="239717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Branding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 &amp; Packaging</a:t>
            </a:r>
            <a:endParaRPr dirty="0"/>
          </a:p>
        </p:txBody>
      </p:sp>
      <p:sp>
        <p:nvSpPr>
          <p:cNvPr id="203" name="Google Shape;203;p21"/>
          <p:cNvSpPr txBox="1"/>
          <p:nvPr/>
        </p:nvSpPr>
        <p:spPr>
          <a:xfrm>
            <a:off x="838200" y="647700"/>
            <a:ext cx="1124140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4D4D"/>
                </a:solidFill>
                <a:latin typeface="Montserrat"/>
                <a:ea typeface="Montserrat"/>
                <a:cs typeface="Montserrat"/>
                <a:sym typeface="Montserrat"/>
              </a:rPr>
              <a:t>Workshop Timeline</a:t>
            </a:r>
            <a:endParaRPr/>
          </a:p>
        </p:txBody>
      </p:sp>
      <p:sp>
        <p:nvSpPr>
          <p:cNvPr id="204" name="Google Shape;204;p21"/>
          <p:cNvSpPr/>
          <p:nvPr/>
        </p:nvSpPr>
        <p:spPr>
          <a:xfrm>
            <a:off x="647700" y="647700"/>
            <a:ext cx="95250" cy="5524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7700" y="2313682"/>
            <a:ext cx="3441650" cy="3068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75100" y="2313682"/>
            <a:ext cx="3441650" cy="3068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02500" y="2313682"/>
            <a:ext cx="3441650" cy="3068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30325" y="259943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61696" y="3266182"/>
            <a:ext cx="301365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4D4D"/>
                </a:solidFill>
                <a:latin typeface="Montserrat"/>
                <a:ea typeface="Montserrat"/>
                <a:cs typeface="Montserrat"/>
                <a:sym typeface="Montserrat"/>
              </a:rPr>
              <a:t>Hot Wax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933450" y="3713857"/>
            <a:ext cx="287015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Always use gloves and never touch the liquid wax directly.</a:t>
            </a:r>
            <a:endParaRPr dirty="0"/>
          </a:p>
        </p:txBody>
      </p:sp>
      <p:pic>
        <p:nvPicPr>
          <p:cNvPr id="216" name="Google Shape;216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95813" y="2599432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 txBox="1"/>
          <p:nvPr/>
        </p:nvSpPr>
        <p:spPr>
          <a:xfrm>
            <a:off x="4589096" y="3266182"/>
            <a:ext cx="301365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4D4D"/>
                </a:solidFill>
                <a:latin typeface="Montserrat"/>
                <a:ea typeface="Montserrat"/>
                <a:cs typeface="Montserrat"/>
                <a:sym typeface="Montserrat"/>
              </a:rPr>
              <a:t>Supervision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4660850" y="3713857"/>
            <a:ext cx="287015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When pouring the hot liquid, students must be under instructor supervision.</a:t>
            </a:r>
            <a:endParaRPr dirty="0"/>
          </a:p>
        </p:txBody>
      </p:sp>
      <p:pic>
        <p:nvPicPr>
          <p:cNvPr id="219" name="Google Shape;219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56551" y="2599432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 txBox="1"/>
          <p:nvPr/>
        </p:nvSpPr>
        <p:spPr>
          <a:xfrm>
            <a:off x="8316497" y="3266182"/>
            <a:ext cx="301365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4D4D"/>
                </a:solidFill>
                <a:latin typeface="Montserrat"/>
                <a:ea typeface="Montserrat"/>
                <a:cs typeface="Montserrat"/>
                <a:sym typeface="Montserrat"/>
              </a:rPr>
              <a:t>Clean Space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8388250" y="3713857"/>
            <a:ext cx="2870150" cy="109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Outfit"/>
                <a:ea typeface="Outfit"/>
                <a:cs typeface="Outfit"/>
                <a:sym typeface="Outfit"/>
              </a:rPr>
              <a:t>Cover your table with paper. Dried wax is hard to clean!</a:t>
            </a:r>
            <a:endParaRPr dirty="0"/>
          </a:p>
        </p:txBody>
      </p:sp>
      <p:sp>
        <p:nvSpPr>
          <p:cNvPr id="222" name="Google Shape;222;p22"/>
          <p:cNvSpPr txBox="1"/>
          <p:nvPr/>
        </p:nvSpPr>
        <p:spPr>
          <a:xfrm>
            <a:off x="838200" y="647700"/>
            <a:ext cx="1124140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4D4D"/>
                </a:solidFill>
                <a:latin typeface="Montserrat"/>
                <a:ea typeface="Montserrat"/>
                <a:cs typeface="Montserrat"/>
                <a:sym typeface="Montserrat"/>
              </a:rPr>
              <a:t>Maker Rules</a:t>
            </a:r>
            <a:endParaRPr/>
          </a:p>
        </p:txBody>
      </p:sp>
      <p:sp>
        <p:nvSpPr>
          <p:cNvPr id="223" name="Google Shape;223;p22"/>
          <p:cNvSpPr/>
          <p:nvPr/>
        </p:nvSpPr>
        <p:spPr>
          <a:xfrm>
            <a:off x="647700" y="647700"/>
            <a:ext cx="95250" cy="5524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C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>
            <a:spLocks noGrp="1"/>
          </p:cNvSpPr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E76F00"/>
          </a:solidFill>
        </p:spPr>
        <p:txBody>
          <a:bodyPr wrap="square" lIns="228600" tIns="45720" rIns="228600" bIns="45720" anchor="ctr"/>
          <a:lstStyle/>
          <a:p>
            <a:pPr algn="ctr">
              <a:buNone/>
            </a:pPr>
            <a:r>
              <a:rPr lang="en-US" sz="3000" b="1">
                <a:solidFill>
                  <a:srgbClr val="FFFFFF"/>
                </a:solidFill>
                <a:latin typeface="Outfit"/>
              </a:rPr>
              <a:t>🧠 Quiz Time! Test Your Candle Knowledge</a:t>
            </a:r>
          </a:p>
        </p:txBody>
      </p:sp>
      <p:sp>
        <p:nvSpPr>
          <p:cNvPr id="10" name="Q1"/>
          <p:cNvSpPr txBox="1"/>
          <p:nvPr/>
        </p:nvSpPr>
        <p:spPr>
          <a:xfrm>
            <a:off x="228600" y="914400"/>
            <a:ext cx="5486400" cy="4572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en-US" sz="1200" b="1">
                <a:solidFill>
                  <a:srgbClr val="7B3F00"/>
                </a:solidFill>
                <a:latin typeface="Outfit"/>
              </a:rPr>
              <a:t>Q1: What temp should wax reach for fragrance mixing?</a:t>
            </a:r>
          </a:p>
        </p:txBody>
      </p:sp>
      <p:sp>
        <p:nvSpPr>
          <p:cNvPr id="11" name="Q1opts"/>
          <p:cNvSpPr txBox="1"/>
          <p:nvPr/>
        </p:nvSpPr>
        <p:spPr>
          <a:xfrm>
            <a:off x="457200" y="1257300"/>
            <a:ext cx="5257800" cy="514800"/>
          </a:xfrm>
          <a:prstGeom prst="rect">
            <a:avLst/>
          </a:prstGeom>
          <a:solidFill>
            <a:srgbClr val="FFF0D9"/>
          </a:solidFill>
          <a:ln w="19050">
            <a:solidFill>
              <a:srgbClr val="E76F00"/>
            </a:solidFill>
          </a:ln>
        </p:spPr>
        <p:txBody>
          <a:bodyPr wrap="square" lIns="91440" tIns="91440" rIns="91440" bIns="91440" anchor="t"/>
          <a:lstStyle/>
          <a:p>
            <a:pPr algn="l">
              <a:buNone/>
            </a:pPr>
            <a:r>
              <a:rPr lang="en-US" sz="1100">
                <a:solidFill>
                  <a:srgbClr val="334155"/>
                </a:solidFill>
                <a:latin typeface="Outfit"/>
              </a:rPr>
              <a:t>A) 40-50°C    B) 65-70°C    C) 75-80°C    D) 100°C</a:t>
            </a:r>
          </a:p>
          <a:p>
            <a:pPr algn="l">
              <a:buNone/>
            </a:pPr>
            <a:r>
              <a:rPr lang="en-US" sz="1000" b="1" i="1">
                <a:solidFill>
                  <a:srgbClr val="006B3C"/>
                </a:solidFill>
                <a:latin typeface="Outfit"/>
              </a:rPr>
              <a:t>Answer: C) 75-80°C - perfect for locking in the fragrance!</a:t>
            </a:r>
          </a:p>
        </p:txBody>
      </p:sp>
      <p:sp>
        <p:nvSpPr>
          <p:cNvPr id="12" name="Q2"/>
          <p:cNvSpPr txBox="1"/>
          <p:nvPr/>
        </p:nvSpPr>
        <p:spPr>
          <a:xfrm>
            <a:off x="6629400" y="914400"/>
            <a:ext cx="5334600" cy="3429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en-US" sz="1400" b="1">
                <a:solidFill>
                  <a:srgbClr val="7B3F00"/>
                </a:solidFill>
                <a:latin typeface="Outfit"/>
              </a:rPr>
              <a:t>Q2: What does the Cork do in candle making?</a:t>
            </a:r>
          </a:p>
        </p:txBody>
      </p:sp>
      <p:sp>
        <p:nvSpPr>
          <p:cNvPr id="13" name="Q2opts"/>
          <p:cNvSpPr txBox="1"/>
          <p:nvPr/>
        </p:nvSpPr>
        <p:spPr>
          <a:xfrm>
            <a:off x="6858000" y="1257300"/>
            <a:ext cx="5029200" cy="514800"/>
          </a:xfrm>
          <a:prstGeom prst="rect">
            <a:avLst/>
          </a:prstGeom>
          <a:solidFill>
            <a:srgbClr val="FFF0D9"/>
          </a:solidFill>
          <a:ln w="19050">
            <a:solidFill>
              <a:srgbClr val="E76F00"/>
            </a:solidFill>
          </a:ln>
        </p:spPr>
        <p:txBody>
          <a:bodyPr wrap="square" lIns="91440" tIns="91440" rIns="91440" bIns="91440" anchor="t"/>
          <a:lstStyle/>
          <a:p>
            <a:pPr algn="l">
              <a:buNone/>
            </a:pPr>
            <a:r>
              <a:rPr lang="en-US" sz="1100">
                <a:solidFill>
                  <a:srgbClr val="334155"/>
                </a:solidFill>
                <a:latin typeface="Outfit"/>
              </a:rPr>
              <a:t>A) Adds fragrance    B) Seals hole to stop leaks    C) Colors the wax    D) Stirs the mixture</a:t>
            </a:r>
          </a:p>
          <a:p>
            <a:pPr algn="l">
              <a:buNone/>
            </a:pPr>
            <a:r>
              <a:rPr lang="en-US" sz="1000" b="1" i="1">
                <a:solidFill>
                  <a:srgbClr val="006B3C"/>
                </a:solidFill>
                <a:latin typeface="Outfit"/>
              </a:rPr>
              <a:t>Answer: B) It seals the bottom hole to stop wax from leaking!</a:t>
            </a:r>
          </a:p>
        </p:txBody>
      </p:sp>
      <p:sp>
        <p:nvSpPr>
          <p:cNvPr id="14" name="Q3"/>
          <p:cNvSpPr txBox="1"/>
          <p:nvPr/>
        </p:nvSpPr>
        <p:spPr>
          <a:xfrm>
            <a:off x="228600" y="1942275"/>
            <a:ext cx="5486400" cy="3429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en-US" sz="1400" b="1">
                <a:solidFill>
                  <a:srgbClr val="7B3F00"/>
                </a:solidFill>
                <a:latin typeface="Outfit"/>
              </a:rPr>
              <a:t>Q3: What scent is known as the Wood of the Gods?</a:t>
            </a:r>
          </a:p>
        </p:txBody>
      </p:sp>
      <p:sp>
        <p:nvSpPr>
          <p:cNvPr id="15" name="Q3opts"/>
          <p:cNvSpPr txBox="1"/>
          <p:nvPr/>
        </p:nvSpPr>
        <p:spPr>
          <a:xfrm>
            <a:off x="457200" y="2285175"/>
            <a:ext cx="5257800" cy="514800"/>
          </a:xfrm>
          <a:prstGeom prst="rect">
            <a:avLst/>
          </a:prstGeom>
          <a:solidFill>
            <a:srgbClr val="FFF0D9"/>
          </a:solidFill>
          <a:ln w="19050">
            <a:solidFill>
              <a:srgbClr val="E76F00"/>
            </a:solidFill>
          </a:ln>
        </p:spPr>
        <p:txBody>
          <a:bodyPr wrap="square" lIns="91440" tIns="91440" rIns="91440" bIns="91440" anchor="t"/>
          <a:lstStyle/>
          <a:p>
            <a:pPr algn="l">
              <a:buNone/>
            </a:pPr>
            <a:r>
              <a:rPr lang="en-US" sz="1100">
                <a:solidFill>
                  <a:srgbClr val="334155"/>
                </a:solidFill>
                <a:latin typeface="Outfit"/>
              </a:rPr>
              <a:t>A) Rose    B) Amber    C) Musk    D) Oud</a:t>
            </a:r>
          </a:p>
          <a:p>
            <a:pPr algn="l">
              <a:buNone/>
            </a:pPr>
            <a:r>
              <a:rPr lang="en-US" sz="1000" b="1" i="1">
                <a:solidFill>
                  <a:srgbClr val="006B3C"/>
                </a:solidFill>
                <a:latin typeface="Outfit"/>
              </a:rPr>
              <a:t>Answer: D) Oud - the most precious scent in Emirati culture!</a:t>
            </a:r>
          </a:p>
        </p:txBody>
      </p:sp>
      <p:sp>
        <p:nvSpPr>
          <p:cNvPr id="16" name="Q4"/>
          <p:cNvSpPr txBox="1"/>
          <p:nvPr/>
        </p:nvSpPr>
        <p:spPr>
          <a:xfrm>
            <a:off x="6629400" y="1942275"/>
            <a:ext cx="5334600" cy="3429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en-US" sz="1400" b="1">
                <a:solidFill>
                  <a:srgbClr val="7B3F00"/>
                </a:solidFill>
                <a:latin typeface="Outfit"/>
              </a:rPr>
              <a:t>Q4: What color on the UAE flag means Peace?</a:t>
            </a:r>
          </a:p>
        </p:txBody>
      </p:sp>
      <p:sp>
        <p:nvSpPr>
          <p:cNvPr id="17" name="Q4opts"/>
          <p:cNvSpPr txBox="1"/>
          <p:nvPr/>
        </p:nvSpPr>
        <p:spPr>
          <a:xfrm>
            <a:off x="6858000" y="2285175"/>
            <a:ext cx="5029200" cy="514800"/>
          </a:xfrm>
          <a:prstGeom prst="rect">
            <a:avLst/>
          </a:prstGeom>
          <a:solidFill>
            <a:srgbClr val="FFF0D9"/>
          </a:solidFill>
          <a:ln w="19050">
            <a:solidFill>
              <a:srgbClr val="E76F00"/>
            </a:solidFill>
          </a:ln>
        </p:spPr>
        <p:txBody>
          <a:bodyPr wrap="square" lIns="91440" tIns="91440" rIns="91440" bIns="91440" anchor="t"/>
          <a:lstStyle/>
          <a:p>
            <a:pPr algn="l">
              <a:buNone/>
            </a:pPr>
            <a:r>
              <a:rPr lang="en-US" sz="1100">
                <a:solidFill>
                  <a:srgbClr val="334155"/>
                </a:solidFill>
                <a:latin typeface="Outfit"/>
              </a:rPr>
              <a:t>A) Red    B) Green    C) Black    D) White</a:t>
            </a:r>
          </a:p>
          <a:p>
            <a:pPr algn="l">
              <a:buNone/>
            </a:pPr>
            <a:r>
              <a:rPr lang="en-US" sz="1000" b="1" i="1">
                <a:solidFill>
                  <a:srgbClr val="006B3C"/>
                </a:solidFill>
                <a:latin typeface="Outfit"/>
              </a:rPr>
              <a:t>Answer: D) White - symbolizes peace and honesty!</a:t>
            </a:r>
          </a:p>
        </p:txBody>
      </p:sp>
      <p:sp>
        <p:nvSpPr>
          <p:cNvPr id="18" name="Bonus"/>
          <p:cNvSpPr>
            <a:spLocks noGrp="1"/>
          </p:cNvSpPr>
          <p:nvPr/>
        </p:nvSpPr>
        <p:spPr>
          <a:xfrm>
            <a:off x="228600" y="3000150"/>
            <a:ext cx="11734800" cy="685800"/>
          </a:xfrm>
          <a:prstGeom prst="roundRect">
            <a:avLst>
              <a:gd name="adj" fmla="val 10000"/>
            </a:avLst>
          </a:prstGeom>
          <a:solidFill>
            <a:srgbClr val="C8A800"/>
          </a:solidFill>
          <a:ln>
            <a:noFill/>
          </a:ln>
        </p:spPr>
        <p:txBody>
          <a:bodyPr wrap="square" lIns="228600" tIns="91440" rIns="228600" bIns="91440" anchor="ctr"/>
          <a:lstStyle/>
          <a:p>
            <a:pPr algn="l">
              <a:buNone/>
            </a:pPr>
            <a:r>
              <a:rPr lang="en-US" sz="1300" b="1">
                <a:solidFill>
                  <a:srgbClr val="1A0A00"/>
                </a:solidFill>
                <a:latin typeface="Outfit"/>
              </a:rPr>
              <a:t>🌟 BONUS: Name 3 traditional UAE scents used in candle making! (Hint: check slide 4!)</a:t>
            </a:r>
          </a:p>
          <a:p>
            <a:pPr algn="l">
              <a:buNone/>
            </a:pPr>
            <a:r>
              <a:rPr lang="en-US" sz="1000" i="1">
                <a:solidFill>
                  <a:srgbClr val="3B1F00"/>
                </a:solidFill>
                <a:latin typeface="Outfit"/>
              </a:rPr>
              <a:t>Answer: Oud, Musk, Amber (and Rose!) - discuss with your neighbor!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C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>
            <a:spLocks noGrp="1"/>
          </p:cNvSpPr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7B3F00"/>
          </a:solidFill>
        </p:spPr>
        <p:txBody>
          <a:bodyPr wrap="square" lIns="228600" tIns="45720" rIns="228600" bIns="45720" anchor="ctr"/>
          <a:lstStyle/>
          <a:p>
            <a:pPr algn="ctr">
              <a:buNone/>
            </a:pPr>
            <a:r>
              <a:rPr lang="en-US" sz="2800" b="1">
                <a:solidFill>
                  <a:srgbClr val="FFC653"/>
                </a:solidFill>
                <a:latin typeface="Outfit"/>
              </a:rPr>
              <a:t>🎨 Activity Corner: Design Your Candle!</a:t>
            </a:r>
          </a:p>
        </p:txBody>
      </p:sp>
      <p:sp>
        <p:nvSpPr>
          <p:cNvPr id="10" name="A1"/>
          <p:cNvSpPr>
            <a:spLocks noGrp="1"/>
          </p:cNvSpPr>
          <p:nvPr/>
        </p:nvSpPr>
        <p:spPr>
          <a:xfrm>
            <a:off x="228600" y="914400"/>
            <a:ext cx="3657600" cy="2400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E76F00"/>
            </a:solidFill>
          </a:ln>
        </p:spPr>
        <p:txBody>
          <a:bodyPr wrap="square" lIns="182880" tIns="182880" rIns="182880" bIns="182880" anchor="t"/>
          <a:lstStyle/>
          <a:p>
            <a:pPr algn="ctr">
              <a:buNone/>
            </a:pPr>
            <a:r>
              <a:rPr lang="en-US" sz="3600" b="1">
                <a:solidFill>
                  <a:srgbClr val="E76F00"/>
                </a:solidFill>
                <a:latin typeface="Outfit"/>
              </a:rPr>
              <a:t>📋</a:t>
            </a:r>
          </a:p>
          <a:p>
            <a:pPr algn="ctr">
              <a:buNone/>
            </a:pPr>
            <a:r>
              <a:rPr lang="en-US" sz="1800" b="1">
                <a:solidFill>
                  <a:srgbClr val="7B3F00"/>
                </a:solidFill>
                <a:latin typeface="Outfit"/>
              </a:rPr>
              <a:t>My Candle Recipe</a:t>
            </a:r>
          </a:p>
          <a:p>
            <a:pPr algn="l">
              <a:buNone/>
            </a:pPr>
            <a:r>
              <a:rPr lang="en-US" sz="1200">
                <a:solidFill>
                  <a:srgbClr val="334155"/>
                </a:solidFill>
                <a:latin typeface="Outfit"/>
              </a:rPr>
              <a:t>Fill in your own candle creation:</a:t>
            </a:r>
          </a:p>
          <a:p>
            <a:pPr marL="182880" algn="l">
              <a:buNone/>
            </a:pPr>
            <a:r>
              <a:rPr lang="en-US" sz="1100">
                <a:solidFill>
                  <a:srgbClr val="E76F00"/>
                </a:solidFill>
                <a:latin typeface="Outfit"/>
              </a:rPr>
              <a:t>🔸 Scent I Choose: ___________</a:t>
            </a:r>
          </a:p>
          <a:p>
            <a:pPr marL="182880" algn="l">
              <a:buNone/>
            </a:pPr>
            <a:r>
              <a:rPr lang="en-US" sz="1100">
                <a:solidFill>
                  <a:srgbClr val="E76F00"/>
                </a:solidFill>
                <a:latin typeface="Outfit"/>
              </a:rPr>
              <a:t>🔸 My UAE Color: ___________</a:t>
            </a:r>
          </a:p>
          <a:p>
            <a:pPr marL="182880" algn="l">
              <a:buNone/>
            </a:pPr>
            <a:r>
              <a:rPr lang="en-US" sz="1100">
                <a:solidFill>
                  <a:srgbClr val="E76F00"/>
                </a:solidFill>
                <a:latin typeface="Outfit"/>
              </a:rPr>
              <a:t>🔸 Candle Name: ___________</a:t>
            </a:r>
          </a:p>
          <a:p>
            <a:pPr marL="182880" algn="l">
              <a:buNone/>
            </a:pPr>
            <a:r>
              <a:rPr lang="en-US" sz="1100">
                <a:solidFill>
                  <a:srgbClr val="E76F00"/>
                </a:solidFill>
                <a:latin typeface="Outfit"/>
              </a:rPr>
              <a:t>🔸 Who is it a gift for? ___________</a:t>
            </a:r>
          </a:p>
        </p:txBody>
      </p:sp>
      <p:sp>
        <p:nvSpPr>
          <p:cNvPr id="11" name="A2"/>
          <p:cNvSpPr>
            <a:spLocks noGrp="1"/>
          </p:cNvSpPr>
          <p:nvPr/>
        </p:nvSpPr>
        <p:spPr>
          <a:xfrm>
            <a:off x="4115100" y="914400"/>
            <a:ext cx="3657600" cy="2400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7B3F00"/>
            </a:solidFill>
          </a:ln>
        </p:spPr>
        <p:txBody>
          <a:bodyPr wrap="square" lIns="182880" tIns="182880" rIns="182880" bIns="182880" anchor="t"/>
          <a:lstStyle/>
          <a:p>
            <a:pPr algn="ctr">
              <a:buNone/>
            </a:pPr>
            <a:r>
              <a:rPr lang="en-US" sz="3600" b="1">
                <a:solidFill>
                  <a:srgbClr val="7B3F00"/>
                </a:solidFill>
                <a:latin typeface="Outfit"/>
              </a:rPr>
              <a:t>🧭</a:t>
            </a:r>
          </a:p>
          <a:p>
            <a:pPr algn="ctr">
              <a:buNone/>
            </a:pPr>
            <a:r>
              <a:rPr lang="en-US" sz="1800" b="1">
                <a:solidFill>
                  <a:srgbClr val="7B3F00"/>
                </a:solidFill>
                <a:latin typeface="Outfit"/>
              </a:rPr>
              <a:t>Scent Guessing Game</a:t>
            </a:r>
          </a:p>
          <a:p>
            <a:pPr algn="l">
              <a:buNone/>
            </a:pPr>
            <a:r>
              <a:rPr lang="en-US" sz="1100">
                <a:solidFill>
                  <a:srgbClr val="334155"/>
                </a:solidFill>
                <a:latin typeface="Outfit"/>
              </a:rPr>
              <a:t>With a partner, close your eyes and smell each fragrance. Can you guess which is which?</a:t>
            </a:r>
          </a:p>
          <a:p>
            <a:pPr marL="182880" algn="l">
              <a:buNone/>
            </a:pPr>
            <a:r>
              <a:rPr lang="en-US" sz="1100">
                <a:solidFill>
                  <a:srgbClr val="C95B00"/>
                </a:solidFill>
                <a:latin typeface="Outfit"/>
              </a:rPr>
              <a:t>🌶️ Sniff #1: Was it Oud or Musk?</a:t>
            </a:r>
          </a:p>
          <a:p>
            <a:pPr marL="182880" algn="l">
              <a:buNone/>
            </a:pPr>
            <a:r>
              <a:rPr lang="en-US" sz="1100">
                <a:solidFill>
                  <a:srgbClr val="C95B00"/>
                </a:solidFill>
                <a:latin typeface="Outfit"/>
              </a:rPr>
              <a:t>🌶️ Sniff #2: Was it Amber or Rose?</a:t>
            </a:r>
          </a:p>
          <a:p>
            <a:pPr marL="182880" algn="l">
              <a:buNone/>
            </a:pPr>
            <a:r>
              <a:rPr lang="en-US" sz="1100">
                <a:solidFill>
                  <a:srgbClr val="C95B00"/>
                </a:solidFill>
                <a:latin typeface="Outfit"/>
              </a:rPr>
              <a:t>🌶️ Which smell reminds you of UAE?</a:t>
            </a:r>
          </a:p>
          <a:p>
            <a:pPr algn="l">
              <a:buNone/>
            </a:pPr>
            <a:r>
              <a:rPr lang="en-US" sz="1000" i="1">
                <a:solidFill>
                  <a:srgbClr val="7B3F00"/>
                </a:solidFill>
                <a:latin typeface="Outfit"/>
              </a:rPr>
              <a:t>Share your answer with the class!</a:t>
            </a:r>
          </a:p>
        </p:txBody>
      </p:sp>
      <p:sp>
        <p:nvSpPr>
          <p:cNvPr id="12" name="A3"/>
          <p:cNvSpPr>
            <a:spLocks noGrp="1"/>
          </p:cNvSpPr>
          <p:nvPr/>
        </p:nvSpPr>
        <p:spPr>
          <a:xfrm>
            <a:off x="8001600" y="914400"/>
            <a:ext cx="3657600" cy="2400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006B3C"/>
            </a:solidFill>
          </a:ln>
        </p:spPr>
        <p:txBody>
          <a:bodyPr wrap="square" lIns="182880" tIns="182880" rIns="182880" bIns="182880" anchor="t"/>
          <a:lstStyle/>
          <a:p>
            <a:pPr algn="ctr">
              <a:buNone/>
            </a:pPr>
            <a:r>
              <a:rPr lang="en-US" sz="3600" b="1">
                <a:solidFill>
                  <a:srgbClr val="006B3C"/>
                </a:solidFill>
                <a:latin typeface="Outfit"/>
              </a:rPr>
              <a:t>🤝</a:t>
            </a:r>
          </a:p>
          <a:p>
            <a:pPr algn="ctr">
              <a:buNone/>
            </a:pPr>
            <a:r>
              <a:rPr lang="en-US" sz="1800" b="1">
                <a:solidFill>
                  <a:srgbClr val="006B3C"/>
                </a:solidFill>
                <a:latin typeface="Outfit"/>
              </a:rPr>
              <a:t>Team Safety Check</a:t>
            </a:r>
          </a:p>
          <a:p>
            <a:pPr algn="l">
              <a:buNone/>
            </a:pPr>
            <a:r>
              <a:rPr lang="en-US" sz="1100">
                <a:solidFill>
                  <a:srgbClr val="334155"/>
                </a:solidFill>
                <a:latin typeface="Outfit"/>
              </a:rPr>
              <a:t>Before we start - your team checklist:</a:t>
            </a:r>
          </a:p>
          <a:p>
            <a:pPr marL="182880" algn="l">
              <a:buNone/>
            </a:pPr>
            <a:r>
              <a:rPr lang="en-US" sz="1100">
                <a:solidFill>
                  <a:srgbClr val="006B3C"/>
                </a:solidFill>
                <a:latin typeface="Outfit"/>
              </a:rPr>
              <a:t>✅ Table is covered with paper</a:t>
            </a:r>
          </a:p>
          <a:p>
            <a:pPr marL="182880" algn="l">
              <a:buNone/>
            </a:pPr>
            <a:r>
              <a:rPr lang="en-US" sz="1100">
                <a:solidFill>
                  <a:srgbClr val="006B3C"/>
                </a:solidFill>
                <a:latin typeface="Outfit"/>
              </a:rPr>
              <a:t>✅ Everyone has gloves on</a:t>
            </a:r>
          </a:p>
          <a:p>
            <a:pPr marL="182880" algn="l">
              <a:buNone/>
            </a:pPr>
            <a:r>
              <a:rPr lang="en-US" sz="1100">
                <a:solidFill>
                  <a:srgbClr val="006B3C"/>
                </a:solidFill>
                <a:latin typeface="Outfit"/>
              </a:rPr>
              <a:t>✅ Instructor is nearby</a:t>
            </a:r>
          </a:p>
          <a:p>
            <a:pPr marL="182880" algn="l">
              <a:buNone/>
            </a:pPr>
            <a:r>
              <a:rPr lang="en-US" sz="1100">
                <a:solidFill>
                  <a:srgbClr val="006B3C"/>
                </a:solidFill>
                <a:latin typeface="Outfit"/>
              </a:rPr>
              <a:t>✅ Mould and wick are ready</a:t>
            </a:r>
          </a:p>
          <a:p>
            <a:pPr marL="182880" algn="l">
              <a:buNone/>
            </a:pPr>
            <a:r>
              <a:rPr lang="en-US" sz="1100">
                <a:solidFill>
                  <a:srgbClr val="E76F00"/>
                </a:solidFill>
                <a:latin typeface="Outfit"/>
              </a:rPr>
              <a:t>✅ Team name chosen!</a:t>
            </a:r>
          </a:p>
        </p:txBody>
      </p:sp>
      <p:sp>
        <p:nvSpPr>
          <p:cNvPr id="20" name="Motivate"/>
          <p:cNvSpPr>
            <a:spLocks noGrp="1"/>
          </p:cNvSpPr>
          <p:nvPr/>
        </p:nvSpPr>
        <p:spPr>
          <a:xfrm>
            <a:off x="0" y="3428475"/>
            <a:ext cx="12192000" cy="571500"/>
          </a:xfrm>
          <a:prstGeom prst="rect">
            <a:avLst/>
          </a:prstGeom>
          <a:solidFill>
            <a:srgbClr val="E76F00"/>
          </a:solidFill>
        </p:spPr>
        <p:txBody>
          <a:bodyPr wrap="square" lIns="228600" tIns="45720" rIns="228600" bIns="4572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Outfit"/>
              </a:rPr>
              <a:t>🕯️ Every candle you make carries the light of Emirati heritage into the world! 🌍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3"/>
          <p:cNvSpPr txBox="1"/>
          <p:nvPr/>
        </p:nvSpPr>
        <p:spPr>
          <a:xfrm>
            <a:off x="838200" y="647700"/>
            <a:ext cx="1124140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4D4D"/>
                </a:solidFill>
                <a:latin typeface="Montserrat"/>
                <a:ea typeface="Montserrat"/>
                <a:cs typeface="Montserrat"/>
                <a:sym typeface="Montserrat"/>
              </a:rPr>
              <a:t>Workshop Creations</a:t>
            </a:r>
            <a:endParaRPr/>
          </a:p>
        </p:txBody>
      </p:sp>
      <p:sp>
        <p:nvSpPr>
          <p:cNvPr id="240" name="Google Shape;240;p23"/>
          <p:cNvSpPr/>
          <p:nvPr/>
        </p:nvSpPr>
        <p:spPr>
          <a:xfrm>
            <a:off x="647700" y="647700"/>
            <a:ext cx="95250" cy="5524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0" name="Picture 2" descr="This colourful bunch is far too cute to light.">
            <a:extLst>
              <a:ext uri="{FF2B5EF4-FFF2-40B4-BE49-F238E27FC236}">
                <a16:creationId xmlns:a16="http://schemas.microsoft.com/office/drawing/2014/main" id="{B8C8F390-2E7C-BF38-CED5-4F60C66932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7020" y="1678704"/>
            <a:ext cx="5872623" cy="3919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00687" y="1543198"/>
            <a:ext cx="11906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4"/>
          <p:cNvSpPr txBox="1"/>
          <p:nvPr/>
        </p:nvSpPr>
        <p:spPr>
          <a:xfrm>
            <a:off x="375284" y="2781448"/>
            <a:ext cx="1144143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 b="1" i="0" u="none" strike="noStrike" cap="none">
                <a:solidFill>
                  <a:srgbClr val="004D4D"/>
                </a:solidFill>
                <a:latin typeface="Montserrat"/>
                <a:ea typeface="Montserrat"/>
                <a:cs typeface="Montserrat"/>
                <a:sym typeface="Montserrat"/>
              </a:rPr>
              <a:t>Ready to Create?</a:t>
            </a:r>
            <a:endParaRPr/>
          </a:p>
        </p:txBody>
      </p:sp>
      <p:sp>
        <p:nvSpPr>
          <p:cNvPr id="248" name="Google Shape;248;p24"/>
          <p:cNvSpPr txBox="1"/>
          <p:nvPr/>
        </p:nvSpPr>
        <p:spPr>
          <a:xfrm>
            <a:off x="647700" y="3756719"/>
            <a:ext cx="108966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D4AF37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Any questions before we start the fire?</a:t>
            </a:r>
            <a:endParaRPr/>
          </a:p>
        </p:txBody>
      </p:sp>
      <p:sp>
        <p:nvSpPr>
          <p:cNvPr id="249" name="Google Shape;249;p24"/>
          <p:cNvSpPr txBox="1"/>
          <p:nvPr/>
        </p:nvSpPr>
        <p:spPr>
          <a:xfrm>
            <a:off x="647700" y="4720530"/>
            <a:ext cx="108966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64748B"/>
                </a:solidFill>
                <a:latin typeface="Outfit"/>
                <a:ea typeface="Outfit"/>
                <a:cs typeface="Outfit"/>
                <a:sym typeface="Outfit"/>
              </a:rPr>
              <a:t>Workshop: Lighting the UAE Heritage | Grade 5-7 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06A784-EE24-76F9-A1A1-F4C96639E7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427" y="204444"/>
            <a:ext cx="523702" cy="5694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7671A2-D98E-F681-B350-85B4B1E999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8628" y="233538"/>
            <a:ext cx="1433945" cy="51123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42BC7E5-76DB-4826-8C07-4A49B6353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479558"/>
            <a:ext cx="1861854" cy="717514"/>
            <a:chOff x="0" y="1479558"/>
            <a:chExt cx="1861854" cy="717514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16C8D8F-10E9-4498-ABDB-0F923F8B6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47955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E5A83E3-8A11-4492-BB6E-F5F224031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9192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98F8FF6-43B4-494A-AF8F-123A4983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8992" y="-34538"/>
            <a:ext cx="6655405" cy="6335470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B06059C-C357-4011-82B9-9C0106301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5194" y="-23905"/>
            <a:ext cx="6705251" cy="6318526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AFEC601-A132-47EE-B0C2-B38ACD9FC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86886" y="-23905"/>
            <a:ext cx="6705251" cy="6215019"/>
          </a:xfrm>
          <a:custGeom>
            <a:avLst/>
            <a:gdLst>
              <a:gd name="connsiteX0" fmla="*/ 1529549 w 6355652"/>
              <a:gd name="connsiteY0" fmla="*/ 0 h 5890980"/>
              <a:gd name="connsiteX1" fmla="*/ 4826104 w 6355652"/>
              <a:gd name="connsiteY1" fmla="*/ 0 h 5890980"/>
              <a:gd name="connsiteX2" fmla="*/ 4954579 w 6355652"/>
              <a:gd name="connsiteY2" fmla="*/ 78051 h 5890980"/>
              <a:gd name="connsiteX3" fmla="*/ 6355652 w 6355652"/>
              <a:gd name="connsiteY3" fmla="*/ 2713154 h 5890980"/>
              <a:gd name="connsiteX4" fmla="*/ 3177826 w 6355652"/>
              <a:gd name="connsiteY4" fmla="*/ 5890980 h 5890980"/>
              <a:gd name="connsiteX5" fmla="*/ 0 w 6355652"/>
              <a:gd name="connsiteY5" fmla="*/ 2713154 h 5890980"/>
              <a:gd name="connsiteX6" fmla="*/ 1401073 w 6355652"/>
              <a:gd name="connsiteY6" fmla="*/ 78051 h 589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5890980">
                <a:moveTo>
                  <a:pt x="1529549" y="0"/>
                </a:moveTo>
                <a:lnTo>
                  <a:pt x="4826104" y="0"/>
                </a:lnTo>
                <a:lnTo>
                  <a:pt x="4954579" y="78051"/>
                </a:lnTo>
                <a:cubicBezTo>
                  <a:pt x="5799886" y="649129"/>
                  <a:pt x="6355652" y="1616239"/>
                  <a:pt x="6355652" y="2713154"/>
                </a:cubicBezTo>
                <a:cubicBezTo>
                  <a:pt x="6355652" y="4468219"/>
                  <a:pt x="4932891" y="5890980"/>
                  <a:pt x="3177826" y="5890980"/>
                </a:cubicBezTo>
                <a:cubicBezTo>
                  <a:pt x="1422761" y="5890980"/>
                  <a:pt x="0" y="4468219"/>
                  <a:pt x="0" y="2713154"/>
                </a:cubicBezTo>
                <a:cubicBezTo>
                  <a:pt x="0" y="1616239"/>
                  <a:pt x="555766" y="649129"/>
                  <a:pt x="1401073" y="78051"/>
                </a:cubicBezTo>
                <a:close/>
              </a:path>
            </a:pathLst>
          </a:cu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953CE9-CFA4-48F6-62BE-4F52EB762F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0255" y="2011261"/>
            <a:ext cx="5338511" cy="1055142"/>
          </a:xfrm>
        </p:spPr>
        <p:txBody>
          <a:bodyPr>
            <a:normAutofit fontScale="92500" lnSpcReduction="10000"/>
          </a:bodyPr>
          <a:lstStyle/>
          <a:p>
            <a:r>
              <a:rPr lang="en-US" sz="6600" dirty="0">
                <a:solidFill>
                  <a:schemeClr val="bg1"/>
                </a:solidFill>
                <a:hlinkClick r:id="rId2"/>
              </a:rPr>
              <a:t>Its Quiz Time</a:t>
            </a:r>
            <a:endParaRPr lang="en-AE" sz="6600" dirty="0">
              <a:solidFill>
                <a:schemeClr val="bg1"/>
              </a:solidFill>
            </a:endParaRPr>
          </a:p>
        </p:txBody>
      </p:sp>
      <p:sp>
        <p:nvSpPr>
          <p:cNvPr id="20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218E095B-4870-4AD5-9C41-C16D59523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4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583101" y="3578317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1" name="Oval 30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E8CB2F0-2F5A-4EBD-B214-E0309C31F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FFD3887D-244B-4EC4-9208-E304984C5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97224C31-855E-4593-8A58-5B2B0CC4F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96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</TotalTime>
  <Words>1081</Words>
  <Application>Microsoft Office PowerPoint</Application>
  <PresentationFormat>Widescreen</PresentationFormat>
  <Paragraphs>139</Paragraphs>
  <Slides>20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Outfit</vt:lpstr>
      <vt:lpstr>Calibri</vt:lpstr>
      <vt:lpstr>Outfit SemiBold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Lubna Kakkengal</cp:lastModifiedBy>
  <cp:revision>4</cp:revision>
  <dcterms:modified xsi:type="dcterms:W3CDTF">2026-06-16T05:53:55Z</dcterms:modified>
</cp:coreProperties>
</file>