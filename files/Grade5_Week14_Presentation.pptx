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5c6b6d4-888b-3c5d-f4f5-02e1ef2765c5}">
          <p14:sldIdLst>
            <p14:sldId id="256"/>
            <p14:sldId id="257"/>
            <p14:sldId id="258"/>
            <p14:sldId id="259"/>
            <p14:sldId id="260"/>
          </p14:sldIdLst>
        </p14:section>
        <p14:section name="Learn" id="{87273bfd-c363-5545-cf4b-aa28438882b2}">
          <p14:sldIdLst>
            <p14:sldId id="261"/>
            <p14:sldId id="262"/>
            <p14:sldId id="263"/>
          </p14:sldIdLst>
        </p14:section>
        <p14:section name="Make" id="{9d5d32ca-ef72-28c0-8f51-dffc870f948f}">
          <p14:sldIdLst>
            <p14:sldId id="264"/>
            <p14:sldId id="265"/>
            <p14:sldId id="266"/>
            <p14:sldId id="267"/>
          </p14:sldIdLst>
        </p14:section>
        <p14:section name="Check" id="{4a986be6-0ee6-ee6d-118c-6fc9170e662b}">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5 TCD class, Term 1 Showcase (1 hour 30 minutes). In this short week, students present the best of their Term 1 work (Photon eco mission, candle, keychain, car logo print and badge), reflect on their learning and take the Term 1 final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hook video on the TCD website (lesson page, Hook Video tab). Then ask: Which skill from this term would you use in a real job one day?
Video scenes: Week 1: We learned to work safely in the TCD workshop. | Photon Eco Mission: We coded a robot to help the environment. | Candle Making: We made Oud candles in UAE colours. | Junior Designer: Tinkercad, car logos, Canva, badges and 3D printing. | Today: We celebrate, present and reflect.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goal together. Students rate themselves now (1 to 3 fingers) for each success criterion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 Show photos from the term: safety day, Photon missions, candles, Tinkercad, badges and prints. Pairs have 60 seconds to list as many skills as they can. Share the top answers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Pre-teach vocabulary: showcase, algorithm, sensor, design brief, STL, bleed, brand, reflect. Point to the word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Term 1 journey: Safety Induction and origami maker piece Photon Environmental Mission: brief, route, code and campaign Candle Making: Lighting the UAE Heritage Junior Designer Challenge: Tinkercad, car logo, Canva logo, badge and 3D print
This term you learned to work safely, to code Photon with sensors for an eco mission, to make and brand a candle, and to design in Tinkercad, Canva and on the 3D printer.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like a designer: Show your work and say what it is. Explain your process in three steps. Use at least three TCD words. Say what you would improve next time.
A good presentation shows your work, explains your process, uses TCD words and says what you would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Reflecting on growth: What can I do now that I could not do in Week 1? Which project linked to another one? Which ENS value did I show: courage, respect, tolerance or resilience?
Reflecting helps you see how you have grown and what you want to learn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1. Choose your best piece 2. Plan with the presentation sheet 3. Practise with a partner 4. Present 5. Complete your reflection 6. Take the Term 1 final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rule aloud. Students repeat the rule and show the action. Do not continue until every student can say the rules. Handle other students' work gently. Candles stay unlit on the display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practice. Choose your best Term 1 piece. Plan a 1-minute presentation. Present to the class. Complete the reflection sheet. Take the Term 1 final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 level. Encourage them to try the next level once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open this lesson on the TCD website, press Start Live Quiz, and write the code on the board. Questions: 1. What is the most important rule in the TCD workshop? 2. Photon senses, thinks and ... 3. What is a design brief? 4. In code, an if-then condition lets the robot ... 5. What happens to wax when it cools? 6. In Tinkercad, what does a hole shape do? 7. Which tool flips a shape to make the other half? 8. Which is a rule of a good logo? 9. Why is the badge paper circle bigger than the badge face? 10. Which file do we export for 3D printing? 11. What is infill? 12. Which ENS value means honouring every person's dignity and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 Celebrate the term. Certificates follow once the instructor approves them. Exit ticket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CD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457200" y="411480"/>
            <a:ext cx="2377440" cy="722376"/>
          </a:xfrm>
          <a:prstGeom prst="rect">
            <a:avLst/>
          </a:prstGeom>
        </p:spPr>
      </p:pic>
      <p:sp>
        <p:nvSpPr>
          <p:cNvPr id="4" name="Text 1"/>
          <p:cNvSpPr/>
          <p:nvPr>
            <p:ph idx="102" type="title" hasCustomPrompt="1"/>
          </p:nvPr>
        </p:nvSpPr>
        <p:spPr>
          <a:xfrm>
            <a:off x="457200" y="1600200"/>
            <a:ext cx="4663440" cy="15544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5" name="Text 1"/>
          <p:cNvSpPr/>
          <p:nvPr>
            <p:ph idx="103" type="body" hasCustomPrompt="1"/>
          </p:nvPr>
        </p:nvSpPr>
        <p:spPr>
          <a:xfrm>
            <a:off x="457200" y="3291840"/>
            <a:ext cx="4663440" cy="10972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CD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26680" y="4663440"/>
            <a:ext cx="1051560" cy="320040"/>
          </a:xfrm>
          <a:prstGeom prst="rect">
            <a:avLst/>
          </a:prstGeom>
        </p:spPr>
      </p:pic>
      <p:sp>
        <p:nvSpPr>
          <p:cNvPr id="3" name="Text 0"/>
          <p:cNvSpPr/>
          <p:nvPr/>
        </p:nvSpPr>
        <p:spPr>
          <a:xfrm>
            <a:off x="457200" y="4681728"/>
            <a:ext cx="5943600" cy="274320"/>
          </a:xfrm>
          <a:prstGeom prst="rect">
            <a:avLst/>
          </a:prstGeom>
          <a:noFill/>
          <a:ln/>
        </p:spPr>
        <p:txBody>
          <a:bodyPr wrap="square" lIns="0" tIns="0" rIns="0" bIns="0" rtlCol="0" anchor="ctr"/>
          <a:lstStyle/>
          <a:p>
            <a:pPr indent="0" marL="0">
              <a:buNone/>
            </a:pPr>
            <a:r>
              <a:rPr lang="en-US" sz="900" dirty="0">
                <a:solidFill>
                  <a:schemeClr val="accent6"/>
                </a:solidFill>
              </a:rPr>
              <a:t>Grade 5  |  Term 1, Week 14  |  Term 1 Showcase</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D_DARK">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589520" y="4553712"/>
            <a:ext cx="1325880" cy="457200"/>
          </a:xfrm>
          <a:prstGeom prst="rect">
            <a:avLst>
              <a:gd name="adj" fmla="val 16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7680960" y="4617720"/>
            <a:ext cx="1143000" cy="347472"/>
          </a:xfrm>
          <a:prstGeom prst="rect">
            <a:avLst/>
          </a:prstGeom>
        </p:spPr>
      </p:pic>
      <p:sp>
        <p:nvSpPr>
          <p:cNvPr id="4" name="Text 1"/>
          <p:cNvSpPr/>
          <p:nvPr>
            <p:ph idx="102"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457200" y="1600200"/>
            <a:ext cx="4663440" cy="1554480"/>
          </a:xfrm>
          <a:prstGeom prst="rect">
            <a:avLst/>
          </a:prstGeom>
          <a:noFill/>
          <a:ln/>
        </p:spPr>
        <p:txBody>
          <a:bodyPr wrap="square" lIns="0" tIns="0" rIns="0" bIns="0" rtlCol="0" anchor="t"/>
          <a:lstStyle/>
          <a:p>
            <a:pPr indent="0" marL="0">
              <a:buNone/>
            </a:pPr>
            <a:r>
              <a:rPr lang="en-US" sz="3400" b="1" dirty="0">
                <a:solidFill>
                  <a:schemeClr val="tx1"/>
                </a:solidFill>
              </a:rPr>
              <a:t>Term 1 Showcase and Presentation</a:t>
            </a:r>
            <a:endParaRPr lang="en-US" sz="3400" dirty="0"/>
          </a:p>
        </p:txBody>
      </p:sp>
      <p:sp>
        <p:nvSpPr>
          <p:cNvPr id="3" name="Text 1"/>
          <p:cNvSpPr/>
          <p:nvPr>
            <p:ph idx="103" type="body" hasCustomPrompt="1"/>
          </p:nvPr>
        </p:nvSpPr>
        <p:spPr>
          <a:xfrm>
            <a:off x="457200" y="3291840"/>
            <a:ext cx="4663440" cy="1097280"/>
          </a:xfrm>
          <a:prstGeom prst="rect">
            <a:avLst/>
          </a:prstGeom>
          <a:noFill/>
          <a:ln/>
        </p:spPr>
        <p:txBody>
          <a:bodyPr wrap="square" lIns="0" tIns="0" rIns="0" bIns="0" rtlCol="0" anchor="t"/>
          <a:lstStyle/>
          <a:p>
            <a:pPr indent="0" marL="0">
              <a:buNone/>
            </a:pPr>
            <a:r>
              <a:rPr lang="en-US" sz="1500" dirty="0">
                <a:solidFill>
                  <a:schemeClr val="accent6"/>
                </a:solidFill>
              </a:rPr>
              <a:t>Term 1 Showcase</a:t>
            </a:r>
            <a:endParaRPr lang="en-US" sz="1500" dirty="0"/>
          </a:p>
          <a:p>
            <a:pPr indent="0" marL="0">
              <a:buNone/>
            </a:pPr>
            <a:r>
              <a:rPr lang="en-US" sz="1500" dirty="0">
                <a:solidFill>
                  <a:schemeClr val="accent6"/>
                </a:solidFill>
              </a:rPr>
              <a:t>Grade 5  |  Term 1  |  Week 14 (30 Nov to 4 Dec)</a:t>
            </a:r>
            <a:endParaRPr lang="en-US" sz="1500" dirty="0"/>
          </a:p>
        </p:txBody>
      </p:sp>
      <p:sp>
        <p:nvSpPr>
          <p:cNvPr id="4" name="Text 2"/>
          <p:cNvSpPr txBox="1"/>
          <p:nvPr/>
        </p:nvSpPr>
        <p:spPr>
          <a:xfrm>
            <a:off x="457200" y="1234440"/>
            <a:ext cx="4663440" cy="27432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TERM 1 SHOWCASE</a:t>
            </a:r>
            <a:endParaRPr lang="en-US" sz="1100" dirty="0"/>
          </a:p>
        </p:txBody>
      </p:sp>
      <p:sp>
        <p:nvSpPr>
          <p:cNvPr id="5" name="Shape 3"/>
          <p:cNvSpPr/>
          <p:nvPr/>
        </p:nvSpPr>
        <p:spPr>
          <a:xfrm>
            <a:off x="6355080" y="914400"/>
            <a:ext cx="1828800" cy="18288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793992" y="1353312"/>
            <a:ext cx="950976" cy="950976"/>
          </a:xfrm>
          <a:prstGeom prst="rect">
            <a:avLst/>
          </a:prstGeom>
        </p:spPr>
      </p:pic>
      <p:sp>
        <p:nvSpPr>
          <p:cNvPr id="7" name="Text 4"/>
          <p:cNvSpPr txBox="1"/>
          <p:nvPr/>
        </p:nvSpPr>
        <p:spPr>
          <a:xfrm>
            <a:off x="5669280" y="3063240"/>
            <a:ext cx="3200400" cy="32004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Technology and Career Centre, Dubai</a:t>
            </a:r>
            <a:endParaRPr lang="en-US" sz="1300" dirty="0"/>
          </a:p>
        </p:txBody>
      </p:sp>
      <p:sp>
        <p:nvSpPr>
          <p:cNvPr id="8" name="Text 5"/>
          <p:cNvSpPr txBox="1"/>
          <p:nvPr/>
        </p:nvSpPr>
        <p:spPr>
          <a:xfrm>
            <a:off x="5669280" y="3429000"/>
            <a:ext cx="3200400" cy="54864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Ms. Lubna Kakkengal and Mr. Dilan Devendra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Hook</a:t>
            </a:r>
            <a:endParaRPr lang="en-US" sz="3000" dirty="0"/>
          </a:p>
        </p:txBody>
      </p:sp>
      <p:sp>
        <p:nvSpPr>
          <p:cNvPr id="3" name="Text 1"/>
          <p:cNvSpPr txBox="1"/>
          <p:nvPr/>
        </p:nvSpPr>
        <p:spPr>
          <a:xfrm>
            <a:off x="457200" y="1097280"/>
            <a:ext cx="8229600" cy="109728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Which skill from this term would you use in a real job one day?</a:t>
            </a:r>
            <a:endParaRPr lang="en-US" sz="2400" dirty="0"/>
          </a:p>
        </p:txBody>
      </p:sp>
      <p:sp>
        <p:nvSpPr>
          <p:cNvPr id="4" name="scene0"/>
          <p:cNvSpPr/>
          <p:nvPr/>
        </p:nvSpPr>
        <p:spPr>
          <a:xfrm>
            <a:off x="457200" y="2423160"/>
            <a:ext cx="1885950" cy="1874520"/>
          </a:xfrm>
          <a:prstGeom prst="roundRect">
            <a:avLst>
              <a:gd name="adj" fmla="val 5854"/>
            </a:avLst>
          </a:prstGeom>
          <a:solidFill>
            <a:srgbClr val="0A5C5F"/>
          </a:solidFill>
          <a:ln w="12700">
            <a:solidFill>
              <a:srgbClr val="0A5C5F"/>
            </a:solidFill>
            <a:prstDash val="solid"/>
          </a:ln>
        </p:spPr>
      </p:sp>
      <p:sp>
        <p:nvSpPr>
          <p:cNvPr id="5" name="Text 3"/>
          <p:cNvSpPr txBox="1"/>
          <p:nvPr/>
        </p:nvSpPr>
        <p:spPr>
          <a:xfrm>
            <a:off x="5943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Week 1</a:t>
            </a:r>
            <a:endParaRPr lang="en-US" sz="1400" dirty="0"/>
          </a:p>
        </p:txBody>
      </p:sp>
      <p:sp>
        <p:nvSpPr>
          <p:cNvPr id="6" name="Text 4"/>
          <p:cNvSpPr txBox="1"/>
          <p:nvPr/>
        </p:nvSpPr>
        <p:spPr>
          <a:xfrm>
            <a:off x="5943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We learned to work safely in the TCD workshop.</a:t>
            </a:r>
            <a:endParaRPr lang="en-US" sz="1300" dirty="0"/>
          </a:p>
        </p:txBody>
      </p:sp>
      <p:sp>
        <p:nvSpPr>
          <p:cNvPr id="7" name="scene1"/>
          <p:cNvSpPr/>
          <p:nvPr/>
        </p:nvSpPr>
        <p:spPr>
          <a:xfrm>
            <a:off x="2571750" y="2423160"/>
            <a:ext cx="1885950" cy="1874520"/>
          </a:xfrm>
          <a:prstGeom prst="roundRect">
            <a:avLst>
              <a:gd name="adj" fmla="val 5854"/>
            </a:avLst>
          </a:prstGeom>
          <a:solidFill>
            <a:srgbClr val="0A5C5F"/>
          </a:solidFill>
          <a:ln w="12700">
            <a:solidFill>
              <a:srgbClr val="0A5C5F"/>
            </a:solidFill>
            <a:prstDash val="solid"/>
          </a:ln>
        </p:spPr>
      </p:sp>
      <p:sp>
        <p:nvSpPr>
          <p:cNvPr id="8" name="Text 6"/>
          <p:cNvSpPr txBox="1"/>
          <p:nvPr/>
        </p:nvSpPr>
        <p:spPr>
          <a:xfrm>
            <a:off x="27089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Photon Eco Mission</a:t>
            </a:r>
            <a:endParaRPr lang="en-US" sz="1400" dirty="0"/>
          </a:p>
        </p:txBody>
      </p:sp>
      <p:sp>
        <p:nvSpPr>
          <p:cNvPr id="9" name="Text 7"/>
          <p:cNvSpPr txBox="1"/>
          <p:nvPr/>
        </p:nvSpPr>
        <p:spPr>
          <a:xfrm>
            <a:off x="27089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We coded a robot to help the environment.</a:t>
            </a:r>
            <a:endParaRPr lang="en-US" sz="1300" dirty="0"/>
          </a:p>
        </p:txBody>
      </p:sp>
      <p:sp>
        <p:nvSpPr>
          <p:cNvPr id="10" name="scene2"/>
          <p:cNvSpPr/>
          <p:nvPr/>
        </p:nvSpPr>
        <p:spPr>
          <a:xfrm>
            <a:off x="4686300" y="2423160"/>
            <a:ext cx="1885950" cy="1874520"/>
          </a:xfrm>
          <a:prstGeom prst="roundRect">
            <a:avLst>
              <a:gd name="adj" fmla="val 5854"/>
            </a:avLst>
          </a:prstGeom>
          <a:solidFill>
            <a:srgbClr val="0A5C5F"/>
          </a:solidFill>
          <a:ln w="12700">
            <a:solidFill>
              <a:srgbClr val="0A5C5F"/>
            </a:solidFill>
            <a:prstDash val="solid"/>
          </a:ln>
        </p:spPr>
      </p:sp>
      <p:sp>
        <p:nvSpPr>
          <p:cNvPr id="11" name="Text 9"/>
          <p:cNvSpPr txBox="1"/>
          <p:nvPr/>
        </p:nvSpPr>
        <p:spPr>
          <a:xfrm>
            <a:off x="48234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Candle Making</a:t>
            </a:r>
            <a:endParaRPr lang="en-US" sz="1400" dirty="0"/>
          </a:p>
        </p:txBody>
      </p:sp>
      <p:sp>
        <p:nvSpPr>
          <p:cNvPr id="12" name="Text 10"/>
          <p:cNvSpPr txBox="1"/>
          <p:nvPr/>
        </p:nvSpPr>
        <p:spPr>
          <a:xfrm>
            <a:off x="48234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We made Oud candles in UAE colours.</a:t>
            </a:r>
            <a:endParaRPr lang="en-US" sz="1300" dirty="0"/>
          </a:p>
        </p:txBody>
      </p:sp>
      <p:sp>
        <p:nvSpPr>
          <p:cNvPr id="13" name="scene3"/>
          <p:cNvSpPr/>
          <p:nvPr/>
        </p:nvSpPr>
        <p:spPr>
          <a:xfrm>
            <a:off x="6800850" y="2423160"/>
            <a:ext cx="1885950" cy="1874520"/>
          </a:xfrm>
          <a:prstGeom prst="roundRect">
            <a:avLst>
              <a:gd name="adj" fmla="val 5854"/>
            </a:avLst>
          </a:prstGeom>
          <a:solidFill>
            <a:srgbClr val="0A5C5F"/>
          </a:solidFill>
          <a:ln w="12700">
            <a:solidFill>
              <a:srgbClr val="0A5C5F"/>
            </a:solidFill>
            <a:prstDash val="solid"/>
          </a:ln>
        </p:spPr>
      </p:sp>
      <p:sp>
        <p:nvSpPr>
          <p:cNvPr id="14" name="Text 12"/>
          <p:cNvSpPr txBox="1"/>
          <p:nvPr/>
        </p:nvSpPr>
        <p:spPr>
          <a:xfrm>
            <a:off x="69380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Junior Designer</a:t>
            </a:r>
            <a:endParaRPr lang="en-US" sz="1400" dirty="0"/>
          </a:p>
        </p:txBody>
      </p:sp>
      <p:sp>
        <p:nvSpPr>
          <p:cNvPr id="15" name="Text 13"/>
          <p:cNvSpPr txBox="1"/>
          <p:nvPr/>
        </p:nvSpPr>
        <p:spPr>
          <a:xfrm>
            <a:off x="69380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Tinkercad, car logos, Canva, badges and 3D printing.</a:t>
            </a:r>
            <a:endParaRPr lang="en-US" sz="13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Learning</a:t>
            </a:r>
            <a:endParaRPr lang="en-US" sz="3000" dirty="0"/>
          </a:p>
        </p:txBody>
      </p:sp>
      <p:sp>
        <p:nvSpPr>
          <p:cNvPr id="3" name="walt"/>
          <p:cNvSpPr/>
          <p:nvPr/>
        </p:nvSpPr>
        <p:spPr>
          <a:xfrm>
            <a:off x="457200" y="1143000"/>
            <a:ext cx="3566160" cy="3246120"/>
          </a:xfrm>
          <a:prstGeom prst="roundRect">
            <a:avLst>
              <a:gd name="adj" fmla="val 3380"/>
            </a:avLst>
          </a:prstGeom>
          <a:solidFill>
            <a:srgbClr val="E6F2F2"/>
          </a:solidFill>
          <a:ln w="12700">
            <a:solidFill>
              <a:srgbClr val="E6F2F2"/>
            </a:solidFill>
            <a:prstDash val="solid"/>
          </a:ln>
        </p:spPr>
      </p:sp>
      <p:sp>
        <p:nvSpPr>
          <p:cNvPr id="4" name="Shape 2"/>
          <p:cNvSpPr/>
          <p:nvPr/>
        </p:nvSpPr>
        <p:spPr>
          <a:xfrm>
            <a:off x="685800" y="1371600"/>
            <a:ext cx="640080" cy="64008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39419" y="1525219"/>
            <a:ext cx="332842" cy="332842"/>
          </a:xfrm>
          <a:prstGeom prst="rect">
            <a:avLst/>
          </a:prstGeom>
        </p:spPr>
      </p:pic>
      <p:sp>
        <p:nvSpPr>
          <p:cNvPr id="6" name="Text 3"/>
          <p:cNvSpPr txBox="1"/>
          <p:nvPr/>
        </p:nvSpPr>
        <p:spPr>
          <a:xfrm>
            <a:off x="1463040" y="1417320"/>
            <a:ext cx="2468880" cy="548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We are learning to (WALT)</a:t>
            </a:r>
            <a:endParaRPr lang="en-US" sz="1500" dirty="0"/>
          </a:p>
        </p:txBody>
      </p:sp>
      <p:sp>
        <p:nvSpPr>
          <p:cNvPr id="7" name="Text 4"/>
          <p:cNvSpPr txBox="1"/>
          <p:nvPr/>
        </p:nvSpPr>
        <p:spPr>
          <a:xfrm>
            <a:off x="685800" y="2194560"/>
            <a:ext cx="315468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We are learning to present our Term 1 work and reflect on how we have grown as makers.</a:t>
            </a:r>
            <a:endParaRPr lang="en-US" sz="1800" dirty="0"/>
          </a:p>
        </p:txBody>
      </p:sp>
      <p:sp>
        <p:nvSpPr>
          <p:cNvPr id="8" name="Text 5"/>
          <p:cNvSpPr txBox="1"/>
          <p:nvPr/>
        </p:nvSpPr>
        <p:spPr>
          <a:xfrm>
            <a:off x="4389120" y="1143000"/>
            <a:ext cx="429768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What I am looking for (WILF)</a:t>
            </a:r>
            <a:endParaRPr lang="en-US" sz="1500" dirty="0"/>
          </a:p>
        </p:txBody>
      </p:sp>
      <p:sp>
        <p:nvSpPr>
          <p:cNvPr id="9" name="Text 6"/>
          <p:cNvSpPr txBox="1"/>
          <p:nvPr/>
        </p:nvSpPr>
        <p:spPr>
          <a:xfrm>
            <a:off x="4389120" y="1600200"/>
            <a:ext cx="4297680" cy="2788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choose my best piece of work and explain why.</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present using TCD words like algorithm, sensor, STL, bleed and logo.</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link one project to another.</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complete the Term 1 final quiz.</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Warm-up: Term 1 in 60 Seconds</a:t>
            </a:r>
            <a:endParaRPr lang="en-US" sz="3000" dirty="0"/>
          </a:p>
        </p:txBody>
      </p:sp>
      <p:sp>
        <p:nvSpPr>
          <p:cNvPr id="3" name="Shape 1"/>
          <p:cNvSpPr/>
          <p:nvPr/>
        </p:nvSpPr>
        <p:spPr>
          <a:xfrm>
            <a:off x="457200" y="1188720"/>
            <a:ext cx="1188720" cy="1188720"/>
          </a:xfrm>
          <a:prstGeom prst="ellipse">
            <a:avLst/>
          </a:prstGeom>
          <a:solidFill>
            <a:srgbClr val="F2A31B"/>
          </a:solidFill>
          <a:ln w="12700">
            <a:solidFill>
              <a:srgbClr val="F2A31B"/>
            </a:solidFill>
            <a:prstDash val="solid"/>
          </a:ln>
        </p:spPr>
      </p:sp>
      <p:pic>
        <p:nvPicPr>
          <p:cNvPr id="4" name="Image 0" descr="preencoded.png">    </p:cNvPr>
          <p:cNvPicPr>
            <a:picLocks noChangeAspect="1"/>
          </p:cNvPicPr>
          <p:nvPr/>
        </p:nvPicPr>
        <p:blipFill>
          <a:blip r:embed="rId1"/>
          <a:stretch>
            <a:fillRect/>
          </a:stretch>
        </p:blipFill>
        <p:spPr>
          <a:xfrm>
            <a:off x="742493" y="1474013"/>
            <a:ext cx="618134" cy="618134"/>
          </a:xfrm>
          <a:prstGeom prst="rect">
            <a:avLst/>
          </a:prstGeom>
        </p:spPr>
      </p:pic>
      <p:sp>
        <p:nvSpPr>
          <p:cNvPr id="5" name="Text 2"/>
          <p:cNvSpPr txBox="1"/>
          <p:nvPr/>
        </p:nvSpPr>
        <p:spPr>
          <a:xfrm>
            <a:off x="320040" y="2468880"/>
            <a:ext cx="1463040" cy="320040"/>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5 minutes</a:t>
            </a:r>
            <a:endParaRPr lang="en-US" sz="1300" dirty="0"/>
          </a:p>
        </p:txBody>
      </p:sp>
      <p:sp>
        <p:nvSpPr>
          <p:cNvPr id="6" name="Shape 3"/>
          <p:cNvSpPr/>
          <p:nvPr/>
        </p:nvSpPr>
        <p:spPr>
          <a:xfrm>
            <a:off x="2103120" y="1234440"/>
            <a:ext cx="457200" cy="457200"/>
          </a:xfrm>
          <a:prstGeom prst="ellipse">
            <a:avLst/>
          </a:prstGeom>
          <a:solidFill>
            <a:srgbClr val="0E7C80"/>
          </a:solidFill>
          <a:ln w="12700">
            <a:solidFill>
              <a:srgbClr val="0E7C80"/>
            </a:solidFill>
            <a:prstDash val="solid"/>
          </a:ln>
        </p:spPr>
      </p:sp>
      <p:sp>
        <p:nvSpPr>
          <p:cNvPr id="7" name="Text 4"/>
          <p:cNvSpPr txBox="1"/>
          <p:nvPr/>
        </p:nvSpPr>
        <p:spPr>
          <a:xfrm>
            <a:off x="21031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2743200" y="118872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Show photos from the term: safety day, Photon missions, candles, Tinkercad, badges and prints.</a:t>
            </a:r>
            <a:endParaRPr lang="en-US" sz="1500" dirty="0"/>
          </a:p>
        </p:txBody>
      </p:sp>
      <p:sp>
        <p:nvSpPr>
          <p:cNvPr id="9" name="Shape 6"/>
          <p:cNvSpPr/>
          <p:nvPr/>
        </p:nvSpPr>
        <p:spPr>
          <a:xfrm>
            <a:off x="2103120" y="2286000"/>
            <a:ext cx="457200" cy="457200"/>
          </a:xfrm>
          <a:prstGeom prst="ellipse">
            <a:avLst/>
          </a:prstGeom>
          <a:solidFill>
            <a:srgbClr val="0E7C80"/>
          </a:solidFill>
          <a:ln w="12700">
            <a:solidFill>
              <a:srgbClr val="0E7C80"/>
            </a:solidFill>
            <a:prstDash val="solid"/>
          </a:ln>
        </p:spPr>
      </p:sp>
      <p:sp>
        <p:nvSpPr>
          <p:cNvPr id="10" name="Text 7"/>
          <p:cNvSpPr txBox="1"/>
          <p:nvPr/>
        </p:nvSpPr>
        <p:spPr>
          <a:xfrm>
            <a:off x="21031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743200" y="224028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Pairs have 60 seconds to list as many skills as they can.</a:t>
            </a:r>
            <a:endParaRPr lang="en-US" sz="1500" dirty="0"/>
          </a:p>
        </p:txBody>
      </p:sp>
      <p:sp>
        <p:nvSpPr>
          <p:cNvPr id="12" name="Shape 9"/>
          <p:cNvSpPr/>
          <p:nvPr/>
        </p:nvSpPr>
        <p:spPr>
          <a:xfrm>
            <a:off x="2103120" y="3337560"/>
            <a:ext cx="457200" cy="457200"/>
          </a:xfrm>
          <a:prstGeom prst="ellipse">
            <a:avLst/>
          </a:prstGeom>
          <a:solidFill>
            <a:srgbClr val="0E7C80"/>
          </a:solidFill>
          <a:ln w="12700">
            <a:solidFill>
              <a:srgbClr val="0E7C80"/>
            </a:solidFill>
            <a:prstDash val="solid"/>
          </a:ln>
        </p:spPr>
      </p:sp>
      <p:sp>
        <p:nvSpPr>
          <p:cNvPr id="13" name="Text 10"/>
          <p:cNvSpPr txBox="1"/>
          <p:nvPr/>
        </p:nvSpPr>
        <p:spPr>
          <a:xfrm>
            <a:off x="21031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2743200" y="329184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Share the top answers on the board.</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 Words</a:t>
            </a:r>
            <a:endParaRPr lang="en-US" sz="3000" dirty="0"/>
          </a:p>
        </p:txBody>
      </p:sp>
      <p:sp>
        <p:nvSpPr>
          <p:cNvPr id="3" name="word0"/>
          <p:cNvSpPr/>
          <p:nvPr/>
        </p:nvSpPr>
        <p:spPr>
          <a:xfrm>
            <a:off x="457200" y="1280160"/>
            <a:ext cx="1920240" cy="731520"/>
          </a:xfrm>
          <a:prstGeom prst="roundRect">
            <a:avLst>
              <a:gd name="adj" fmla="val 15000"/>
            </a:avLst>
          </a:prstGeom>
          <a:solidFill>
            <a:srgbClr val="FCEFF3"/>
          </a:solidFill>
          <a:ln w="12700">
            <a:solidFill>
              <a:srgbClr val="FCEFF3"/>
            </a:solidFill>
            <a:prstDash val="solid"/>
          </a:ln>
        </p:spPr>
      </p:sp>
      <p:sp>
        <p:nvSpPr>
          <p:cNvPr id="4" name="Text 2"/>
          <p:cNvSpPr txBox="1"/>
          <p:nvPr/>
        </p:nvSpPr>
        <p:spPr>
          <a:xfrm>
            <a:off x="54864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showcase</a:t>
            </a:r>
            <a:endParaRPr lang="en-US" sz="1700" dirty="0"/>
          </a:p>
        </p:txBody>
      </p:sp>
      <p:sp>
        <p:nvSpPr>
          <p:cNvPr id="5" name="word1"/>
          <p:cNvSpPr/>
          <p:nvPr/>
        </p:nvSpPr>
        <p:spPr>
          <a:xfrm>
            <a:off x="2560320" y="1280160"/>
            <a:ext cx="1920240" cy="731520"/>
          </a:xfrm>
          <a:prstGeom prst="roundRect">
            <a:avLst>
              <a:gd name="adj" fmla="val 15000"/>
            </a:avLst>
          </a:prstGeom>
          <a:solidFill>
            <a:srgbClr val="E6F2F2"/>
          </a:solidFill>
          <a:ln w="12700">
            <a:solidFill>
              <a:srgbClr val="E6F2F2"/>
            </a:solidFill>
            <a:prstDash val="solid"/>
          </a:ln>
        </p:spPr>
      </p:sp>
      <p:sp>
        <p:nvSpPr>
          <p:cNvPr id="6" name="Text 4"/>
          <p:cNvSpPr txBox="1"/>
          <p:nvPr/>
        </p:nvSpPr>
        <p:spPr>
          <a:xfrm>
            <a:off x="265176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algorithm</a:t>
            </a:r>
            <a:endParaRPr lang="en-US" sz="1700" dirty="0"/>
          </a:p>
        </p:txBody>
      </p:sp>
      <p:sp>
        <p:nvSpPr>
          <p:cNvPr id="7" name="word2"/>
          <p:cNvSpPr/>
          <p:nvPr/>
        </p:nvSpPr>
        <p:spPr>
          <a:xfrm>
            <a:off x="4663440" y="1280160"/>
            <a:ext cx="1920240" cy="731520"/>
          </a:xfrm>
          <a:prstGeom prst="roundRect">
            <a:avLst>
              <a:gd name="adj" fmla="val 15000"/>
            </a:avLst>
          </a:prstGeom>
          <a:solidFill>
            <a:srgbClr val="FCEFF3"/>
          </a:solidFill>
          <a:ln w="12700">
            <a:solidFill>
              <a:srgbClr val="FCEFF3"/>
            </a:solidFill>
            <a:prstDash val="solid"/>
          </a:ln>
        </p:spPr>
      </p:sp>
      <p:sp>
        <p:nvSpPr>
          <p:cNvPr id="8" name="Text 6"/>
          <p:cNvSpPr txBox="1"/>
          <p:nvPr/>
        </p:nvSpPr>
        <p:spPr>
          <a:xfrm>
            <a:off x="475488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sensor</a:t>
            </a:r>
            <a:endParaRPr lang="en-US" sz="1700" dirty="0"/>
          </a:p>
        </p:txBody>
      </p:sp>
      <p:sp>
        <p:nvSpPr>
          <p:cNvPr id="9" name="word3"/>
          <p:cNvSpPr/>
          <p:nvPr/>
        </p:nvSpPr>
        <p:spPr>
          <a:xfrm>
            <a:off x="6766560" y="1280160"/>
            <a:ext cx="1920240" cy="731520"/>
          </a:xfrm>
          <a:prstGeom prst="roundRect">
            <a:avLst>
              <a:gd name="adj" fmla="val 15000"/>
            </a:avLst>
          </a:prstGeom>
          <a:solidFill>
            <a:srgbClr val="E6F2F2"/>
          </a:solidFill>
          <a:ln w="12700">
            <a:solidFill>
              <a:srgbClr val="E6F2F2"/>
            </a:solidFill>
            <a:prstDash val="solid"/>
          </a:ln>
        </p:spPr>
      </p:sp>
      <p:sp>
        <p:nvSpPr>
          <p:cNvPr id="10" name="Text 8"/>
          <p:cNvSpPr txBox="1"/>
          <p:nvPr/>
        </p:nvSpPr>
        <p:spPr>
          <a:xfrm>
            <a:off x="685800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design brief</a:t>
            </a:r>
            <a:endParaRPr lang="en-US" sz="1700" dirty="0"/>
          </a:p>
        </p:txBody>
      </p:sp>
      <p:sp>
        <p:nvSpPr>
          <p:cNvPr id="11" name="word4"/>
          <p:cNvSpPr/>
          <p:nvPr/>
        </p:nvSpPr>
        <p:spPr>
          <a:xfrm>
            <a:off x="457200" y="2240280"/>
            <a:ext cx="1920240" cy="731520"/>
          </a:xfrm>
          <a:prstGeom prst="roundRect">
            <a:avLst>
              <a:gd name="adj" fmla="val 15000"/>
            </a:avLst>
          </a:prstGeom>
          <a:solidFill>
            <a:srgbClr val="FCEFF3"/>
          </a:solidFill>
          <a:ln w="12700">
            <a:solidFill>
              <a:srgbClr val="FCEFF3"/>
            </a:solidFill>
            <a:prstDash val="solid"/>
          </a:ln>
        </p:spPr>
      </p:sp>
      <p:sp>
        <p:nvSpPr>
          <p:cNvPr id="12" name="Text 10"/>
          <p:cNvSpPr txBox="1"/>
          <p:nvPr/>
        </p:nvSpPr>
        <p:spPr>
          <a:xfrm>
            <a:off x="54864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STL</a:t>
            </a:r>
            <a:endParaRPr lang="en-US" sz="1700" dirty="0"/>
          </a:p>
        </p:txBody>
      </p:sp>
      <p:sp>
        <p:nvSpPr>
          <p:cNvPr id="13" name="word5"/>
          <p:cNvSpPr/>
          <p:nvPr/>
        </p:nvSpPr>
        <p:spPr>
          <a:xfrm>
            <a:off x="2560320" y="2240280"/>
            <a:ext cx="1920240" cy="731520"/>
          </a:xfrm>
          <a:prstGeom prst="roundRect">
            <a:avLst>
              <a:gd name="adj" fmla="val 15000"/>
            </a:avLst>
          </a:prstGeom>
          <a:solidFill>
            <a:srgbClr val="E6F2F2"/>
          </a:solidFill>
          <a:ln w="12700">
            <a:solidFill>
              <a:srgbClr val="E6F2F2"/>
            </a:solidFill>
            <a:prstDash val="solid"/>
          </a:ln>
        </p:spPr>
      </p:sp>
      <p:sp>
        <p:nvSpPr>
          <p:cNvPr id="14" name="Text 12"/>
          <p:cNvSpPr txBox="1"/>
          <p:nvPr/>
        </p:nvSpPr>
        <p:spPr>
          <a:xfrm>
            <a:off x="265176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bleed</a:t>
            </a:r>
            <a:endParaRPr lang="en-US" sz="1700" dirty="0"/>
          </a:p>
        </p:txBody>
      </p:sp>
      <p:sp>
        <p:nvSpPr>
          <p:cNvPr id="15" name="word6"/>
          <p:cNvSpPr/>
          <p:nvPr/>
        </p:nvSpPr>
        <p:spPr>
          <a:xfrm>
            <a:off x="4663440" y="2240280"/>
            <a:ext cx="1920240" cy="731520"/>
          </a:xfrm>
          <a:prstGeom prst="roundRect">
            <a:avLst>
              <a:gd name="adj" fmla="val 15000"/>
            </a:avLst>
          </a:prstGeom>
          <a:solidFill>
            <a:srgbClr val="FCEFF3"/>
          </a:solidFill>
          <a:ln w="12700">
            <a:solidFill>
              <a:srgbClr val="FCEFF3"/>
            </a:solidFill>
            <a:prstDash val="solid"/>
          </a:ln>
        </p:spPr>
      </p:sp>
      <p:sp>
        <p:nvSpPr>
          <p:cNvPr id="16" name="Text 14"/>
          <p:cNvSpPr txBox="1"/>
          <p:nvPr/>
        </p:nvSpPr>
        <p:spPr>
          <a:xfrm>
            <a:off x="475488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brand</a:t>
            </a:r>
            <a:endParaRPr lang="en-US" sz="1700" dirty="0"/>
          </a:p>
        </p:txBody>
      </p:sp>
      <p:sp>
        <p:nvSpPr>
          <p:cNvPr id="17" name="word7"/>
          <p:cNvSpPr/>
          <p:nvPr/>
        </p:nvSpPr>
        <p:spPr>
          <a:xfrm>
            <a:off x="6766560" y="2240280"/>
            <a:ext cx="1920240" cy="731520"/>
          </a:xfrm>
          <a:prstGeom prst="roundRect">
            <a:avLst>
              <a:gd name="adj" fmla="val 15000"/>
            </a:avLst>
          </a:prstGeom>
          <a:solidFill>
            <a:srgbClr val="E6F2F2"/>
          </a:solidFill>
          <a:ln w="12700">
            <a:solidFill>
              <a:srgbClr val="E6F2F2"/>
            </a:solidFill>
            <a:prstDash val="solid"/>
          </a:ln>
        </p:spPr>
      </p:sp>
      <p:sp>
        <p:nvSpPr>
          <p:cNvPr id="18" name="Text 16"/>
          <p:cNvSpPr txBox="1"/>
          <p:nvPr/>
        </p:nvSpPr>
        <p:spPr>
          <a:xfrm>
            <a:off x="685800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reflect</a:t>
            </a:r>
            <a:endParaRPr lang="en-US" sz="1700" dirty="0"/>
          </a:p>
        </p:txBody>
      </p:sp>
      <p:sp>
        <p:nvSpPr>
          <p:cNvPr id="19" name="Text 17"/>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6"/>
                </a:solidFill>
                <a:latin typeface="Calibri" pitchFamily="34" charset="0"/>
                <a:ea typeface="Calibri" pitchFamily="34" charset="-122"/>
                <a:cs typeface="Calibri" pitchFamily="34" charset="-120"/>
              </a:rPr>
              <a:t>Say each word with your partner. Which words do you already know?</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Our Term 1 journey</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Safety Induction and origami maker piece</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Photon Environmental Mission: brief, route, code and campaign</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Candle Making: Lighting the UAE Heritage</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Junior Designer Challenge: Tinkercad, car logo, Canva logo, badge and 3D print</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How to present like a designer</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Show your work and say what it is.</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Explain your process in three steps.</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Use at least three TCD words.</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Say what you would improve next time.</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Reflecting on growth</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82296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What can I do now that I could not do in Week 1?</a:t>
            </a:r>
            <a:endParaRPr lang="en-US" sz="1600" dirty="0"/>
          </a:p>
        </p:txBody>
      </p:sp>
      <p:sp>
        <p:nvSpPr>
          <p:cNvPr id="6" name="Shape 3"/>
          <p:cNvSpPr/>
          <p:nvPr/>
        </p:nvSpPr>
        <p:spPr>
          <a:xfrm>
            <a:off x="457200" y="210312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223821"/>
            <a:ext cx="261518" cy="261518"/>
          </a:xfrm>
          <a:prstGeom prst="rect">
            <a:avLst/>
          </a:prstGeom>
        </p:spPr>
      </p:pic>
      <p:sp>
        <p:nvSpPr>
          <p:cNvPr id="8" name="Text 4"/>
          <p:cNvSpPr txBox="1"/>
          <p:nvPr/>
        </p:nvSpPr>
        <p:spPr>
          <a:xfrm>
            <a:off x="1143000" y="2057400"/>
            <a:ext cx="4754880" cy="82296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Which project linked to another one?</a:t>
            </a:r>
            <a:endParaRPr lang="en-US" sz="1600" dirty="0"/>
          </a:p>
        </p:txBody>
      </p:sp>
      <p:sp>
        <p:nvSpPr>
          <p:cNvPr id="9" name="Shape 5"/>
          <p:cNvSpPr/>
          <p:nvPr/>
        </p:nvSpPr>
        <p:spPr>
          <a:xfrm>
            <a:off x="457200" y="297180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92501"/>
            <a:ext cx="261518" cy="261518"/>
          </a:xfrm>
          <a:prstGeom prst="rect">
            <a:avLst/>
          </a:prstGeom>
        </p:spPr>
      </p:pic>
      <p:sp>
        <p:nvSpPr>
          <p:cNvPr id="11" name="Text 6"/>
          <p:cNvSpPr txBox="1"/>
          <p:nvPr/>
        </p:nvSpPr>
        <p:spPr>
          <a:xfrm>
            <a:off x="1143000" y="2926080"/>
            <a:ext cx="4754880" cy="82296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Which ENS value did I show: courage, respect, tolerance or resilience?</a:t>
            </a:r>
            <a:endParaRPr lang="en-US" sz="1600" dirty="0"/>
          </a:p>
        </p:txBody>
      </p:sp>
      <p:sp>
        <p:nvSpPr>
          <p:cNvPr id="12"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3" name="Shape 8"/>
          <p:cNvSpPr/>
          <p:nvPr/>
        </p:nvSpPr>
        <p:spPr>
          <a:xfrm>
            <a:off x="6903720" y="1463040"/>
            <a:ext cx="1143000" cy="1143000"/>
          </a:xfrm>
          <a:prstGeom prst="ellipse">
            <a:avLst/>
          </a:prstGeom>
          <a:solidFill>
            <a:srgbClr val="FFFFFF"/>
          </a:solidFill>
          <a:ln w="12700">
            <a:solidFill>
              <a:srgbClr val="FFFFFF"/>
            </a:solidFill>
            <a:prstDash val="solid"/>
          </a:ln>
        </p:spPr>
      </p:sp>
      <p:pic>
        <p:nvPicPr>
          <p:cNvPr id="14" name="Image 3" descr="preencoded.png">    </p:cNvPr>
          <p:cNvPicPr>
            <a:picLocks noChangeAspect="1"/>
          </p:cNvPicPr>
          <p:nvPr/>
        </p:nvPicPr>
        <p:blipFill>
          <a:blip r:embed="rId4"/>
          <a:stretch>
            <a:fillRect/>
          </a:stretch>
        </p:blipFill>
        <p:spPr>
          <a:xfrm>
            <a:off x="7178040" y="1737360"/>
            <a:ext cx="594360" cy="594360"/>
          </a:xfrm>
          <a:prstGeom prst="rect">
            <a:avLst/>
          </a:prstGeom>
        </p:spPr>
      </p:pic>
      <p:sp>
        <p:nvSpPr>
          <p:cNvPr id="15" name="Text 9"/>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6" name="Text 10"/>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Showcase steps</a:t>
            </a:r>
            <a:endParaRPr lang="en-US" sz="3000" dirty="0"/>
          </a:p>
        </p:txBody>
      </p:sp>
      <p:sp>
        <p:nvSpPr>
          <p:cNvPr id="3" name="step0"/>
          <p:cNvSpPr/>
          <p:nvPr/>
        </p:nvSpPr>
        <p:spPr>
          <a:xfrm>
            <a:off x="457200" y="1188720"/>
            <a:ext cx="2590800" cy="1463040"/>
          </a:xfrm>
          <a:prstGeom prst="roundRect">
            <a:avLst>
              <a:gd name="adj" fmla="val 7500"/>
            </a:avLst>
          </a:prstGeom>
          <a:solidFill>
            <a:srgbClr val="E6F2F2"/>
          </a:solidFill>
          <a:ln w="12700">
            <a:solidFill>
              <a:srgbClr val="E6F2F2"/>
            </a:solidFill>
            <a:prstDash val="solid"/>
          </a:ln>
        </p:spPr>
      </p:sp>
      <p:sp>
        <p:nvSpPr>
          <p:cNvPr id="4" name="Shape 2"/>
          <p:cNvSpPr/>
          <p:nvPr/>
        </p:nvSpPr>
        <p:spPr>
          <a:xfrm>
            <a:off x="594360" y="1325880"/>
            <a:ext cx="457200" cy="457200"/>
          </a:xfrm>
          <a:prstGeom prst="ellipse">
            <a:avLst/>
          </a:prstGeom>
          <a:solidFill>
            <a:srgbClr val="0E7C80"/>
          </a:solidFill>
          <a:ln w="12700">
            <a:solidFill>
              <a:srgbClr val="0E7C80"/>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Choose your best piece</a:t>
            </a:r>
            <a:endParaRPr lang="en-US" sz="1300" dirty="0"/>
          </a:p>
        </p:txBody>
      </p:sp>
      <p:sp>
        <p:nvSpPr>
          <p:cNvPr id="7" name="step1"/>
          <p:cNvSpPr/>
          <p:nvPr/>
        </p:nvSpPr>
        <p:spPr>
          <a:xfrm>
            <a:off x="3276600" y="1188720"/>
            <a:ext cx="2590800" cy="1463040"/>
          </a:xfrm>
          <a:prstGeom prst="roundRect">
            <a:avLst>
              <a:gd name="adj" fmla="val 7500"/>
            </a:avLst>
          </a:prstGeom>
          <a:solidFill>
            <a:srgbClr val="E6F2F2"/>
          </a:solidFill>
          <a:ln w="12700">
            <a:solidFill>
              <a:srgbClr val="E6F2F2"/>
            </a:solidFill>
            <a:prstDash val="solid"/>
          </a:ln>
        </p:spPr>
      </p:sp>
      <p:sp>
        <p:nvSpPr>
          <p:cNvPr id="8" name="Shape 6"/>
          <p:cNvSpPr/>
          <p:nvPr/>
        </p:nvSpPr>
        <p:spPr>
          <a:xfrm>
            <a:off x="3413760" y="1325880"/>
            <a:ext cx="457200" cy="457200"/>
          </a:xfrm>
          <a:prstGeom prst="ellipse">
            <a:avLst/>
          </a:prstGeom>
          <a:solidFill>
            <a:srgbClr val="0E7C80"/>
          </a:solidFill>
          <a:ln w="12700">
            <a:solidFill>
              <a:srgbClr val="0E7C80"/>
            </a:solidFill>
            <a:prstDash val="solid"/>
          </a:ln>
        </p:spPr>
      </p:sp>
      <p:sp>
        <p:nvSpPr>
          <p:cNvPr id="9" name="Text 7"/>
          <p:cNvSpPr txBox="1"/>
          <p:nvPr/>
        </p:nvSpPr>
        <p:spPr>
          <a:xfrm>
            <a:off x="34137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34137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Plan with the presentation sheet</a:t>
            </a:r>
            <a:endParaRPr lang="en-US" sz="1300" dirty="0"/>
          </a:p>
        </p:txBody>
      </p:sp>
      <p:sp>
        <p:nvSpPr>
          <p:cNvPr id="11" name="step2"/>
          <p:cNvSpPr/>
          <p:nvPr/>
        </p:nvSpPr>
        <p:spPr>
          <a:xfrm>
            <a:off x="6096000" y="1188720"/>
            <a:ext cx="2590800" cy="1463040"/>
          </a:xfrm>
          <a:prstGeom prst="roundRect">
            <a:avLst>
              <a:gd name="adj" fmla="val 7500"/>
            </a:avLst>
          </a:prstGeom>
          <a:solidFill>
            <a:srgbClr val="E6F2F2"/>
          </a:solidFill>
          <a:ln w="12700">
            <a:solidFill>
              <a:srgbClr val="E6F2F2"/>
            </a:solidFill>
            <a:prstDash val="solid"/>
          </a:ln>
        </p:spPr>
      </p:sp>
      <p:sp>
        <p:nvSpPr>
          <p:cNvPr id="12" name="Shape 10"/>
          <p:cNvSpPr/>
          <p:nvPr/>
        </p:nvSpPr>
        <p:spPr>
          <a:xfrm>
            <a:off x="6233160" y="1325880"/>
            <a:ext cx="457200" cy="457200"/>
          </a:xfrm>
          <a:prstGeom prst="ellipse">
            <a:avLst/>
          </a:prstGeom>
          <a:solidFill>
            <a:srgbClr val="0E7C80"/>
          </a:solidFill>
          <a:ln w="12700">
            <a:solidFill>
              <a:srgbClr val="0E7C80"/>
            </a:solidFill>
            <a:prstDash val="solid"/>
          </a:ln>
        </p:spPr>
      </p:sp>
      <p:sp>
        <p:nvSpPr>
          <p:cNvPr id="13" name="Text 11"/>
          <p:cNvSpPr txBox="1"/>
          <p:nvPr/>
        </p:nvSpPr>
        <p:spPr>
          <a:xfrm>
            <a:off x="62331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62331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Practise with a partner</a:t>
            </a:r>
            <a:endParaRPr lang="en-US" sz="1300" dirty="0"/>
          </a:p>
        </p:txBody>
      </p:sp>
      <p:sp>
        <p:nvSpPr>
          <p:cNvPr id="15" name="step3"/>
          <p:cNvSpPr/>
          <p:nvPr/>
        </p:nvSpPr>
        <p:spPr>
          <a:xfrm>
            <a:off x="457200" y="2880360"/>
            <a:ext cx="2590800" cy="1463040"/>
          </a:xfrm>
          <a:prstGeom prst="roundRect">
            <a:avLst>
              <a:gd name="adj" fmla="val 7500"/>
            </a:avLst>
          </a:prstGeom>
          <a:solidFill>
            <a:srgbClr val="FCEFF3"/>
          </a:solidFill>
          <a:ln w="12700">
            <a:solidFill>
              <a:srgbClr val="FCEFF3"/>
            </a:solidFill>
            <a:prstDash val="solid"/>
          </a:ln>
        </p:spPr>
      </p:sp>
      <p:sp>
        <p:nvSpPr>
          <p:cNvPr id="16" name="Shape 14"/>
          <p:cNvSpPr/>
          <p:nvPr/>
        </p:nvSpPr>
        <p:spPr>
          <a:xfrm>
            <a:off x="594360" y="3017520"/>
            <a:ext cx="457200" cy="457200"/>
          </a:xfrm>
          <a:prstGeom prst="ellipse">
            <a:avLst/>
          </a:prstGeom>
          <a:solidFill>
            <a:srgbClr val="9E1B4B"/>
          </a:solidFill>
          <a:ln w="12700">
            <a:solidFill>
              <a:srgbClr val="9E1B4B"/>
            </a:solidFill>
            <a:prstDash val="solid"/>
          </a:ln>
        </p:spPr>
      </p:sp>
      <p:sp>
        <p:nvSpPr>
          <p:cNvPr id="17" name="Text 15"/>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5943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Present</a:t>
            </a:r>
            <a:endParaRPr lang="en-US" sz="1300" dirty="0"/>
          </a:p>
        </p:txBody>
      </p:sp>
      <p:sp>
        <p:nvSpPr>
          <p:cNvPr id="19" name="step4"/>
          <p:cNvSpPr/>
          <p:nvPr/>
        </p:nvSpPr>
        <p:spPr>
          <a:xfrm>
            <a:off x="3276600" y="2880360"/>
            <a:ext cx="2590800" cy="1463040"/>
          </a:xfrm>
          <a:prstGeom prst="roundRect">
            <a:avLst>
              <a:gd name="adj" fmla="val 7500"/>
            </a:avLst>
          </a:prstGeom>
          <a:solidFill>
            <a:srgbClr val="FCEFF3"/>
          </a:solidFill>
          <a:ln w="12700">
            <a:solidFill>
              <a:srgbClr val="FCEFF3"/>
            </a:solidFill>
            <a:prstDash val="solid"/>
          </a:ln>
        </p:spPr>
      </p:sp>
      <p:sp>
        <p:nvSpPr>
          <p:cNvPr id="20" name="Shape 18"/>
          <p:cNvSpPr/>
          <p:nvPr/>
        </p:nvSpPr>
        <p:spPr>
          <a:xfrm>
            <a:off x="3413760" y="3017520"/>
            <a:ext cx="457200" cy="457200"/>
          </a:xfrm>
          <a:prstGeom prst="ellipse">
            <a:avLst/>
          </a:prstGeom>
          <a:solidFill>
            <a:srgbClr val="9E1B4B"/>
          </a:solidFill>
          <a:ln w="12700">
            <a:solidFill>
              <a:srgbClr val="9E1B4B"/>
            </a:solidFill>
            <a:prstDash val="solid"/>
          </a:ln>
        </p:spPr>
      </p:sp>
      <p:sp>
        <p:nvSpPr>
          <p:cNvPr id="21" name="Text 19"/>
          <p:cNvSpPr txBox="1"/>
          <p:nvPr/>
        </p:nvSpPr>
        <p:spPr>
          <a:xfrm>
            <a:off x="34137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34137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Complete your reflection</a:t>
            </a:r>
            <a:endParaRPr lang="en-US" sz="1300" dirty="0"/>
          </a:p>
        </p:txBody>
      </p:sp>
      <p:sp>
        <p:nvSpPr>
          <p:cNvPr id="23" name="step5"/>
          <p:cNvSpPr/>
          <p:nvPr/>
        </p:nvSpPr>
        <p:spPr>
          <a:xfrm>
            <a:off x="6096000" y="2880360"/>
            <a:ext cx="2590800" cy="1463040"/>
          </a:xfrm>
          <a:prstGeom prst="roundRect">
            <a:avLst>
              <a:gd name="adj" fmla="val 7500"/>
            </a:avLst>
          </a:prstGeom>
          <a:solidFill>
            <a:srgbClr val="FCEFF3"/>
          </a:solidFill>
          <a:ln w="12700">
            <a:solidFill>
              <a:srgbClr val="FCEFF3"/>
            </a:solidFill>
            <a:prstDash val="solid"/>
          </a:ln>
        </p:spPr>
      </p:sp>
      <p:sp>
        <p:nvSpPr>
          <p:cNvPr id="24" name="Shape 22"/>
          <p:cNvSpPr/>
          <p:nvPr/>
        </p:nvSpPr>
        <p:spPr>
          <a:xfrm>
            <a:off x="6233160" y="3017520"/>
            <a:ext cx="457200" cy="457200"/>
          </a:xfrm>
          <a:prstGeom prst="ellipse">
            <a:avLst/>
          </a:prstGeom>
          <a:solidFill>
            <a:srgbClr val="9E1B4B"/>
          </a:solidFill>
          <a:ln w="12700">
            <a:solidFill>
              <a:srgbClr val="9E1B4B"/>
            </a:solidFill>
            <a:prstDash val="solid"/>
          </a:ln>
        </p:spPr>
      </p:sp>
      <p:sp>
        <p:nvSpPr>
          <p:cNvPr id="25" name="Text 23"/>
          <p:cNvSpPr txBox="1"/>
          <p:nvPr/>
        </p:nvSpPr>
        <p:spPr>
          <a:xfrm>
            <a:off x="62331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2331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Take the Term 1 final quiz</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Safety First</a:t>
            </a:r>
            <a:endParaRPr lang="en-US" sz="3000" dirty="0"/>
          </a:p>
        </p:txBody>
      </p:sp>
      <p:sp>
        <p:nvSpPr>
          <p:cNvPr id="3" name="Shape 1"/>
          <p:cNvSpPr/>
          <p:nvPr/>
        </p:nvSpPr>
        <p:spPr>
          <a:xfrm>
            <a:off x="457200" y="1234440"/>
            <a:ext cx="1280160" cy="1280160"/>
          </a:xfrm>
          <a:prstGeom prst="ellipse">
            <a:avLst/>
          </a:prstGeom>
          <a:solidFill>
            <a:srgbClr val="9E1B4B"/>
          </a:solidFill>
          <a:ln w="12700">
            <a:solidFill>
              <a:srgbClr val="9E1B4B"/>
            </a:solidFill>
            <a:prstDash val="solid"/>
          </a:ln>
        </p:spPr>
      </p:sp>
      <p:pic>
        <p:nvPicPr>
          <p:cNvPr id="4" name="Image 0" descr="preencoded.png">    </p:cNvPr>
          <p:cNvPicPr>
            <a:picLocks noChangeAspect="1"/>
          </p:cNvPicPr>
          <p:nvPr/>
        </p:nvPicPr>
        <p:blipFill>
          <a:blip r:embed="rId1"/>
          <a:stretch>
            <a:fillRect/>
          </a:stretch>
        </p:blipFill>
        <p:spPr>
          <a:xfrm>
            <a:off x="764438" y="1541678"/>
            <a:ext cx="665683" cy="665683"/>
          </a:xfrm>
          <a:prstGeom prst="rect">
            <a:avLst/>
          </a:prstGeom>
        </p:spPr>
      </p:pic>
      <p:sp>
        <p:nvSpPr>
          <p:cNvPr id="5" name="Text 2"/>
          <p:cNvSpPr txBox="1"/>
          <p:nvPr/>
        </p:nvSpPr>
        <p:spPr>
          <a:xfrm>
            <a:off x="274320" y="2651760"/>
            <a:ext cx="1645920" cy="548640"/>
          </a:xfrm>
          <a:prstGeom prst="rect">
            <a:avLst/>
          </a:prstGeom>
          <a:noFill/>
          <a:ln/>
        </p:spPr>
        <p:txBody>
          <a:bodyPr wrap="square" lIns="0" tIns="0" rIns="0" bIns="0" rtlCol="0" anchor="ctr"/>
          <a:lstStyle/>
          <a:p>
            <a:pPr algn="ctr" indent="0" marL="0">
              <a:buNone/>
            </a:pPr>
            <a:r>
              <a:rPr lang="en-US" sz="1200" b="1" dirty="0">
                <a:solidFill>
                  <a:schemeClr val="accent2"/>
                </a:solidFill>
                <a:latin typeface="Calibri" pitchFamily="34" charset="0"/>
                <a:ea typeface="Calibri" pitchFamily="34" charset="-122"/>
                <a:cs typeface="Calibri" pitchFamily="34" charset="-120"/>
              </a:rPr>
              <a:t>Every time. No exceptions.</a:t>
            </a:r>
            <a:endParaRPr lang="en-US" sz="1200" dirty="0"/>
          </a:p>
        </p:txBody>
      </p:sp>
      <p:sp>
        <p:nvSpPr>
          <p:cNvPr id="6" name="safe0"/>
          <p:cNvSpPr/>
          <p:nvPr/>
        </p:nvSpPr>
        <p:spPr>
          <a:xfrm>
            <a:off x="2194560" y="1188720"/>
            <a:ext cx="6492240" cy="566928"/>
          </a:xfrm>
          <a:prstGeom prst="roundRect">
            <a:avLst>
              <a:gd name="adj" fmla="val 19355"/>
            </a:avLst>
          </a:prstGeom>
          <a:solidFill>
            <a:srgbClr val="FCEFF3"/>
          </a:solidFill>
          <a:ln w="12700">
            <a:solidFill>
              <a:srgbClr val="FCEFF3"/>
            </a:solidFill>
            <a:prstDash val="solid"/>
          </a:ln>
        </p:spPr>
      </p:sp>
      <p:sp>
        <p:nvSpPr>
          <p:cNvPr id="7" name="Text 4"/>
          <p:cNvSpPr txBox="1"/>
          <p:nvPr/>
        </p:nvSpPr>
        <p:spPr>
          <a:xfrm>
            <a:off x="2377440" y="1188720"/>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Handle other students' work gently.</a:t>
            </a:r>
            <a:endParaRPr lang="en-US" sz="1500" dirty="0"/>
          </a:p>
        </p:txBody>
      </p:sp>
      <p:sp>
        <p:nvSpPr>
          <p:cNvPr id="8" name="safe1"/>
          <p:cNvSpPr/>
          <p:nvPr/>
        </p:nvSpPr>
        <p:spPr>
          <a:xfrm>
            <a:off x="2194560" y="1847088"/>
            <a:ext cx="6492240" cy="566928"/>
          </a:xfrm>
          <a:prstGeom prst="roundRect">
            <a:avLst>
              <a:gd name="adj" fmla="val 19355"/>
            </a:avLst>
          </a:prstGeom>
          <a:solidFill>
            <a:srgbClr val="FFFFFF"/>
          </a:solidFill>
          <a:ln w="12700">
            <a:solidFill>
              <a:srgbClr val="FFFFFF"/>
            </a:solidFill>
            <a:prstDash val="solid"/>
          </a:ln>
        </p:spPr>
      </p:sp>
      <p:sp>
        <p:nvSpPr>
          <p:cNvPr id="9" name="Text 6"/>
          <p:cNvSpPr txBox="1"/>
          <p:nvPr/>
        </p:nvSpPr>
        <p:spPr>
          <a:xfrm>
            <a:off x="2377440" y="1847088"/>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Candles stay unlit on the display table.</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task today</a:t>
            </a:r>
            <a:endParaRPr lang="en-US" sz="3000" dirty="0"/>
          </a:p>
        </p:txBody>
      </p:sp>
      <p:sp>
        <p:nvSpPr>
          <p:cNvPr id="3" name="Shape 1"/>
          <p:cNvSpPr/>
          <p:nvPr/>
        </p:nvSpPr>
        <p:spPr>
          <a:xfrm>
            <a:off x="457200" y="1261872"/>
            <a:ext cx="411480" cy="411480"/>
          </a:xfrm>
          <a:prstGeom prst="roundRect">
            <a:avLst>
              <a:gd name="adj" fmla="val 13333"/>
            </a:avLst>
          </a:prstGeom>
          <a:solidFill>
            <a:srgbClr val="FFFFFF"/>
          </a:solidFill>
          <a:ln w="25400">
            <a:solidFill>
              <a:srgbClr val="0E7C80"/>
            </a:solidFill>
            <a:prstDash val="solid"/>
          </a:ln>
        </p:spPr>
      </p:sp>
      <p:sp>
        <p:nvSpPr>
          <p:cNvPr id="4" name="Text 2"/>
          <p:cNvSpPr txBox="1"/>
          <p:nvPr/>
        </p:nvSpPr>
        <p:spPr>
          <a:xfrm>
            <a:off x="1051560" y="1188720"/>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Choose your best Term 1 piece.</a:t>
            </a:r>
            <a:endParaRPr lang="en-US" sz="1600" dirty="0"/>
          </a:p>
        </p:txBody>
      </p:sp>
      <p:sp>
        <p:nvSpPr>
          <p:cNvPr id="5" name="Shape 3"/>
          <p:cNvSpPr/>
          <p:nvPr/>
        </p:nvSpPr>
        <p:spPr>
          <a:xfrm>
            <a:off x="457200" y="1920240"/>
            <a:ext cx="411480" cy="411480"/>
          </a:xfrm>
          <a:prstGeom prst="roundRect">
            <a:avLst>
              <a:gd name="adj" fmla="val 13333"/>
            </a:avLst>
          </a:prstGeom>
          <a:solidFill>
            <a:srgbClr val="FFFFFF"/>
          </a:solidFill>
          <a:ln w="25400">
            <a:solidFill>
              <a:srgbClr val="0E7C80"/>
            </a:solidFill>
            <a:prstDash val="solid"/>
          </a:ln>
        </p:spPr>
      </p:sp>
      <p:sp>
        <p:nvSpPr>
          <p:cNvPr id="6" name="Text 4"/>
          <p:cNvSpPr txBox="1"/>
          <p:nvPr/>
        </p:nvSpPr>
        <p:spPr>
          <a:xfrm>
            <a:off x="1051560" y="1847088"/>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Plan a 1-minute presentation.</a:t>
            </a:r>
            <a:endParaRPr lang="en-US" sz="1600" dirty="0"/>
          </a:p>
        </p:txBody>
      </p:sp>
      <p:sp>
        <p:nvSpPr>
          <p:cNvPr id="7" name="Shape 5"/>
          <p:cNvSpPr/>
          <p:nvPr/>
        </p:nvSpPr>
        <p:spPr>
          <a:xfrm>
            <a:off x="457200" y="2578608"/>
            <a:ext cx="411480" cy="411480"/>
          </a:xfrm>
          <a:prstGeom prst="roundRect">
            <a:avLst>
              <a:gd name="adj" fmla="val 13333"/>
            </a:avLst>
          </a:prstGeom>
          <a:solidFill>
            <a:srgbClr val="FFFFFF"/>
          </a:solidFill>
          <a:ln w="25400">
            <a:solidFill>
              <a:srgbClr val="0E7C80"/>
            </a:solidFill>
            <a:prstDash val="solid"/>
          </a:ln>
        </p:spPr>
      </p:sp>
      <p:sp>
        <p:nvSpPr>
          <p:cNvPr id="8" name="Text 6"/>
          <p:cNvSpPr txBox="1"/>
          <p:nvPr/>
        </p:nvSpPr>
        <p:spPr>
          <a:xfrm>
            <a:off x="1051560" y="2505456"/>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Present to the class.</a:t>
            </a:r>
            <a:endParaRPr lang="en-US" sz="1600" dirty="0"/>
          </a:p>
        </p:txBody>
      </p:sp>
      <p:sp>
        <p:nvSpPr>
          <p:cNvPr id="9" name="Shape 7"/>
          <p:cNvSpPr/>
          <p:nvPr/>
        </p:nvSpPr>
        <p:spPr>
          <a:xfrm>
            <a:off x="457200" y="3236976"/>
            <a:ext cx="411480" cy="411480"/>
          </a:xfrm>
          <a:prstGeom prst="roundRect">
            <a:avLst>
              <a:gd name="adj" fmla="val 13333"/>
            </a:avLst>
          </a:prstGeom>
          <a:solidFill>
            <a:srgbClr val="FFFFFF"/>
          </a:solidFill>
          <a:ln w="25400">
            <a:solidFill>
              <a:srgbClr val="0E7C80"/>
            </a:solidFill>
            <a:prstDash val="solid"/>
          </a:ln>
        </p:spPr>
      </p:sp>
      <p:sp>
        <p:nvSpPr>
          <p:cNvPr id="10" name="Text 8"/>
          <p:cNvSpPr txBox="1"/>
          <p:nvPr/>
        </p:nvSpPr>
        <p:spPr>
          <a:xfrm>
            <a:off x="1051560" y="3163824"/>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Complete the reflection sheet.</a:t>
            </a:r>
            <a:endParaRPr lang="en-US" sz="1600" dirty="0"/>
          </a:p>
        </p:txBody>
      </p:sp>
      <p:sp>
        <p:nvSpPr>
          <p:cNvPr id="11" name="Shape 9"/>
          <p:cNvSpPr/>
          <p:nvPr/>
        </p:nvSpPr>
        <p:spPr>
          <a:xfrm>
            <a:off x="457200" y="3895344"/>
            <a:ext cx="411480" cy="411480"/>
          </a:xfrm>
          <a:prstGeom prst="roundRect">
            <a:avLst>
              <a:gd name="adj" fmla="val 13333"/>
            </a:avLst>
          </a:prstGeom>
          <a:solidFill>
            <a:srgbClr val="FFFFFF"/>
          </a:solidFill>
          <a:ln w="25400">
            <a:solidFill>
              <a:srgbClr val="0E7C80"/>
            </a:solidFill>
            <a:prstDash val="solid"/>
          </a:ln>
        </p:spPr>
      </p:sp>
      <p:sp>
        <p:nvSpPr>
          <p:cNvPr id="12" name="Text 10"/>
          <p:cNvSpPr txBox="1"/>
          <p:nvPr/>
        </p:nvSpPr>
        <p:spPr>
          <a:xfrm>
            <a:off x="1051560" y="3822192"/>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Take the Term 1 final quiz.</a:t>
            </a:r>
            <a:endParaRPr lang="en-US" sz="1600" dirty="0"/>
          </a:p>
        </p:txBody>
      </p:sp>
      <p:sp>
        <p:nvSpPr>
          <p:cNvPr id="13" name="wsCard"/>
          <p:cNvSpPr/>
          <p:nvPr/>
        </p:nvSpPr>
        <p:spPr>
          <a:xfrm>
            <a:off x="6263640" y="1188720"/>
            <a:ext cx="2423160" cy="3246120"/>
          </a:xfrm>
          <a:prstGeom prst="roundRect">
            <a:avLst>
              <a:gd name="adj" fmla="val 4528"/>
            </a:avLst>
          </a:prstGeom>
          <a:solidFill>
            <a:srgbClr val="E6F2F2"/>
          </a:solidFill>
          <a:ln w="12700">
            <a:solidFill>
              <a:srgbClr val="E6F2F2"/>
            </a:solidFill>
            <a:prstDash val="solid"/>
          </a:ln>
        </p:spPr>
      </p:sp>
      <p:sp>
        <p:nvSpPr>
          <p:cNvPr id="14" name="Shape 12"/>
          <p:cNvSpPr/>
          <p:nvPr/>
        </p:nvSpPr>
        <p:spPr>
          <a:xfrm>
            <a:off x="6949440" y="1417320"/>
            <a:ext cx="1051560" cy="1051560"/>
          </a:xfrm>
          <a:prstGeom prst="ellipse">
            <a:avLst/>
          </a:prstGeom>
          <a:solidFill>
            <a:srgbClr val="0E7C80"/>
          </a:solidFill>
          <a:ln w="12700">
            <a:solidFill>
              <a:srgbClr val="0E7C80"/>
            </a:solidFill>
            <a:prstDash val="solid"/>
          </a:ln>
        </p:spPr>
      </p:sp>
      <p:pic>
        <p:nvPicPr>
          <p:cNvPr id="15" name="Image 0" descr="preencoded.png">    </p:cNvPr>
          <p:cNvPicPr>
            <a:picLocks noChangeAspect="1"/>
          </p:cNvPicPr>
          <p:nvPr/>
        </p:nvPicPr>
        <p:blipFill>
          <a:blip r:embed="rId1"/>
          <a:stretch>
            <a:fillRect/>
          </a:stretch>
        </p:blipFill>
        <p:spPr>
          <a:xfrm>
            <a:off x="7201814" y="1669694"/>
            <a:ext cx="546811" cy="546811"/>
          </a:xfrm>
          <a:prstGeom prst="rect">
            <a:avLst/>
          </a:prstGeom>
        </p:spPr>
      </p:pic>
      <p:sp>
        <p:nvSpPr>
          <p:cNvPr id="16" name="Text 13"/>
          <p:cNvSpPr txBox="1"/>
          <p:nvPr/>
        </p:nvSpPr>
        <p:spPr>
          <a:xfrm>
            <a:off x="6400800" y="2606040"/>
            <a:ext cx="214884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Worksheet</a:t>
            </a:r>
            <a:endParaRPr lang="en-US" sz="1600" dirty="0"/>
          </a:p>
        </p:txBody>
      </p:sp>
      <p:sp>
        <p:nvSpPr>
          <p:cNvPr id="17" name="Text 14"/>
          <p:cNvSpPr txBox="1"/>
          <p:nvPr/>
        </p:nvSpPr>
        <p:spPr>
          <a:xfrm>
            <a:off x="6400800" y="3017520"/>
            <a:ext cx="2148840" cy="8229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My Term 1 Showcase</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Choose Your Challenge</a:t>
            </a:r>
            <a:endParaRPr lang="en-US" sz="3000" dirty="0"/>
          </a:p>
        </p:txBody>
      </p:sp>
      <p:sp>
        <p:nvSpPr>
          <p:cNvPr id="3" name="lvl0"/>
          <p:cNvSpPr/>
          <p:nvPr/>
        </p:nvSpPr>
        <p:spPr>
          <a:xfrm>
            <a:off x="457200" y="1188720"/>
            <a:ext cx="2596896" cy="3246120"/>
          </a:xfrm>
          <a:prstGeom prst="roundRect">
            <a:avLst>
              <a:gd name="adj" fmla="val 4225"/>
            </a:avLst>
          </a:prstGeom>
          <a:solidFill>
            <a:srgbClr val="F3F5F6"/>
          </a:solidFill>
          <a:ln w="12700">
            <a:solidFill>
              <a:srgbClr val="F3F5F6"/>
            </a:solidFill>
            <a:prstDash val="solid"/>
          </a:ln>
        </p:spPr>
      </p:sp>
      <p:sp>
        <p:nvSpPr>
          <p:cNvPr id="4" name="Shape 2"/>
          <p:cNvSpPr/>
          <p:nvPr/>
        </p:nvSpPr>
        <p:spPr>
          <a:xfrm>
            <a:off x="640080" y="1371600"/>
            <a:ext cx="640080" cy="640080"/>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1417320" y="1417320"/>
            <a:ext cx="1554480" cy="54864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Beginning</a:t>
            </a:r>
            <a:endParaRPr lang="en-US" sz="2000" dirty="0"/>
          </a:p>
        </p:txBody>
      </p:sp>
      <p:sp>
        <p:nvSpPr>
          <p:cNvPr id="7" name="Text 4"/>
          <p:cNvSpPr txBox="1"/>
          <p:nvPr/>
        </p:nvSpPr>
        <p:spPr>
          <a:xfrm>
            <a:off x="640080"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Present with the sentence starter card and a partner beside you.</a:t>
            </a:r>
            <a:endParaRPr lang="en-US" sz="1400" dirty="0"/>
          </a:p>
        </p:txBody>
      </p:sp>
      <p:sp>
        <p:nvSpPr>
          <p:cNvPr id="8" name="lvl1"/>
          <p:cNvSpPr/>
          <p:nvPr/>
        </p:nvSpPr>
        <p:spPr>
          <a:xfrm>
            <a:off x="3273552" y="1188720"/>
            <a:ext cx="2596896" cy="3246120"/>
          </a:xfrm>
          <a:prstGeom prst="roundRect">
            <a:avLst>
              <a:gd name="adj" fmla="val 4225"/>
            </a:avLst>
          </a:prstGeom>
          <a:solidFill>
            <a:srgbClr val="F3F5F6"/>
          </a:solidFill>
          <a:ln w="12700">
            <a:solidFill>
              <a:srgbClr val="F3F5F6"/>
            </a:solidFill>
            <a:prstDash val="solid"/>
          </a:ln>
        </p:spPr>
      </p:sp>
      <p:sp>
        <p:nvSpPr>
          <p:cNvPr id="9" name="Shape 6"/>
          <p:cNvSpPr/>
          <p:nvPr/>
        </p:nvSpPr>
        <p:spPr>
          <a:xfrm>
            <a:off x="3456432" y="1371600"/>
            <a:ext cx="640080" cy="640080"/>
          </a:xfrm>
          <a:prstGeom prst="ellipse">
            <a:avLst/>
          </a:prstGeom>
          <a:solidFill>
            <a:srgbClr val="0E7C80"/>
          </a:solidFill>
          <a:ln w="12700">
            <a:solidFill>
              <a:srgbClr val="0E7C80"/>
            </a:solidFill>
            <a:prstDash val="solid"/>
          </a:ln>
        </p:spPr>
      </p:sp>
      <p:pic>
        <p:nvPicPr>
          <p:cNvPr id="10" name="Image 1" descr="preencoded.png">    </p:cNvPr>
          <p:cNvPicPr>
            <a:picLocks noChangeAspect="1"/>
          </p:cNvPicPr>
          <p:nvPr/>
        </p:nvPicPr>
        <p:blipFill>
          <a:blip r:embed="rId2"/>
          <a:stretch>
            <a:fillRect/>
          </a:stretch>
        </p:blipFill>
        <p:spPr>
          <a:xfrm>
            <a:off x="3610051" y="1525219"/>
            <a:ext cx="332842" cy="332842"/>
          </a:xfrm>
          <a:prstGeom prst="rect">
            <a:avLst/>
          </a:prstGeom>
        </p:spPr>
      </p:pic>
      <p:sp>
        <p:nvSpPr>
          <p:cNvPr id="11" name="Text 7"/>
          <p:cNvSpPr txBox="1"/>
          <p:nvPr/>
        </p:nvSpPr>
        <p:spPr>
          <a:xfrm>
            <a:off x="4233672" y="1417320"/>
            <a:ext cx="1554480" cy="548640"/>
          </a:xfrm>
          <a:prstGeom prst="rect">
            <a:avLst/>
          </a:prstGeom>
          <a:noFill/>
          <a:ln/>
        </p:spPr>
        <p:txBody>
          <a:bodyPr wrap="square" lIns="0" tIns="0" rIns="0" bIns="0" rtlCol="0" anchor="ctr"/>
          <a:lstStyle/>
          <a:p>
            <a:pPr indent="0" marL="0">
              <a:buNone/>
            </a:pPr>
            <a:r>
              <a:rPr lang="en-US" sz="2000" b="1" dirty="0">
                <a:solidFill>
                  <a:srgbClr val="0E7C80"/>
                </a:solidFill>
                <a:latin typeface="Calibri" pitchFamily="34" charset="0"/>
                <a:ea typeface="Calibri" pitchFamily="34" charset="-122"/>
                <a:cs typeface="Calibri" pitchFamily="34" charset="-120"/>
              </a:rPr>
              <a:t>On</a:t>
            </a:r>
            <a:endParaRPr lang="en-US" sz="2000" dirty="0"/>
          </a:p>
        </p:txBody>
      </p:sp>
      <p:sp>
        <p:nvSpPr>
          <p:cNvPr id="12" name="Text 8"/>
          <p:cNvSpPr txBox="1"/>
          <p:nvPr/>
        </p:nvSpPr>
        <p:spPr>
          <a:xfrm>
            <a:off x="3456432"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Present for one minute using three TCD words.</a:t>
            </a:r>
            <a:endParaRPr lang="en-US" sz="1400" dirty="0"/>
          </a:p>
        </p:txBody>
      </p:sp>
      <p:sp>
        <p:nvSpPr>
          <p:cNvPr id="13" name="lvl2"/>
          <p:cNvSpPr/>
          <p:nvPr/>
        </p:nvSpPr>
        <p:spPr>
          <a:xfrm>
            <a:off x="6089904" y="1188720"/>
            <a:ext cx="2596896" cy="3246120"/>
          </a:xfrm>
          <a:prstGeom prst="roundRect">
            <a:avLst>
              <a:gd name="adj" fmla="val 4225"/>
            </a:avLst>
          </a:prstGeom>
          <a:solidFill>
            <a:srgbClr val="F3F5F6"/>
          </a:solidFill>
          <a:ln w="12700">
            <a:solidFill>
              <a:srgbClr val="F3F5F6"/>
            </a:solidFill>
            <a:prstDash val="solid"/>
          </a:ln>
        </p:spPr>
      </p:sp>
      <p:sp>
        <p:nvSpPr>
          <p:cNvPr id="14" name="Shape 10"/>
          <p:cNvSpPr/>
          <p:nvPr/>
        </p:nvSpPr>
        <p:spPr>
          <a:xfrm>
            <a:off x="6272784" y="1371600"/>
            <a:ext cx="640080" cy="640080"/>
          </a:xfrm>
          <a:prstGeom prst="ellipse">
            <a:avLst/>
          </a:prstGeom>
          <a:solidFill>
            <a:srgbClr val="9E1B4B"/>
          </a:solidFill>
          <a:ln w="12700">
            <a:solidFill>
              <a:srgbClr val="9E1B4B"/>
            </a:solidFill>
            <a:prstDash val="solid"/>
          </a:ln>
        </p:spPr>
      </p:sp>
      <p:pic>
        <p:nvPicPr>
          <p:cNvPr id="15" name="Image 2" descr="preencoded.png">    </p:cNvPr>
          <p:cNvPicPr>
            <a:picLocks noChangeAspect="1"/>
          </p:cNvPicPr>
          <p:nvPr/>
        </p:nvPicPr>
        <p:blipFill>
          <a:blip r:embed="rId3"/>
          <a:stretch>
            <a:fillRect/>
          </a:stretch>
        </p:blipFill>
        <p:spPr>
          <a:xfrm>
            <a:off x="6426403" y="1525219"/>
            <a:ext cx="332842" cy="332842"/>
          </a:xfrm>
          <a:prstGeom prst="rect">
            <a:avLst/>
          </a:prstGeom>
        </p:spPr>
      </p:pic>
      <p:sp>
        <p:nvSpPr>
          <p:cNvPr id="16" name="Text 11"/>
          <p:cNvSpPr txBox="1"/>
          <p:nvPr/>
        </p:nvSpPr>
        <p:spPr>
          <a:xfrm>
            <a:off x="7050024" y="1417320"/>
            <a:ext cx="1554480" cy="548640"/>
          </a:xfrm>
          <a:prstGeom prst="rect">
            <a:avLst/>
          </a:prstGeom>
          <a:noFill/>
          <a:ln/>
        </p:spPr>
        <p:txBody>
          <a:bodyPr wrap="square" lIns="0" tIns="0" rIns="0" bIns="0" rtlCol="0" anchor="ctr"/>
          <a:lstStyle/>
          <a:p>
            <a:pPr indent="0" marL="0">
              <a:buNone/>
            </a:pPr>
            <a:r>
              <a:rPr lang="en-US" sz="2000" b="1" dirty="0">
                <a:solidFill>
                  <a:srgbClr val="9E1B4B"/>
                </a:solidFill>
                <a:latin typeface="Calibri" pitchFamily="34" charset="0"/>
                <a:ea typeface="Calibri" pitchFamily="34" charset="-122"/>
                <a:cs typeface="Calibri" pitchFamily="34" charset="-120"/>
              </a:rPr>
              <a:t>Above</a:t>
            </a:r>
            <a:endParaRPr lang="en-US" sz="2000" dirty="0"/>
          </a:p>
        </p:txBody>
      </p:sp>
      <p:sp>
        <p:nvSpPr>
          <p:cNvPr id="17" name="Text 12"/>
          <p:cNvSpPr txBox="1"/>
          <p:nvPr/>
        </p:nvSpPr>
        <p:spPr>
          <a:xfrm>
            <a:off x="6272784"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Present two pieces and explain how one project helped you in another.</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Live Quiz Time</a:t>
            </a:r>
            <a:endParaRPr lang="en-US" sz="3000" dirty="0"/>
          </a:p>
        </p:txBody>
      </p:sp>
      <p:sp>
        <p:nvSpPr>
          <p:cNvPr id="3" name="Shape 1"/>
          <p:cNvSpPr/>
          <p:nvPr/>
        </p:nvSpPr>
        <p:spPr>
          <a:xfrm>
            <a:off x="457200" y="123444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08330" y="1585570"/>
            <a:ext cx="760781" cy="760781"/>
          </a:xfrm>
          <a:prstGeom prst="rect">
            <a:avLst/>
          </a:prstGeom>
        </p:spPr>
      </p:pic>
      <p:sp>
        <p:nvSpPr>
          <p:cNvPr id="5" name="Text 2"/>
          <p:cNvSpPr txBox="1"/>
          <p:nvPr/>
        </p:nvSpPr>
        <p:spPr>
          <a:xfrm>
            <a:off x="2286000" y="1234440"/>
            <a:ext cx="6400800" cy="2194560"/>
          </a:xfrm>
          <a:prstGeom prst="rect">
            <a:avLst/>
          </a:prstGeom>
          <a:noFill/>
          <a:ln/>
        </p:spPr>
        <p:txBody>
          <a:bodyPr wrap="square" lIns="0" tIns="0" rIns="0" bIns="0" rtlCol="0" anchor="t"/>
          <a:lstStyle/>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1. Open the TCD website and tap Join a Quiz.</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2. Enter the quiz code on the board.</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3. Type your Student ID, first name and last name.</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4. Answer 12 questions. Fast and correct answers score more points!</a:t>
            </a:r>
            <a:endParaRPr lang="en-US" sz="1800" dirty="0"/>
          </a:p>
        </p:txBody>
      </p:sp>
      <p:sp>
        <p:nvSpPr>
          <p:cNvPr id="6" name="codeBox"/>
          <p:cNvSpPr/>
          <p:nvPr/>
        </p:nvSpPr>
        <p:spPr>
          <a:xfrm>
            <a:off x="2286000" y="3611880"/>
            <a:ext cx="3840480" cy="777240"/>
          </a:xfrm>
          <a:prstGeom prst="roundRect">
            <a:avLst>
              <a:gd name="adj" fmla="val 14118"/>
            </a:avLst>
          </a:prstGeom>
          <a:solidFill>
            <a:srgbClr val="FFFFFF"/>
          </a:solidFill>
          <a:ln w="12700">
            <a:solidFill>
              <a:srgbClr val="FFFFFF"/>
            </a:solidFill>
            <a:prstDash val="solid"/>
          </a:ln>
        </p:spPr>
      </p:sp>
      <p:sp>
        <p:nvSpPr>
          <p:cNvPr id="7" name="Text 4"/>
          <p:cNvSpPr txBox="1"/>
          <p:nvPr/>
        </p:nvSpPr>
        <p:spPr>
          <a:xfrm>
            <a:off x="2286000" y="3611880"/>
            <a:ext cx="3840480" cy="777240"/>
          </a:xfrm>
          <a:prstGeom prst="rect">
            <a:avLst/>
          </a:prstGeom>
          <a:noFill/>
          <a:ln/>
        </p:spPr>
        <p:txBody>
          <a:bodyPr wrap="square" lIns="0" tIns="0" rIns="0" bIns="0" rtlCol="0" anchor="ctr"/>
          <a:lstStyle/>
          <a:p>
            <a:pPr algn="ctr" indent="0" marL="0">
              <a:buNone/>
            </a:pPr>
            <a:r>
              <a:rPr lang="en-US" sz="2200" b="1" dirty="0">
                <a:solidFill>
                  <a:srgbClr val="0E7C80"/>
                </a:solidFill>
                <a:latin typeface="Calibri" pitchFamily="34" charset="0"/>
                <a:ea typeface="Calibri" pitchFamily="34" charset="-122"/>
                <a:cs typeface="Calibri" pitchFamily="34" charset="-120"/>
              </a:rPr>
              <a:t>Quiz code:  _ _ _ _ _ _</a:t>
            </a:r>
            <a:endParaRPr lang="en-US" sz="22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 Exit Ticket</a:t>
            </a:r>
            <a:endParaRPr lang="en-US" sz="3000" dirty="0"/>
          </a:p>
        </p:txBody>
      </p:sp>
      <p:sp>
        <p:nvSpPr>
          <p:cNvPr id="3" name="ref0"/>
          <p:cNvSpPr/>
          <p:nvPr/>
        </p:nvSpPr>
        <p:spPr>
          <a:xfrm>
            <a:off x="457200" y="1188720"/>
            <a:ext cx="4754880" cy="777240"/>
          </a:xfrm>
          <a:prstGeom prst="roundRect">
            <a:avLst>
              <a:gd name="adj" fmla="val 14118"/>
            </a:avLst>
          </a:prstGeom>
          <a:solidFill>
            <a:srgbClr val="E6F2F2"/>
          </a:solidFill>
          <a:ln w="12700">
            <a:solidFill>
              <a:srgbClr val="E6F2F2"/>
            </a:solidFill>
            <a:prstDash val="solid"/>
          </a:ln>
        </p:spPr>
      </p:sp>
      <p:sp>
        <p:nvSpPr>
          <p:cNvPr id="4" name="Text 2"/>
          <p:cNvSpPr txBox="1"/>
          <p:nvPr/>
        </p:nvSpPr>
        <p:spPr>
          <a:xfrm>
            <a:off x="640080" y="11887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are you most proud of this term?</a:t>
            </a:r>
            <a:endParaRPr lang="en-US" sz="1600" dirty="0"/>
          </a:p>
        </p:txBody>
      </p:sp>
      <p:sp>
        <p:nvSpPr>
          <p:cNvPr id="5" name="ref1"/>
          <p:cNvSpPr/>
          <p:nvPr/>
        </p:nvSpPr>
        <p:spPr>
          <a:xfrm>
            <a:off x="457200" y="2103120"/>
            <a:ext cx="4754880" cy="777240"/>
          </a:xfrm>
          <a:prstGeom prst="roundRect">
            <a:avLst>
              <a:gd name="adj" fmla="val 14118"/>
            </a:avLst>
          </a:prstGeom>
          <a:solidFill>
            <a:srgbClr val="F3F5F6"/>
          </a:solidFill>
          <a:ln w="12700">
            <a:solidFill>
              <a:srgbClr val="F3F5F6"/>
            </a:solidFill>
            <a:prstDash val="solid"/>
          </a:ln>
        </p:spPr>
      </p:sp>
      <p:sp>
        <p:nvSpPr>
          <p:cNvPr id="6" name="Text 4"/>
          <p:cNvSpPr txBox="1"/>
          <p:nvPr/>
        </p:nvSpPr>
        <p:spPr>
          <a:xfrm>
            <a:off x="640080" y="21031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do you want to learn in Term 2?</a:t>
            </a:r>
            <a:endParaRPr lang="en-US" sz="1600" dirty="0"/>
          </a:p>
        </p:txBody>
      </p:sp>
      <p:sp>
        <p:nvSpPr>
          <p:cNvPr id="7" name="Text 5"/>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Check your success criteria</a:t>
            </a:r>
            <a:endParaRPr lang="en-US" sz="1500" dirty="0"/>
          </a:p>
        </p:txBody>
      </p:sp>
      <p:sp>
        <p:nvSpPr>
          <p:cNvPr id="8" name="Text 6"/>
          <p:cNvSpPr txBox="1"/>
          <p:nvPr/>
        </p:nvSpPr>
        <p:spPr>
          <a:xfrm>
            <a:off x="5577840" y="164592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choose my best piece of work and explain why.</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present using TCD words like algorithm, sensor, STL, bleed and logo.</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link one project to another.</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complete the Term 1 final quiz.</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TCD Dubai">
  <a:themeElements>
    <a:clrScheme name="TCD Dubai">
      <a:dk1>
        <a:srgbClr val="1F2A33"/>
      </a:dk1>
      <a:lt1>
        <a:srgbClr val="FFFFFF"/>
      </a:lt1>
      <a:dk2>
        <a:srgbClr val="0E7C80"/>
      </a:dk2>
      <a:lt2>
        <a:srgbClr val="E6F2F2"/>
      </a:lt2>
      <a:accent1>
        <a:srgbClr val="0E7C80"/>
      </a:accent1>
      <a:accent2>
        <a:srgbClr val="9E1B4B"/>
      </a:accent2>
      <a:accent3>
        <a:srgbClr val="F2A31B"/>
      </a:accent3>
      <a:accent4>
        <a:srgbClr val="2E8B57"/>
      </a:accent4>
      <a:accent5>
        <a:srgbClr val="3A6EA5"/>
      </a:accent5>
      <a:accent6>
        <a:srgbClr val="5F6B73"/>
      </a:accent6>
      <a:hlink>
        <a:srgbClr val="0E7C80"/>
      </a:hlink>
      <a:folHlink>
        <a:srgbClr val="9E1B4B"/>
      </a:folHlink>
    </a:clrScheme>
    <a:fontScheme name="TCD Dub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Emirates National Schools TCD Dubai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Term 1 Showcase: Term 1 Showcase and Presentation</dc:title>
  <dc:subject>PptxGenJS Presentation</dc:subject>
  <dc:creator>Ms. Lubna Kakkengal and Mr. Dilan Devendra</dc:creator>
  <cp:lastModifiedBy>Ms. Lubna Kakkengal and Mr. Dilan Devendra</cp:lastModifiedBy>
  <cp:revision>1</cp:revision>
  <dcterms:created xsi:type="dcterms:W3CDTF">2026-10-24T13:20:58Z</dcterms:created>
  <dcterms:modified xsi:type="dcterms:W3CDTF">2026-10-24T13:20:58Z</dcterms:modified>
</cp:coreProperties>
</file>