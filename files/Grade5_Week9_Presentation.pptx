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bc135e00-51c7-a2f5-1164-954a2347d6d9}">
          <p14:sldIdLst>
            <p14:sldId id="256"/>
            <p14:sldId id="257"/>
            <p14:sldId id="258"/>
            <p14:sldId id="259"/>
            <p14:sldId id="260"/>
          </p14:sldIdLst>
        </p14:section>
        <p14:section name="Learn" id="{2c0d287b-f234-08d7-873b-c03480492010}">
          <p14:sldIdLst>
            <p14:sldId id="261"/>
            <p14:sldId id="262"/>
            <p14:sldId id="263"/>
            <p14:sldId id="264"/>
          </p14:sldIdLst>
        </p14:section>
        <p14:section name="Make" id="{3351d1ff-1c5a-041a-d615-8d8bddfcbdcc}">
          <p14:sldIdLst>
            <p14:sldId id="265"/>
            <p14:sldId id="266"/>
            <p14:sldId id="267"/>
            <p14:sldId id="268"/>
          </p14:sldIdLst>
        </p14:section>
        <p14:section name="Check" id="{eab044da-4821-585d-19a5-45614b9aee82}">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Grade 5 TCD class, Junior Designer Challenge Session 1 of 5 (1 hour 30 minutes). Students learn the Tinkercad basics, including shapes, holes, sizing in millimetres, align and group, by designing a simple keychain or name tag.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the hook video on the TCD website (lesson page, Hook Video tab). Then ask: How do designers turn an idea on a screen into an object you can hold?
Video scenes: Every object starts as a design: Phone cases, toys and car parts are designed on a computer first. | Tinkercad: A free 3D design tool used by students and engineers. | Solids and holes: Add shapes, cut holes, join them together. | Today's mission: Design a keychain or name tag that is ready to print.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learning goal together. Students rate themselves now (1 to 3 fingers) for each success criterion and again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Warm-up (5 min): Hold up a keychain, a coin and a pencil. Students guess the length of each in millimetres and write it down. Measure together with a ruler. Who was closest? Why do designers use millimetres?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Pre-teach vocabulary: Tinkercad, workplane, millimetre, solid, hole, align, group, dimensions. Point to the word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Tinkercad screen: The workplane is the blue grid where you build. Basic shapes are on the right. Use the view cube to look from different sides. Zoom with the mouse wheel or two fingers.
Tinkercad is a free 3D design tool. You build on the workplane using solid shapes, which add material, and hole shapes, which take material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Solids and holes: A solid shape adds material. A hole shape removes material. Place a hole cylinder where the keyring goes. Group the solid and the hole to cut it out.
Designers measure in millimetres because they need to be exact. 10 millimetres make 1 centimetre.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Size in millimetres: Click a shape to see its white size handles. Type exact numbers in millimetres. Our keychain: about 50 mm long, 20 mm wide and 3 mm thick. Ring hole: 4 mm wide, at least 3 mm from the edge.
Align lines shapes up perfectly. Group joins shapes together into one object. When you group a solid with a hole, the hole is cut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Align, group and text: Align lines up shapes perfectly. Group joins shapes into one object. Add the Text shape for your name and make it 1 mm taller than the base. Name your design and save it.
Align lines shapes up perfectly. Group joins shapes together into one object. When you group a solid with a hole, the hole is cut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each step. 1. Drag a box onto the workplane 2. Set the size to 50 x 20 x 3 mm 3. Add a 4 mm hole cylinder near one end 4. Group to cut the hole 5. Add your name with the Text shape 6. Align, group and rename your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rule aloud. Students repeat the rule and show the action. Do not continue until every student can say the rules. Sit correctly and keep drinks away from devices. Log in only with your own class account. Save your work often.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practice. Design a keychain or a name tag. Make it 50 x 20 x 3 mm (or your own size, up to 60 mm). Add a 4 mm ring hole and your name. Check it against the size checklist and save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choose a level. Encourage them to try the next level once they finish.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Instructor: open this lesson on the TCD website, press Start Live Quiz, and write the code on the board. Questions: 1. What is the blue grid in Tinkercad called? 2. What does a hole shape do? 3. Which unit do we use for sizes in Tinkercad? 4. How many millimetres are in 1 centimetre? 5. What does Group do? 6. What does Align do? 7. Our keychain is 3 mm thick. Which handle changes the thickness? 8. Why do we leave space between the ring hole and the 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Closure: Three students share their screen and explain one tool. Exit ticket (slide 15). Check every design is saved and named.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CD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394960" y="0"/>
            <a:ext cx="3749040" cy="5143500"/>
          </a:xfrm>
          <a:prstGeom prst="rect">
            <a:avLst/>
          </a:prstGeom>
          <a:solidFill>
            <a:schemeClr val="accent1"/>
          </a:solidFill>
          <a:ln/>
        </p:spPr>
      </p:sp>
      <p:pic>
        <p:nvPicPr>
          <p:cNvPr id="3" name="Image 0" descr="preencoded.png">    </p:cNvPr>
          <p:cNvPicPr>
            <a:picLocks noChangeAspect="1"/>
          </p:cNvPicPr>
          <p:nvPr/>
        </p:nvPicPr>
        <p:blipFill>
          <a:blip r:embed="rId1"/>
          <a:stretch>
            <a:fillRect/>
          </a:stretch>
        </p:blipFill>
        <p:spPr>
          <a:xfrm>
            <a:off x="457200" y="411480"/>
            <a:ext cx="2377440" cy="722376"/>
          </a:xfrm>
          <a:prstGeom prst="rect">
            <a:avLst/>
          </a:prstGeom>
        </p:spPr>
      </p:pic>
      <p:sp>
        <p:nvSpPr>
          <p:cNvPr id="4" name="Text 1"/>
          <p:cNvSpPr/>
          <p:nvPr>
            <p:ph idx="102" type="title" hasCustomPrompt="1"/>
          </p:nvPr>
        </p:nvSpPr>
        <p:spPr>
          <a:xfrm>
            <a:off x="457200" y="1600200"/>
            <a:ext cx="4663440" cy="1554480"/>
          </a:xfrm>
          <a:prstGeom prst="rect">
            <a:avLst/>
          </a:prstGeom>
          <a:noFill/>
          <a:ln/>
        </p:spPr>
        <p:txBody>
          <a:bodyPr wrap="square" rtlCol="0"/>
          <a:lstStyle>
            <a:lvl1pPr indent="0" marL="0">
              <a:buNone/>
              <a:defRPr lang="en-US" sz="3400" b="1" dirty="0">
                <a:solidFill>
                  <a:schemeClr val="tx1"/>
                </a:solidFill>
              </a:defRPr>
            </a:lvl1pPr>
          </a:lstStyle>
          <a:p>
            <a:pPr indent="0" marL="0">
              <a:buNone/>
            </a:pPr>
            <a:endParaRPr lang="en-US" sz="3400" dirty="0"/>
          </a:p>
        </p:txBody>
      </p:sp>
      <p:sp>
        <p:nvSpPr>
          <p:cNvPr id="5" name="Text 1"/>
          <p:cNvSpPr/>
          <p:nvPr>
            <p:ph idx="103" type="body" hasCustomPrompt="1"/>
          </p:nvPr>
        </p:nvSpPr>
        <p:spPr>
          <a:xfrm>
            <a:off x="457200" y="3291840"/>
            <a:ext cx="4663440" cy="1097280"/>
          </a:xfrm>
          <a:prstGeom prst="rect">
            <a:avLst/>
          </a:prstGeom>
          <a:noFill/>
          <a:ln/>
        </p:spPr>
        <p:txBody>
          <a:bodyPr wrap="square" rtlCol="0"/>
          <a:lstStyle>
            <a:lvl1pPr indent="0" marL="0">
              <a:buNone/>
              <a:defRPr lang="en-US" sz="1500" dirty="0">
                <a:solidFill>
                  <a:schemeClr val="accent6"/>
                </a:solidFill>
              </a:defRPr>
            </a:lvl1pPr>
          </a:lstStyle>
          <a:p>
            <a:pPr indent="0" marL="0">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CD_CONTENT">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726680" y="4663440"/>
            <a:ext cx="1051560" cy="320040"/>
          </a:xfrm>
          <a:prstGeom prst="rect">
            <a:avLst/>
          </a:prstGeom>
        </p:spPr>
      </p:pic>
      <p:sp>
        <p:nvSpPr>
          <p:cNvPr id="3" name="Text 0"/>
          <p:cNvSpPr/>
          <p:nvPr/>
        </p:nvSpPr>
        <p:spPr>
          <a:xfrm>
            <a:off x="457200" y="4681728"/>
            <a:ext cx="5943600" cy="274320"/>
          </a:xfrm>
          <a:prstGeom prst="rect">
            <a:avLst/>
          </a:prstGeom>
          <a:noFill/>
          <a:ln/>
        </p:spPr>
        <p:txBody>
          <a:bodyPr wrap="square" lIns="0" tIns="0" rIns="0" bIns="0" rtlCol="0" anchor="ctr"/>
          <a:lstStyle/>
          <a:p>
            <a:pPr indent="0" marL="0">
              <a:buNone/>
            </a:pPr>
            <a:r>
              <a:rPr lang="en-US" sz="900" dirty="0">
                <a:solidFill>
                  <a:schemeClr val="accent6"/>
                </a:solidFill>
              </a:rPr>
              <a:t>Grade 5  |  Term 1, Week 9  |  Junior Designer Challenge</a:t>
            </a:r>
            <a:endParaRPr lang="en-US" sz="900" dirty="0"/>
          </a:p>
        </p:txBody>
      </p:sp>
      <p:sp>
        <p:nvSpPr>
          <p:cNvPr id="4" name="Text 1"/>
          <p:cNvSpPr/>
          <p:nvPr>
            <p:ph idx="102" type="title" hasCustomPrompt="1"/>
          </p:nvPr>
        </p:nvSpPr>
        <p:spPr>
          <a:xfrm>
            <a:off x="457200" y="274320"/>
            <a:ext cx="8229600" cy="685800"/>
          </a:xfrm>
          <a:prstGeom prst="rect">
            <a:avLst/>
          </a:prstGeom>
          <a:noFill/>
          <a:ln/>
        </p:spPr>
        <p:txBody>
          <a:bodyPr wrap="square" rtlCol="0"/>
          <a:lstStyle>
            <a:lvl1pPr indent="0" marL="0">
              <a:buNone/>
              <a:defRPr lang="en-US" sz="3000" b="1" dirty="0">
                <a:solidFill>
                  <a:schemeClr val="tx2"/>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CD_DARK">
    <p:bg>
      <p:bgPr>
        <a:solidFill>
          <a:schemeClr val="accent1"/>
        </a:solidFill>
      </p:bgPr>
    </p:bg>
    <p:spTree>
      <p:nvGrpSpPr>
        <p:cNvPr id="1" name=""/>
        <p:cNvGrpSpPr/>
        <p:nvPr/>
      </p:nvGrpSpPr>
      <p:grpSpPr>
        <a:xfrm>
          <a:off x="0" y="0"/>
          <a:ext cx="0" cy="0"/>
          <a:chOff x="0" y="0"/>
          <a:chExt cx="0" cy="0"/>
        </a:xfrm>
      </p:grpSpPr>
      <p:sp>
        <p:nvSpPr>
          <p:cNvPr id="2" name="Shape 0"/>
          <p:cNvSpPr/>
          <p:nvPr/>
        </p:nvSpPr>
        <p:spPr>
          <a:xfrm>
            <a:off x="7589520" y="4553712"/>
            <a:ext cx="1325880" cy="457200"/>
          </a:xfrm>
          <a:prstGeom prst="rect">
            <a:avLst>
              <a:gd name="adj" fmla="val 16000"/>
            </a:avLst>
          </a:prstGeom>
          <a:solidFill>
            <a:srgbClr val="FFFFFF"/>
          </a:solidFill>
          <a:ln/>
        </p:spPr>
      </p:sp>
      <p:pic>
        <p:nvPicPr>
          <p:cNvPr id="3" name="Image 0" descr="preencoded.png">    </p:cNvPr>
          <p:cNvPicPr>
            <a:picLocks noChangeAspect="1"/>
          </p:cNvPicPr>
          <p:nvPr/>
        </p:nvPicPr>
        <p:blipFill>
          <a:blip r:embed="rId1"/>
          <a:stretch>
            <a:fillRect/>
          </a:stretch>
        </p:blipFill>
        <p:spPr>
          <a:xfrm>
            <a:off x="7680960" y="4617720"/>
            <a:ext cx="1143000" cy="347472"/>
          </a:xfrm>
          <a:prstGeom prst="rect">
            <a:avLst/>
          </a:prstGeom>
        </p:spPr>
      </p:pic>
      <p:sp>
        <p:nvSpPr>
          <p:cNvPr id="4" name="Text 1"/>
          <p:cNvSpPr/>
          <p:nvPr>
            <p:ph idx="102" type="title" hasCustomPrompt="1"/>
          </p:nvPr>
        </p:nvSpPr>
        <p:spPr>
          <a:xfrm>
            <a:off x="457200" y="320040"/>
            <a:ext cx="8229600" cy="685800"/>
          </a:xfrm>
          <a:prstGeom prst="rect">
            <a:avLst/>
          </a:prstGeom>
          <a:noFill/>
          <a:ln/>
        </p:spPr>
        <p:txBody>
          <a:bodyPr wrap="square" rtlCol="0"/>
          <a:lstStyle>
            <a:lvl1pPr indent="0" marL="0">
              <a:buNone/>
              <a:defRPr lang="en-US" sz="3000" b="1" dirty="0">
                <a:solidFill>
                  <a:schemeClr val="bg1"/>
                </a:solidFill>
              </a:defRPr>
            </a:lvl1pPr>
          </a:lstStyle>
          <a:p>
            <a:pPr indent="0" marL="0">
              <a:buNone/>
            </a:pPr>
            <a:endParaRPr lang="en-US" sz="30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3.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2" type="title" hasCustomPrompt="1"/>
          </p:nvPr>
        </p:nvSpPr>
        <p:spPr>
          <a:xfrm>
            <a:off x="457200" y="1600200"/>
            <a:ext cx="4663440" cy="1554480"/>
          </a:xfrm>
          <a:prstGeom prst="rect">
            <a:avLst/>
          </a:prstGeom>
          <a:noFill/>
          <a:ln/>
        </p:spPr>
        <p:txBody>
          <a:bodyPr wrap="square" lIns="0" tIns="0" rIns="0" bIns="0" rtlCol="0" anchor="t"/>
          <a:lstStyle/>
          <a:p>
            <a:pPr indent="0" marL="0">
              <a:buNone/>
            </a:pPr>
            <a:r>
              <a:rPr lang="en-US" sz="3400" b="1" dirty="0">
                <a:solidFill>
                  <a:schemeClr val="tx1"/>
                </a:solidFill>
              </a:rPr>
              <a:t>Tinkercad Basics: Keychain or Name Tag</a:t>
            </a:r>
            <a:endParaRPr lang="en-US" sz="3400" dirty="0"/>
          </a:p>
        </p:txBody>
      </p:sp>
      <p:sp>
        <p:nvSpPr>
          <p:cNvPr id="3" name="Text 1"/>
          <p:cNvSpPr/>
          <p:nvPr>
            <p:ph idx="103" type="body" hasCustomPrompt="1"/>
          </p:nvPr>
        </p:nvSpPr>
        <p:spPr>
          <a:xfrm>
            <a:off x="457200" y="3291840"/>
            <a:ext cx="4663440" cy="1097280"/>
          </a:xfrm>
          <a:prstGeom prst="rect">
            <a:avLst/>
          </a:prstGeom>
          <a:noFill/>
          <a:ln/>
        </p:spPr>
        <p:txBody>
          <a:bodyPr wrap="square" lIns="0" tIns="0" rIns="0" bIns="0" rtlCol="0" anchor="t"/>
          <a:lstStyle/>
          <a:p>
            <a:pPr indent="0" marL="0">
              <a:buNone/>
            </a:pPr>
            <a:r>
              <a:rPr lang="en-US" sz="1500" dirty="0">
                <a:solidFill>
                  <a:schemeClr val="accent6"/>
                </a:solidFill>
              </a:rPr>
              <a:t>Junior Designer Challenge</a:t>
            </a:r>
            <a:endParaRPr lang="en-US" sz="1500" dirty="0"/>
          </a:p>
          <a:p>
            <a:pPr indent="0" marL="0">
              <a:buNone/>
            </a:pPr>
            <a:r>
              <a:rPr lang="en-US" sz="1500" dirty="0">
                <a:solidFill>
                  <a:schemeClr val="accent6"/>
                </a:solidFill>
              </a:rPr>
              <a:t>Grade 5  |  Term 1  |  Week 9 (26 Oct to 30 Oct)</a:t>
            </a:r>
            <a:endParaRPr lang="en-US" sz="1500" dirty="0"/>
          </a:p>
        </p:txBody>
      </p:sp>
      <p:sp>
        <p:nvSpPr>
          <p:cNvPr id="4" name="Text 2"/>
          <p:cNvSpPr txBox="1"/>
          <p:nvPr/>
        </p:nvSpPr>
        <p:spPr>
          <a:xfrm>
            <a:off x="457200" y="1234440"/>
            <a:ext cx="4663440" cy="274320"/>
          </a:xfrm>
          <a:prstGeom prst="rect">
            <a:avLst/>
          </a:prstGeom>
          <a:noFill/>
          <a:ln/>
        </p:spPr>
        <p:txBody>
          <a:bodyPr wrap="square" lIns="0" tIns="0" rIns="0" bIns="0" rtlCol="0" anchor="ctr"/>
          <a:lstStyle/>
          <a:p>
            <a:pPr indent="0" marL="0">
              <a:buNone/>
            </a:pPr>
            <a:r>
              <a:rPr lang="en-US" sz="1100" b="1" spc="100" kern="0" dirty="0">
                <a:solidFill>
                  <a:schemeClr val="accent2"/>
                </a:solidFill>
                <a:latin typeface="Calibri" pitchFamily="34" charset="0"/>
                <a:ea typeface="Calibri" pitchFamily="34" charset="-122"/>
                <a:cs typeface="Calibri" pitchFamily="34" charset="-120"/>
              </a:rPr>
              <a:t>JUNIOR DESIGNER CHALLENGE</a:t>
            </a:r>
            <a:endParaRPr lang="en-US" sz="1100" dirty="0"/>
          </a:p>
        </p:txBody>
      </p:sp>
      <p:sp>
        <p:nvSpPr>
          <p:cNvPr id="5" name="Shape 3"/>
          <p:cNvSpPr/>
          <p:nvPr/>
        </p:nvSpPr>
        <p:spPr>
          <a:xfrm>
            <a:off x="6355080" y="914400"/>
            <a:ext cx="1828800" cy="18288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6793992" y="1353312"/>
            <a:ext cx="950976" cy="950976"/>
          </a:xfrm>
          <a:prstGeom prst="rect">
            <a:avLst/>
          </a:prstGeom>
        </p:spPr>
      </p:pic>
      <p:sp>
        <p:nvSpPr>
          <p:cNvPr id="7" name="Text 4"/>
          <p:cNvSpPr txBox="1"/>
          <p:nvPr/>
        </p:nvSpPr>
        <p:spPr>
          <a:xfrm>
            <a:off x="5669280" y="3063240"/>
            <a:ext cx="3200400" cy="320040"/>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Technology and Career Centre, Dubai</a:t>
            </a:r>
            <a:endParaRPr lang="en-US" sz="1300" dirty="0"/>
          </a:p>
        </p:txBody>
      </p:sp>
      <p:sp>
        <p:nvSpPr>
          <p:cNvPr id="8" name="Text 5"/>
          <p:cNvSpPr txBox="1"/>
          <p:nvPr/>
        </p:nvSpPr>
        <p:spPr>
          <a:xfrm>
            <a:off x="5669280" y="3429000"/>
            <a:ext cx="3200400" cy="548640"/>
          </a:xfrm>
          <a:prstGeom prst="rect">
            <a:avLst/>
          </a:prstGeom>
          <a:noFill/>
          <a:ln/>
        </p:spPr>
        <p:txBody>
          <a:bodyPr wrap="square" lIns="0" tIns="0" rIns="0" bIns="0" rtlCol="0" anchor="ctr"/>
          <a:lstStyle/>
          <a:p>
            <a:pPr algn="ctr" indent="0" marL="0">
              <a:buNone/>
            </a:pPr>
            <a:r>
              <a:rPr lang="en-US" sz="1200" dirty="0">
                <a:solidFill>
                  <a:schemeClr val="bg1"/>
                </a:solidFill>
                <a:latin typeface="Calibri" pitchFamily="34" charset="0"/>
                <a:ea typeface="Calibri" pitchFamily="34" charset="-122"/>
                <a:cs typeface="Calibri" pitchFamily="34" charset="-120"/>
              </a:rPr>
              <a:t>Ms. Lubna Kakkengal and Mr. Dilan Devendra</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chemeClr val="bg1"/>
                </a:solidFill>
              </a:rPr>
              <a:t>Hook</a:t>
            </a:r>
            <a:endParaRPr lang="en-US" sz="3000" dirty="0"/>
          </a:p>
        </p:txBody>
      </p:sp>
      <p:sp>
        <p:nvSpPr>
          <p:cNvPr id="3" name="Text 1"/>
          <p:cNvSpPr txBox="1"/>
          <p:nvPr/>
        </p:nvSpPr>
        <p:spPr>
          <a:xfrm>
            <a:off x="457200" y="1097280"/>
            <a:ext cx="8229600" cy="1097280"/>
          </a:xfrm>
          <a:prstGeom prst="rect">
            <a:avLst/>
          </a:prstGeom>
          <a:noFill/>
          <a:ln/>
        </p:spPr>
        <p:txBody>
          <a:bodyPr wrap="square" lIns="0" tIns="0" rIns="0" bIns="0" rtlCol="0" anchor="t"/>
          <a:lstStyle/>
          <a:p>
            <a:pPr indent="0" marL="0">
              <a:buNone/>
            </a:pPr>
            <a:r>
              <a:rPr lang="en-US" sz="2400" b="1" dirty="0">
                <a:solidFill>
                  <a:schemeClr val="bg1"/>
                </a:solidFill>
                <a:latin typeface="Calibri" pitchFamily="34" charset="0"/>
                <a:ea typeface="Calibri" pitchFamily="34" charset="-122"/>
                <a:cs typeface="Calibri" pitchFamily="34" charset="-120"/>
              </a:rPr>
              <a:t>How do designers turn an idea on a screen into an object you can hold?</a:t>
            </a:r>
            <a:endParaRPr lang="en-US" sz="2400" dirty="0"/>
          </a:p>
        </p:txBody>
      </p:sp>
      <p:sp>
        <p:nvSpPr>
          <p:cNvPr id="4" name="scene0"/>
          <p:cNvSpPr/>
          <p:nvPr/>
        </p:nvSpPr>
        <p:spPr>
          <a:xfrm>
            <a:off x="457200" y="2423160"/>
            <a:ext cx="1885950" cy="1874520"/>
          </a:xfrm>
          <a:prstGeom prst="roundRect">
            <a:avLst>
              <a:gd name="adj" fmla="val 5854"/>
            </a:avLst>
          </a:prstGeom>
          <a:solidFill>
            <a:srgbClr val="0A5C5F"/>
          </a:solidFill>
          <a:ln w="12700">
            <a:solidFill>
              <a:srgbClr val="0A5C5F"/>
            </a:solidFill>
            <a:prstDash val="solid"/>
          </a:ln>
        </p:spPr>
      </p:sp>
      <p:sp>
        <p:nvSpPr>
          <p:cNvPr id="5" name="Text 3"/>
          <p:cNvSpPr txBox="1"/>
          <p:nvPr/>
        </p:nvSpPr>
        <p:spPr>
          <a:xfrm>
            <a:off x="59436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Every object starts as a design</a:t>
            </a:r>
            <a:endParaRPr lang="en-US" sz="1400" dirty="0"/>
          </a:p>
        </p:txBody>
      </p:sp>
      <p:sp>
        <p:nvSpPr>
          <p:cNvPr id="6" name="Text 4"/>
          <p:cNvSpPr txBox="1"/>
          <p:nvPr/>
        </p:nvSpPr>
        <p:spPr>
          <a:xfrm>
            <a:off x="59436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Phone cases, toys and car parts are designed on a computer first.</a:t>
            </a:r>
            <a:endParaRPr lang="en-US" sz="1300" dirty="0"/>
          </a:p>
        </p:txBody>
      </p:sp>
      <p:sp>
        <p:nvSpPr>
          <p:cNvPr id="7" name="scene1"/>
          <p:cNvSpPr/>
          <p:nvPr/>
        </p:nvSpPr>
        <p:spPr>
          <a:xfrm>
            <a:off x="2571750" y="2423160"/>
            <a:ext cx="1885950" cy="1874520"/>
          </a:xfrm>
          <a:prstGeom prst="roundRect">
            <a:avLst>
              <a:gd name="adj" fmla="val 5854"/>
            </a:avLst>
          </a:prstGeom>
          <a:solidFill>
            <a:srgbClr val="0A5C5F"/>
          </a:solidFill>
          <a:ln w="12700">
            <a:solidFill>
              <a:srgbClr val="0A5C5F"/>
            </a:solidFill>
            <a:prstDash val="solid"/>
          </a:ln>
        </p:spPr>
      </p:sp>
      <p:sp>
        <p:nvSpPr>
          <p:cNvPr id="8" name="Text 6"/>
          <p:cNvSpPr txBox="1"/>
          <p:nvPr/>
        </p:nvSpPr>
        <p:spPr>
          <a:xfrm>
            <a:off x="270891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Tinkercad</a:t>
            </a:r>
            <a:endParaRPr lang="en-US" sz="1400" dirty="0"/>
          </a:p>
        </p:txBody>
      </p:sp>
      <p:sp>
        <p:nvSpPr>
          <p:cNvPr id="9" name="Text 7"/>
          <p:cNvSpPr txBox="1"/>
          <p:nvPr/>
        </p:nvSpPr>
        <p:spPr>
          <a:xfrm>
            <a:off x="270891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A free 3D design tool used by students and engineers.</a:t>
            </a:r>
            <a:endParaRPr lang="en-US" sz="1300" dirty="0"/>
          </a:p>
        </p:txBody>
      </p:sp>
      <p:sp>
        <p:nvSpPr>
          <p:cNvPr id="10" name="scene2"/>
          <p:cNvSpPr/>
          <p:nvPr/>
        </p:nvSpPr>
        <p:spPr>
          <a:xfrm>
            <a:off x="4686300" y="2423160"/>
            <a:ext cx="1885950" cy="1874520"/>
          </a:xfrm>
          <a:prstGeom prst="roundRect">
            <a:avLst>
              <a:gd name="adj" fmla="val 5854"/>
            </a:avLst>
          </a:prstGeom>
          <a:solidFill>
            <a:srgbClr val="0A5C5F"/>
          </a:solidFill>
          <a:ln w="12700">
            <a:solidFill>
              <a:srgbClr val="0A5C5F"/>
            </a:solidFill>
            <a:prstDash val="solid"/>
          </a:ln>
        </p:spPr>
      </p:sp>
      <p:sp>
        <p:nvSpPr>
          <p:cNvPr id="11" name="Text 9"/>
          <p:cNvSpPr txBox="1"/>
          <p:nvPr/>
        </p:nvSpPr>
        <p:spPr>
          <a:xfrm>
            <a:off x="482346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Solids and holes</a:t>
            </a:r>
            <a:endParaRPr lang="en-US" sz="1400" dirty="0"/>
          </a:p>
        </p:txBody>
      </p:sp>
      <p:sp>
        <p:nvSpPr>
          <p:cNvPr id="12" name="Text 10"/>
          <p:cNvSpPr txBox="1"/>
          <p:nvPr/>
        </p:nvSpPr>
        <p:spPr>
          <a:xfrm>
            <a:off x="482346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Add shapes, cut holes, join them together.</a:t>
            </a:r>
            <a:endParaRPr lang="en-US" sz="1300" dirty="0"/>
          </a:p>
        </p:txBody>
      </p:sp>
      <p:sp>
        <p:nvSpPr>
          <p:cNvPr id="13" name="scene3"/>
          <p:cNvSpPr/>
          <p:nvPr/>
        </p:nvSpPr>
        <p:spPr>
          <a:xfrm>
            <a:off x="6800850" y="2423160"/>
            <a:ext cx="1885950" cy="1874520"/>
          </a:xfrm>
          <a:prstGeom prst="roundRect">
            <a:avLst>
              <a:gd name="adj" fmla="val 5854"/>
            </a:avLst>
          </a:prstGeom>
          <a:solidFill>
            <a:srgbClr val="0A5C5F"/>
          </a:solidFill>
          <a:ln w="12700">
            <a:solidFill>
              <a:srgbClr val="0A5C5F"/>
            </a:solidFill>
            <a:prstDash val="solid"/>
          </a:ln>
        </p:spPr>
      </p:sp>
      <p:sp>
        <p:nvSpPr>
          <p:cNvPr id="14" name="Text 12"/>
          <p:cNvSpPr txBox="1"/>
          <p:nvPr/>
        </p:nvSpPr>
        <p:spPr>
          <a:xfrm>
            <a:off x="6938010" y="2560320"/>
            <a:ext cx="1611630" cy="365760"/>
          </a:xfrm>
          <a:prstGeom prst="rect">
            <a:avLst/>
          </a:prstGeom>
          <a:noFill/>
          <a:ln/>
        </p:spPr>
        <p:txBody>
          <a:bodyPr wrap="square" lIns="0" tIns="0" rIns="0" bIns="0" rtlCol="0" anchor="ctr"/>
          <a:lstStyle/>
          <a:p>
            <a:pPr indent="0" marL="0">
              <a:buNone/>
            </a:pPr>
            <a:r>
              <a:rPr lang="en-US" sz="1400" b="1" dirty="0">
                <a:solidFill>
                  <a:srgbClr val="F2A31B"/>
                </a:solidFill>
                <a:latin typeface="Calibri" pitchFamily="34" charset="0"/>
                <a:ea typeface="Calibri" pitchFamily="34" charset="-122"/>
                <a:cs typeface="Calibri" pitchFamily="34" charset="-120"/>
              </a:rPr>
              <a:t>Today's mission</a:t>
            </a:r>
            <a:endParaRPr lang="en-US" sz="1400" dirty="0"/>
          </a:p>
        </p:txBody>
      </p:sp>
      <p:sp>
        <p:nvSpPr>
          <p:cNvPr id="15" name="Text 13"/>
          <p:cNvSpPr txBox="1"/>
          <p:nvPr/>
        </p:nvSpPr>
        <p:spPr>
          <a:xfrm>
            <a:off x="6938010" y="2944368"/>
            <a:ext cx="1611630" cy="1280160"/>
          </a:xfrm>
          <a:prstGeom prst="rect">
            <a:avLst/>
          </a:prstGeom>
          <a:noFill/>
          <a:ln/>
        </p:spPr>
        <p:txBody>
          <a:bodyPr wrap="square" lIns="0" tIns="0" rIns="0" bIns="0" rtlCol="0" anchor="t"/>
          <a:lstStyle/>
          <a:p>
            <a:pPr indent="0" marL="0">
              <a:buNone/>
            </a:pPr>
            <a:r>
              <a:rPr lang="en-US" sz="1300" dirty="0">
                <a:solidFill>
                  <a:schemeClr val="bg1"/>
                </a:solidFill>
                <a:latin typeface="Calibri" pitchFamily="34" charset="0"/>
                <a:ea typeface="Calibri" pitchFamily="34" charset="-122"/>
                <a:cs typeface="Calibri" pitchFamily="34" charset="-120"/>
              </a:rPr>
              <a:t>Design a keychain or name tag that is ready to print.</a:t>
            </a:r>
            <a:endParaRPr lang="en-US" sz="13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Today's Learning</a:t>
            </a:r>
            <a:endParaRPr lang="en-US" sz="3000" dirty="0"/>
          </a:p>
        </p:txBody>
      </p:sp>
      <p:sp>
        <p:nvSpPr>
          <p:cNvPr id="3" name="walt"/>
          <p:cNvSpPr/>
          <p:nvPr/>
        </p:nvSpPr>
        <p:spPr>
          <a:xfrm>
            <a:off x="457200" y="1143000"/>
            <a:ext cx="3566160" cy="3246120"/>
          </a:xfrm>
          <a:prstGeom prst="roundRect">
            <a:avLst>
              <a:gd name="adj" fmla="val 3380"/>
            </a:avLst>
          </a:prstGeom>
          <a:solidFill>
            <a:srgbClr val="E6F2F2"/>
          </a:solidFill>
          <a:ln w="12700">
            <a:solidFill>
              <a:srgbClr val="E6F2F2"/>
            </a:solidFill>
            <a:prstDash val="solid"/>
          </a:ln>
        </p:spPr>
      </p:sp>
      <p:sp>
        <p:nvSpPr>
          <p:cNvPr id="4" name="Shape 2"/>
          <p:cNvSpPr/>
          <p:nvPr/>
        </p:nvSpPr>
        <p:spPr>
          <a:xfrm>
            <a:off x="685800" y="1371600"/>
            <a:ext cx="640080" cy="64008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39419" y="1525219"/>
            <a:ext cx="332842" cy="332842"/>
          </a:xfrm>
          <a:prstGeom prst="rect">
            <a:avLst/>
          </a:prstGeom>
        </p:spPr>
      </p:pic>
      <p:sp>
        <p:nvSpPr>
          <p:cNvPr id="6" name="Text 3"/>
          <p:cNvSpPr txBox="1"/>
          <p:nvPr/>
        </p:nvSpPr>
        <p:spPr>
          <a:xfrm>
            <a:off x="1463040" y="1417320"/>
            <a:ext cx="2468880" cy="548640"/>
          </a:xfrm>
          <a:prstGeom prst="rect">
            <a:avLst/>
          </a:prstGeom>
          <a:noFill/>
          <a:ln/>
        </p:spPr>
        <p:txBody>
          <a:bodyPr wrap="square" lIns="0" tIns="0" rIns="0" bIns="0" rtlCol="0" anchor="ctr"/>
          <a:lstStyle/>
          <a:p>
            <a:pPr indent="0" marL="0">
              <a:buNone/>
            </a:pPr>
            <a:r>
              <a:rPr lang="en-US" sz="1500" b="1" dirty="0">
                <a:solidFill>
                  <a:schemeClr val="tx2"/>
                </a:solidFill>
                <a:latin typeface="Calibri" pitchFamily="34" charset="0"/>
                <a:ea typeface="Calibri" pitchFamily="34" charset="-122"/>
                <a:cs typeface="Calibri" pitchFamily="34" charset="-120"/>
              </a:rPr>
              <a:t>We are learning to (WALT)</a:t>
            </a:r>
            <a:endParaRPr lang="en-US" sz="1500" dirty="0"/>
          </a:p>
        </p:txBody>
      </p:sp>
      <p:sp>
        <p:nvSpPr>
          <p:cNvPr id="7" name="Text 4"/>
          <p:cNvSpPr txBox="1"/>
          <p:nvPr/>
        </p:nvSpPr>
        <p:spPr>
          <a:xfrm>
            <a:off x="685800" y="2194560"/>
            <a:ext cx="3154680" cy="201168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We are learning to use the basic Tinkercad tools to design an accurate keychain or name tag.</a:t>
            </a:r>
            <a:endParaRPr lang="en-US" sz="1800" dirty="0"/>
          </a:p>
        </p:txBody>
      </p:sp>
      <p:sp>
        <p:nvSpPr>
          <p:cNvPr id="8" name="Text 5"/>
          <p:cNvSpPr txBox="1"/>
          <p:nvPr/>
        </p:nvSpPr>
        <p:spPr>
          <a:xfrm>
            <a:off x="4389120" y="1143000"/>
            <a:ext cx="4297680" cy="365760"/>
          </a:xfrm>
          <a:prstGeom prst="rect">
            <a:avLst/>
          </a:prstGeom>
          <a:noFill/>
          <a:ln/>
        </p:spPr>
        <p:txBody>
          <a:bodyPr wrap="square" lIns="0" tIns="0" rIns="0" bIns="0" rtlCol="0" anchor="ctr"/>
          <a:lstStyle/>
          <a:p>
            <a:pPr indent="0" marL="0">
              <a:buNone/>
            </a:pPr>
            <a:r>
              <a:rPr lang="en-US" sz="1500" b="1" dirty="0">
                <a:solidFill>
                  <a:schemeClr val="accent2"/>
                </a:solidFill>
                <a:latin typeface="Calibri" pitchFamily="34" charset="0"/>
                <a:ea typeface="Calibri" pitchFamily="34" charset="-122"/>
                <a:cs typeface="Calibri" pitchFamily="34" charset="-120"/>
              </a:rPr>
              <a:t>What I am looking for (WILF)</a:t>
            </a:r>
            <a:endParaRPr lang="en-US" sz="1500" dirty="0"/>
          </a:p>
        </p:txBody>
      </p:sp>
      <p:sp>
        <p:nvSpPr>
          <p:cNvPr id="9" name="Text 6"/>
          <p:cNvSpPr txBox="1"/>
          <p:nvPr/>
        </p:nvSpPr>
        <p:spPr>
          <a:xfrm>
            <a:off x="4389120" y="1600200"/>
            <a:ext cx="4297680" cy="27889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drag, resize and rotate shapes using millimetre measurements.</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use a hole shape to cut a ring hole.</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align and group shapes into one object.</a:t>
            </a:r>
            <a:endParaRPr lang="en-US" sz="1500" dirty="0"/>
          </a:p>
          <a:p>
            <a:pPr marL="342900" indent="-342900">
              <a:spcAft>
                <a:spcPts val="800"/>
              </a:spcAft>
              <a:buSzPct val="100000"/>
              <a:buChar char="✓"/>
            </a:pPr>
            <a:r>
              <a:rPr lang="en-US" sz="1500" dirty="0">
                <a:solidFill>
                  <a:schemeClr val="tx1"/>
                </a:solidFill>
                <a:latin typeface="Calibri" pitchFamily="34" charset="0"/>
                <a:ea typeface="Calibri" pitchFamily="34" charset="-122"/>
                <a:cs typeface="Calibri" pitchFamily="34" charset="-120"/>
              </a:rPr>
              <a:t>I can add raised text to my design.</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Warm-up: Guess the Size</a:t>
            </a:r>
            <a:endParaRPr lang="en-US" sz="3000" dirty="0"/>
          </a:p>
        </p:txBody>
      </p:sp>
      <p:sp>
        <p:nvSpPr>
          <p:cNvPr id="3" name="Shape 1"/>
          <p:cNvSpPr/>
          <p:nvPr/>
        </p:nvSpPr>
        <p:spPr>
          <a:xfrm>
            <a:off x="457200" y="1188720"/>
            <a:ext cx="1188720" cy="1188720"/>
          </a:xfrm>
          <a:prstGeom prst="ellipse">
            <a:avLst/>
          </a:prstGeom>
          <a:solidFill>
            <a:srgbClr val="F2A31B"/>
          </a:solidFill>
          <a:ln w="12700">
            <a:solidFill>
              <a:srgbClr val="F2A31B"/>
            </a:solidFill>
            <a:prstDash val="solid"/>
          </a:ln>
        </p:spPr>
      </p:sp>
      <p:pic>
        <p:nvPicPr>
          <p:cNvPr id="4" name="Image 0" descr="preencoded.png">    </p:cNvPr>
          <p:cNvPicPr>
            <a:picLocks noChangeAspect="1"/>
          </p:cNvPicPr>
          <p:nvPr/>
        </p:nvPicPr>
        <p:blipFill>
          <a:blip r:embed="rId1"/>
          <a:stretch>
            <a:fillRect/>
          </a:stretch>
        </p:blipFill>
        <p:spPr>
          <a:xfrm>
            <a:off x="742493" y="1474013"/>
            <a:ext cx="618134" cy="618134"/>
          </a:xfrm>
          <a:prstGeom prst="rect">
            <a:avLst/>
          </a:prstGeom>
        </p:spPr>
      </p:pic>
      <p:sp>
        <p:nvSpPr>
          <p:cNvPr id="5" name="Text 2"/>
          <p:cNvSpPr txBox="1"/>
          <p:nvPr/>
        </p:nvSpPr>
        <p:spPr>
          <a:xfrm>
            <a:off x="320040" y="2468880"/>
            <a:ext cx="1463040" cy="320040"/>
          </a:xfrm>
          <a:prstGeom prst="rect">
            <a:avLst/>
          </a:prstGeom>
          <a:noFill/>
          <a:ln/>
        </p:spPr>
        <p:txBody>
          <a:bodyPr wrap="square" lIns="0" tIns="0" rIns="0" bIns="0" rtlCol="0" anchor="ctr"/>
          <a:lstStyle/>
          <a:p>
            <a:pPr algn="ctr" indent="0" marL="0">
              <a:buNone/>
            </a:pPr>
            <a:r>
              <a:rPr lang="en-US" sz="1300" b="1" dirty="0">
                <a:solidFill>
                  <a:schemeClr val="accent3"/>
                </a:solidFill>
                <a:latin typeface="Calibri" pitchFamily="34" charset="0"/>
                <a:ea typeface="Calibri" pitchFamily="34" charset="-122"/>
                <a:cs typeface="Calibri" pitchFamily="34" charset="-120"/>
              </a:rPr>
              <a:t>5 minutes</a:t>
            </a:r>
            <a:endParaRPr lang="en-US" sz="1300" dirty="0"/>
          </a:p>
        </p:txBody>
      </p:sp>
      <p:sp>
        <p:nvSpPr>
          <p:cNvPr id="6" name="Shape 3"/>
          <p:cNvSpPr/>
          <p:nvPr/>
        </p:nvSpPr>
        <p:spPr>
          <a:xfrm>
            <a:off x="2103120" y="1234440"/>
            <a:ext cx="457200" cy="457200"/>
          </a:xfrm>
          <a:prstGeom prst="ellipse">
            <a:avLst/>
          </a:prstGeom>
          <a:solidFill>
            <a:srgbClr val="0E7C80"/>
          </a:solidFill>
          <a:ln w="12700">
            <a:solidFill>
              <a:srgbClr val="0E7C80"/>
            </a:solidFill>
            <a:prstDash val="solid"/>
          </a:ln>
        </p:spPr>
      </p:sp>
      <p:sp>
        <p:nvSpPr>
          <p:cNvPr id="7" name="Text 4"/>
          <p:cNvSpPr txBox="1"/>
          <p:nvPr/>
        </p:nvSpPr>
        <p:spPr>
          <a:xfrm>
            <a:off x="2103120" y="12344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8" name="Text 5"/>
          <p:cNvSpPr txBox="1"/>
          <p:nvPr/>
        </p:nvSpPr>
        <p:spPr>
          <a:xfrm>
            <a:off x="2743200" y="118872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Hold up a keychain, a coin and a pencil.</a:t>
            </a:r>
            <a:endParaRPr lang="en-US" sz="1500" dirty="0"/>
          </a:p>
        </p:txBody>
      </p:sp>
      <p:sp>
        <p:nvSpPr>
          <p:cNvPr id="9" name="Shape 6"/>
          <p:cNvSpPr/>
          <p:nvPr/>
        </p:nvSpPr>
        <p:spPr>
          <a:xfrm>
            <a:off x="2103120" y="2286000"/>
            <a:ext cx="457200" cy="457200"/>
          </a:xfrm>
          <a:prstGeom prst="ellipse">
            <a:avLst/>
          </a:prstGeom>
          <a:solidFill>
            <a:srgbClr val="0E7C80"/>
          </a:solidFill>
          <a:ln w="12700">
            <a:solidFill>
              <a:srgbClr val="0E7C80"/>
            </a:solidFill>
            <a:prstDash val="solid"/>
          </a:ln>
        </p:spPr>
      </p:sp>
      <p:sp>
        <p:nvSpPr>
          <p:cNvPr id="10" name="Text 7"/>
          <p:cNvSpPr txBox="1"/>
          <p:nvPr/>
        </p:nvSpPr>
        <p:spPr>
          <a:xfrm>
            <a:off x="2103120" y="22860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1" name="Text 8"/>
          <p:cNvSpPr txBox="1"/>
          <p:nvPr/>
        </p:nvSpPr>
        <p:spPr>
          <a:xfrm>
            <a:off x="2743200" y="224028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Students guess the length of each in millimetres and write it down.</a:t>
            </a:r>
            <a:endParaRPr lang="en-US" sz="1500" dirty="0"/>
          </a:p>
        </p:txBody>
      </p:sp>
      <p:sp>
        <p:nvSpPr>
          <p:cNvPr id="12" name="Shape 9"/>
          <p:cNvSpPr/>
          <p:nvPr/>
        </p:nvSpPr>
        <p:spPr>
          <a:xfrm>
            <a:off x="2103120" y="3337560"/>
            <a:ext cx="457200" cy="457200"/>
          </a:xfrm>
          <a:prstGeom prst="ellipse">
            <a:avLst/>
          </a:prstGeom>
          <a:solidFill>
            <a:srgbClr val="0E7C80"/>
          </a:solidFill>
          <a:ln w="12700">
            <a:solidFill>
              <a:srgbClr val="0E7C80"/>
            </a:solidFill>
            <a:prstDash val="solid"/>
          </a:ln>
        </p:spPr>
      </p:sp>
      <p:sp>
        <p:nvSpPr>
          <p:cNvPr id="13" name="Text 10"/>
          <p:cNvSpPr txBox="1"/>
          <p:nvPr/>
        </p:nvSpPr>
        <p:spPr>
          <a:xfrm>
            <a:off x="2103120" y="33375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4" name="Text 11"/>
          <p:cNvSpPr txBox="1"/>
          <p:nvPr/>
        </p:nvSpPr>
        <p:spPr>
          <a:xfrm>
            <a:off x="2743200" y="3291840"/>
            <a:ext cx="5943600" cy="914400"/>
          </a:xfrm>
          <a:prstGeom prst="rect">
            <a:avLst/>
          </a:prstGeom>
          <a:noFill/>
          <a:ln/>
        </p:spPr>
        <p:txBody>
          <a:bodyPr wrap="square" lIns="0" tIns="0" rIns="0" bIns="0" rtlCol="0" anchor="t"/>
          <a:lstStyle/>
          <a:p>
            <a:pPr indent="0" marL="0">
              <a:buNone/>
            </a:pPr>
            <a:r>
              <a:rPr lang="en-US" sz="1500" dirty="0">
                <a:solidFill>
                  <a:schemeClr val="tx1"/>
                </a:solidFill>
                <a:latin typeface="Calibri" pitchFamily="34" charset="0"/>
                <a:ea typeface="Calibri" pitchFamily="34" charset="-122"/>
                <a:cs typeface="Calibri" pitchFamily="34" charset="-120"/>
              </a:rPr>
              <a:t>Measure together with a ruler. Who was closest? Why do designers use millimetres?</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Key Words</a:t>
            </a:r>
            <a:endParaRPr lang="en-US" sz="3000" dirty="0"/>
          </a:p>
        </p:txBody>
      </p:sp>
      <p:sp>
        <p:nvSpPr>
          <p:cNvPr id="3" name="word0"/>
          <p:cNvSpPr/>
          <p:nvPr/>
        </p:nvSpPr>
        <p:spPr>
          <a:xfrm>
            <a:off x="457200" y="1280160"/>
            <a:ext cx="1920240" cy="731520"/>
          </a:xfrm>
          <a:prstGeom prst="roundRect">
            <a:avLst>
              <a:gd name="adj" fmla="val 15000"/>
            </a:avLst>
          </a:prstGeom>
          <a:solidFill>
            <a:srgbClr val="FCEFF3"/>
          </a:solidFill>
          <a:ln w="12700">
            <a:solidFill>
              <a:srgbClr val="FCEFF3"/>
            </a:solidFill>
            <a:prstDash val="solid"/>
          </a:ln>
        </p:spPr>
      </p:sp>
      <p:sp>
        <p:nvSpPr>
          <p:cNvPr id="4" name="Text 2"/>
          <p:cNvSpPr txBox="1"/>
          <p:nvPr/>
        </p:nvSpPr>
        <p:spPr>
          <a:xfrm>
            <a:off x="548640" y="1280160"/>
            <a:ext cx="1737360"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Tinkercad</a:t>
            </a:r>
            <a:endParaRPr lang="en-US" sz="1700" dirty="0"/>
          </a:p>
        </p:txBody>
      </p:sp>
      <p:sp>
        <p:nvSpPr>
          <p:cNvPr id="5" name="word1"/>
          <p:cNvSpPr/>
          <p:nvPr/>
        </p:nvSpPr>
        <p:spPr>
          <a:xfrm>
            <a:off x="2560320" y="1280160"/>
            <a:ext cx="1920240" cy="731520"/>
          </a:xfrm>
          <a:prstGeom prst="roundRect">
            <a:avLst>
              <a:gd name="adj" fmla="val 15000"/>
            </a:avLst>
          </a:prstGeom>
          <a:solidFill>
            <a:srgbClr val="E6F2F2"/>
          </a:solidFill>
          <a:ln w="12700">
            <a:solidFill>
              <a:srgbClr val="E6F2F2"/>
            </a:solidFill>
            <a:prstDash val="solid"/>
          </a:ln>
        </p:spPr>
      </p:sp>
      <p:sp>
        <p:nvSpPr>
          <p:cNvPr id="6" name="Text 4"/>
          <p:cNvSpPr txBox="1"/>
          <p:nvPr/>
        </p:nvSpPr>
        <p:spPr>
          <a:xfrm>
            <a:off x="2651760" y="1280160"/>
            <a:ext cx="1737360"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workplane</a:t>
            </a:r>
            <a:endParaRPr lang="en-US" sz="1700" dirty="0"/>
          </a:p>
        </p:txBody>
      </p:sp>
      <p:sp>
        <p:nvSpPr>
          <p:cNvPr id="7" name="word2"/>
          <p:cNvSpPr/>
          <p:nvPr/>
        </p:nvSpPr>
        <p:spPr>
          <a:xfrm>
            <a:off x="4663440" y="1280160"/>
            <a:ext cx="1920240" cy="731520"/>
          </a:xfrm>
          <a:prstGeom prst="roundRect">
            <a:avLst>
              <a:gd name="adj" fmla="val 15000"/>
            </a:avLst>
          </a:prstGeom>
          <a:solidFill>
            <a:srgbClr val="FCEFF3"/>
          </a:solidFill>
          <a:ln w="12700">
            <a:solidFill>
              <a:srgbClr val="FCEFF3"/>
            </a:solidFill>
            <a:prstDash val="solid"/>
          </a:ln>
        </p:spPr>
      </p:sp>
      <p:sp>
        <p:nvSpPr>
          <p:cNvPr id="8" name="Text 6"/>
          <p:cNvSpPr txBox="1"/>
          <p:nvPr/>
        </p:nvSpPr>
        <p:spPr>
          <a:xfrm>
            <a:off x="4754880" y="1280160"/>
            <a:ext cx="1737360"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millimetre</a:t>
            </a:r>
            <a:endParaRPr lang="en-US" sz="1700" dirty="0"/>
          </a:p>
        </p:txBody>
      </p:sp>
      <p:sp>
        <p:nvSpPr>
          <p:cNvPr id="9" name="word3"/>
          <p:cNvSpPr/>
          <p:nvPr/>
        </p:nvSpPr>
        <p:spPr>
          <a:xfrm>
            <a:off x="6766560" y="1280160"/>
            <a:ext cx="1920240" cy="731520"/>
          </a:xfrm>
          <a:prstGeom prst="roundRect">
            <a:avLst>
              <a:gd name="adj" fmla="val 15000"/>
            </a:avLst>
          </a:prstGeom>
          <a:solidFill>
            <a:srgbClr val="E6F2F2"/>
          </a:solidFill>
          <a:ln w="12700">
            <a:solidFill>
              <a:srgbClr val="E6F2F2"/>
            </a:solidFill>
            <a:prstDash val="solid"/>
          </a:ln>
        </p:spPr>
      </p:sp>
      <p:sp>
        <p:nvSpPr>
          <p:cNvPr id="10" name="Text 8"/>
          <p:cNvSpPr txBox="1"/>
          <p:nvPr/>
        </p:nvSpPr>
        <p:spPr>
          <a:xfrm>
            <a:off x="6858000" y="1280160"/>
            <a:ext cx="1737360"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solid</a:t>
            </a:r>
            <a:endParaRPr lang="en-US" sz="1700" dirty="0"/>
          </a:p>
        </p:txBody>
      </p:sp>
      <p:sp>
        <p:nvSpPr>
          <p:cNvPr id="11" name="word4"/>
          <p:cNvSpPr/>
          <p:nvPr/>
        </p:nvSpPr>
        <p:spPr>
          <a:xfrm>
            <a:off x="457200" y="2240280"/>
            <a:ext cx="1920240" cy="731520"/>
          </a:xfrm>
          <a:prstGeom prst="roundRect">
            <a:avLst>
              <a:gd name="adj" fmla="val 15000"/>
            </a:avLst>
          </a:prstGeom>
          <a:solidFill>
            <a:srgbClr val="FCEFF3"/>
          </a:solidFill>
          <a:ln w="12700">
            <a:solidFill>
              <a:srgbClr val="FCEFF3"/>
            </a:solidFill>
            <a:prstDash val="solid"/>
          </a:ln>
        </p:spPr>
      </p:sp>
      <p:sp>
        <p:nvSpPr>
          <p:cNvPr id="12" name="Text 10"/>
          <p:cNvSpPr txBox="1"/>
          <p:nvPr/>
        </p:nvSpPr>
        <p:spPr>
          <a:xfrm>
            <a:off x="548640" y="2240280"/>
            <a:ext cx="1737360"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hole</a:t>
            </a:r>
            <a:endParaRPr lang="en-US" sz="1700" dirty="0"/>
          </a:p>
        </p:txBody>
      </p:sp>
      <p:sp>
        <p:nvSpPr>
          <p:cNvPr id="13" name="word5"/>
          <p:cNvSpPr/>
          <p:nvPr/>
        </p:nvSpPr>
        <p:spPr>
          <a:xfrm>
            <a:off x="2560320" y="2240280"/>
            <a:ext cx="1920240" cy="731520"/>
          </a:xfrm>
          <a:prstGeom prst="roundRect">
            <a:avLst>
              <a:gd name="adj" fmla="val 15000"/>
            </a:avLst>
          </a:prstGeom>
          <a:solidFill>
            <a:srgbClr val="E6F2F2"/>
          </a:solidFill>
          <a:ln w="12700">
            <a:solidFill>
              <a:srgbClr val="E6F2F2"/>
            </a:solidFill>
            <a:prstDash val="solid"/>
          </a:ln>
        </p:spPr>
      </p:sp>
      <p:sp>
        <p:nvSpPr>
          <p:cNvPr id="14" name="Text 12"/>
          <p:cNvSpPr txBox="1"/>
          <p:nvPr/>
        </p:nvSpPr>
        <p:spPr>
          <a:xfrm>
            <a:off x="2651760" y="2240280"/>
            <a:ext cx="1737360"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align</a:t>
            </a:r>
            <a:endParaRPr lang="en-US" sz="1700" dirty="0"/>
          </a:p>
        </p:txBody>
      </p:sp>
      <p:sp>
        <p:nvSpPr>
          <p:cNvPr id="15" name="word6"/>
          <p:cNvSpPr/>
          <p:nvPr/>
        </p:nvSpPr>
        <p:spPr>
          <a:xfrm>
            <a:off x="4663440" y="2240280"/>
            <a:ext cx="1920240" cy="731520"/>
          </a:xfrm>
          <a:prstGeom prst="roundRect">
            <a:avLst>
              <a:gd name="adj" fmla="val 15000"/>
            </a:avLst>
          </a:prstGeom>
          <a:solidFill>
            <a:srgbClr val="FCEFF3"/>
          </a:solidFill>
          <a:ln w="12700">
            <a:solidFill>
              <a:srgbClr val="FCEFF3"/>
            </a:solidFill>
            <a:prstDash val="solid"/>
          </a:ln>
        </p:spPr>
      </p:sp>
      <p:sp>
        <p:nvSpPr>
          <p:cNvPr id="16" name="Text 14"/>
          <p:cNvSpPr txBox="1"/>
          <p:nvPr/>
        </p:nvSpPr>
        <p:spPr>
          <a:xfrm>
            <a:off x="4754880" y="2240280"/>
            <a:ext cx="1737360" cy="731520"/>
          </a:xfrm>
          <a:prstGeom prst="rect">
            <a:avLst/>
          </a:prstGeom>
          <a:noFill/>
          <a:ln/>
        </p:spPr>
        <p:txBody>
          <a:bodyPr wrap="square" lIns="0" tIns="0" rIns="0" bIns="0" rtlCol="0" anchor="ctr"/>
          <a:lstStyle/>
          <a:p>
            <a:pPr algn="ctr" indent="0" marL="0">
              <a:buNone/>
            </a:pPr>
            <a:r>
              <a:rPr lang="en-US" sz="1700" b="1" dirty="0">
                <a:solidFill>
                  <a:schemeClr val="accent2"/>
                </a:solidFill>
                <a:latin typeface="Calibri" pitchFamily="34" charset="0"/>
                <a:ea typeface="Calibri" pitchFamily="34" charset="-122"/>
                <a:cs typeface="Calibri" pitchFamily="34" charset="-120"/>
              </a:rPr>
              <a:t>group</a:t>
            </a:r>
            <a:endParaRPr lang="en-US" sz="1700" dirty="0"/>
          </a:p>
        </p:txBody>
      </p:sp>
      <p:sp>
        <p:nvSpPr>
          <p:cNvPr id="17" name="word7"/>
          <p:cNvSpPr/>
          <p:nvPr/>
        </p:nvSpPr>
        <p:spPr>
          <a:xfrm>
            <a:off x="6766560" y="2240280"/>
            <a:ext cx="1920240" cy="731520"/>
          </a:xfrm>
          <a:prstGeom prst="roundRect">
            <a:avLst>
              <a:gd name="adj" fmla="val 15000"/>
            </a:avLst>
          </a:prstGeom>
          <a:solidFill>
            <a:srgbClr val="E6F2F2"/>
          </a:solidFill>
          <a:ln w="12700">
            <a:solidFill>
              <a:srgbClr val="E6F2F2"/>
            </a:solidFill>
            <a:prstDash val="solid"/>
          </a:ln>
        </p:spPr>
      </p:sp>
      <p:sp>
        <p:nvSpPr>
          <p:cNvPr id="18" name="Text 16"/>
          <p:cNvSpPr txBox="1"/>
          <p:nvPr/>
        </p:nvSpPr>
        <p:spPr>
          <a:xfrm>
            <a:off x="6858000" y="2240280"/>
            <a:ext cx="1737360" cy="731520"/>
          </a:xfrm>
          <a:prstGeom prst="rect">
            <a:avLst/>
          </a:prstGeom>
          <a:noFill/>
          <a:ln/>
        </p:spPr>
        <p:txBody>
          <a:bodyPr wrap="square" lIns="0" tIns="0" rIns="0" bIns="0" rtlCol="0" anchor="ctr"/>
          <a:lstStyle/>
          <a:p>
            <a:pPr algn="ctr" indent="0" marL="0">
              <a:buNone/>
            </a:pPr>
            <a:r>
              <a:rPr lang="en-US" sz="1700" b="1" dirty="0">
                <a:solidFill>
                  <a:schemeClr val="tx2"/>
                </a:solidFill>
                <a:latin typeface="Calibri" pitchFamily="34" charset="0"/>
                <a:ea typeface="Calibri" pitchFamily="34" charset="-122"/>
                <a:cs typeface="Calibri" pitchFamily="34" charset="-120"/>
              </a:rPr>
              <a:t>dimensions</a:t>
            </a:r>
            <a:endParaRPr lang="en-US" sz="1700" dirty="0"/>
          </a:p>
        </p:txBody>
      </p:sp>
      <p:sp>
        <p:nvSpPr>
          <p:cNvPr id="19" name="Text 17"/>
          <p:cNvSpPr txBox="1"/>
          <p:nvPr/>
        </p:nvSpPr>
        <p:spPr>
          <a:xfrm>
            <a:off x="457200" y="4160520"/>
            <a:ext cx="8229600" cy="365760"/>
          </a:xfrm>
          <a:prstGeom prst="rect">
            <a:avLst/>
          </a:prstGeom>
          <a:noFill/>
          <a:ln/>
        </p:spPr>
        <p:txBody>
          <a:bodyPr wrap="square" lIns="0" tIns="0" rIns="0" bIns="0" rtlCol="0" anchor="ctr"/>
          <a:lstStyle/>
          <a:p>
            <a:pPr indent="0" marL="0">
              <a:buNone/>
            </a:pPr>
            <a:r>
              <a:rPr lang="en-US" sz="1300" i="1" dirty="0">
                <a:solidFill>
                  <a:schemeClr val="accent6"/>
                </a:solidFill>
                <a:latin typeface="Calibri" pitchFamily="34" charset="0"/>
                <a:ea typeface="Calibri" pitchFamily="34" charset="-122"/>
                <a:cs typeface="Calibri" pitchFamily="34" charset="-120"/>
              </a:rPr>
              <a:t>Say each word with your partner. Which words do you already know?</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The Tinkercad screen</a:t>
            </a:r>
            <a:endParaRPr lang="en-US" sz="3000" dirty="0"/>
          </a:p>
        </p:txBody>
      </p:sp>
      <p:sp>
        <p:nvSpPr>
          <p:cNvPr id="3" name="pt0"/>
          <p:cNvSpPr/>
          <p:nvPr/>
        </p:nvSpPr>
        <p:spPr>
          <a:xfrm>
            <a:off x="457200" y="1188720"/>
            <a:ext cx="4023360" cy="1508760"/>
          </a:xfrm>
          <a:prstGeom prst="roundRect">
            <a:avLst>
              <a:gd name="adj" fmla="val 7273"/>
            </a:avLst>
          </a:prstGeom>
          <a:solidFill>
            <a:srgbClr val="E6F2F2"/>
          </a:solidFill>
          <a:ln w="12700">
            <a:solidFill>
              <a:srgbClr val="E6F2F2"/>
            </a:solidFill>
            <a:prstDash val="solid"/>
          </a:ln>
        </p:spPr>
      </p:sp>
      <p:sp>
        <p:nvSpPr>
          <p:cNvPr id="4" name="Shape 2"/>
          <p:cNvSpPr/>
          <p:nvPr/>
        </p:nvSpPr>
        <p:spPr>
          <a:xfrm>
            <a:off x="640080" y="1600200"/>
            <a:ext cx="685800" cy="68580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04672" y="1764792"/>
            <a:ext cx="356616" cy="356616"/>
          </a:xfrm>
          <a:prstGeom prst="rect">
            <a:avLst/>
          </a:prstGeom>
        </p:spPr>
      </p:pic>
      <p:sp>
        <p:nvSpPr>
          <p:cNvPr id="6" name="Text 3"/>
          <p:cNvSpPr txBox="1"/>
          <p:nvPr/>
        </p:nvSpPr>
        <p:spPr>
          <a:xfrm>
            <a:off x="150876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The workplane is the blue grid where you build.</a:t>
            </a:r>
            <a:endParaRPr lang="en-US" sz="1500" dirty="0"/>
          </a:p>
        </p:txBody>
      </p:sp>
      <p:sp>
        <p:nvSpPr>
          <p:cNvPr id="7" name="pt1"/>
          <p:cNvSpPr/>
          <p:nvPr/>
        </p:nvSpPr>
        <p:spPr>
          <a:xfrm>
            <a:off x="4663440" y="1188720"/>
            <a:ext cx="4023360" cy="1508760"/>
          </a:xfrm>
          <a:prstGeom prst="roundRect">
            <a:avLst>
              <a:gd name="adj" fmla="val 7273"/>
            </a:avLst>
          </a:prstGeom>
          <a:solidFill>
            <a:srgbClr val="F3F5F6"/>
          </a:solidFill>
          <a:ln w="12700">
            <a:solidFill>
              <a:srgbClr val="F3F5F6"/>
            </a:solidFill>
            <a:prstDash val="solid"/>
          </a:ln>
        </p:spPr>
      </p:sp>
      <p:sp>
        <p:nvSpPr>
          <p:cNvPr id="8" name="Shape 5"/>
          <p:cNvSpPr/>
          <p:nvPr/>
        </p:nvSpPr>
        <p:spPr>
          <a:xfrm>
            <a:off x="4846320" y="1600200"/>
            <a:ext cx="685800" cy="685800"/>
          </a:xfrm>
          <a:prstGeom prst="ellipse">
            <a:avLst/>
          </a:prstGeom>
          <a:solidFill>
            <a:srgbClr val="0E7C80"/>
          </a:solidFill>
          <a:ln w="12700">
            <a:solidFill>
              <a:srgbClr val="0E7C80"/>
            </a:solidFill>
            <a:prstDash val="solid"/>
          </a:ln>
        </p:spPr>
      </p:sp>
      <p:pic>
        <p:nvPicPr>
          <p:cNvPr id="9" name="Image 1" descr="preencoded.png">    </p:cNvPr>
          <p:cNvPicPr>
            <a:picLocks noChangeAspect="1"/>
          </p:cNvPicPr>
          <p:nvPr/>
        </p:nvPicPr>
        <p:blipFill>
          <a:blip r:embed="rId2"/>
          <a:stretch>
            <a:fillRect/>
          </a:stretch>
        </p:blipFill>
        <p:spPr>
          <a:xfrm>
            <a:off x="5010912" y="1764792"/>
            <a:ext cx="356616" cy="356616"/>
          </a:xfrm>
          <a:prstGeom prst="rect">
            <a:avLst/>
          </a:prstGeom>
        </p:spPr>
      </p:pic>
      <p:sp>
        <p:nvSpPr>
          <p:cNvPr id="10" name="Text 6"/>
          <p:cNvSpPr txBox="1"/>
          <p:nvPr/>
        </p:nvSpPr>
        <p:spPr>
          <a:xfrm>
            <a:off x="571500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Basic shapes are on the right.</a:t>
            </a:r>
            <a:endParaRPr lang="en-US" sz="1500" dirty="0"/>
          </a:p>
        </p:txBody>
      </p:sp>
      <p:sp>
        <p:nvSpPr>
          <p:cNvPr id="11" name="pt2"/>
          <p:cNvSpPr/>
          <p:nvPr/>
        </p:nvSpPr>
        <p:spPr>
          <a:xfrm>
            <a:off x="457200" y="2880360"/>
            <a:ext cx="4023360" cy="1508760"/>
          </a:xfrm>
          <a:prstGeom prst="roundRect">
            <a:avLst>
              <a:gd name="adj" fmla="val 7273"/>
            </a:avLst>
          </a:prstGeom>
          <a:solidFill>
            <a:srgbClr val="F3F5F6"/>
          </a:solidFill>
          <a:ln w="12700">
            <a:solidFill>
              <a:srgbClr val="F3F5F6"/>
            </a:solidFill>
            <a:prstDash val="solid"/>
          </a:ln>
        </p:spPr>
      </p:sp>
      <p:sp>
        <p:nvSpPr>
          <p:cNvPr id="12" name="Shape 8"/>
          <p:cNvSpPr/>
          <p:nvPr/>
        </p:nvSpPr>
        <p:spPr>
          <a:xfrm>
            <a:off x="640080" y="3291840"/>
            <a:ext cx="685800" cy="685800"/>
          </a:xfrm>
          <a:prstGeom prst="ellipse">
            <a:avLst/>
          </a:prstGeom>
          <a:solidFill>
            <a:srgbClr val="0E7C80"/>
          </a:solidFill>
          <a:ln w="12700">
            <a:solidFill>
              <a:srgbClr val="0E7C80"/>
            </a:solidFill>
            <a:prstDash val="solid"/>
          </a:ln>
        </p:spPr>
      </p:sp>
      <p:pic>
        <p:nvPicPr>
          <p:cNvPr id="13" name="Image 2" descr="preencoded.png">    </p:cNvPr>
          <p:cNvPicPr>
            <a:picLocks noChangeAspect="1"/>
          </p:cNvPicPr>
          <p:nvPr/>
        </p:nvPicPr>
        <p:blipFill>
          <a:blip r:embed="rId3"/>
          <a:stretch>
            <a:fillRect/>
          </a:stretch>
        </p:blipFill>
        <p:spPr>
          <a:xfrm>
            <a:off x="804672" y="3456432"/>
            <a:ext cx="356616" cy="356616"/>
          </a:xfrm>
          <a:prstGeom prst="rect">
            <a:avLst/>
          </a:prstGeom>
        </p:spPr>
      </p:pic>
      <p:sp>
        <p:nvSpPr>
          <p:cNvPr id="14" name="Text 9"/>
          <p:cNvSpPr txBox="1"/>
          <p:nvPr/>
        </p:nvSpPr>
        <p:spPr>
          <a:xfrm>
            <a:off x="150876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Use the view cube to look from different sides.</a:t>
            </a:r>
            <a:endParaRPr lang="en-US" sz="1500" dirty="0"/>
          </a:p>
        </p:txBody>
      </p:sp>
      <p:sp>
        <p:nvSpPr>
          <p:cNvPr id="15" name="pt3"/>
          <p:cNvSpPr/>
          <p:nvPr/>
        </p:nvSpPr>
        <p:spPr>
          <a:xfrm>
            <a:off x="4663440" y="2880360"/>
            <a:ext cx="4023360" cy="1508760"/>
          </a:xfrm>
          <a:prstGeom prst="roundRect">
            <a:avLst>
              <a:gd name="adj" fmla="val 7273"/>
            </a:avLst>
          </a:prstGeom>
          <a:solidFill>
            <a:srgbClr val="E6F2F2"/>
          </a:solidFill>
          <a:ln w="12700">
            <a:solidFill>
              <a:srgbClr val="E6F2F2"/>
            </a:solidFill>
            <a:prstDash val="solid"/>
          </a:ln>
        </p:spPr>
      </p:sp>
      <p:sp>
        <p:nvSpPr>
          <p:cNvPr id="16" name="Shape 11"/>
          <p:cNvSpPr/>
          <p:nvPr/>
        </p:nvSpPr>
        <p:spPr>
          <a:xfrm>
            <a:off x="4846320" y="3291840"/>
            <a:ext cx="685800" cy="685800"/>
          </a:xfrm>
          <a:prstGeom prst="ellipse">
            <a:avLst/>
          </a:prstGeom>
          <a:solidFill>
            <a:srgbClr val="0E7C80"/>
          </a:solidFill>
          <a:ln w="12700">
            <a:solidFill>
              <a:srgbClr val="0E7C80"/>
            </a:solidFill>
            <a:prstDash val="solid"/>
          </a:ln>
        </p:spPr>
      </p:sp>
      <p:pic>
        <p:nvPicPr>
          <p:cNvPr id="17" name="Image 3" descr="preencoded.png">    </p:cNvPr>
          <p:cNvPicPr>
            <a:picLocks noChangeAspect="1"/>
          </p:cNvPicPr>
          <p:nvPr/>
        </p:nvPicPr>
        <p:blipFill>
          <a:blip r:embed="rId4"/>
          <a:stretch>
            <a:fillRect/>
          </a:stretch>
        </p:blipFill>
        <p:spPr>
          <a:xfrm>
            <a:off x="5010912" y="3456432"/>
            <a:ext cx="356616" cy="356616"/>
          </a:xfrm>
          <a:prstGeom prst="rect">
            <a:avLst/>
          </a:prstGeom>
        </p:spPr>
      </p:pic>
      <p:sp>
        <p:nvSpPr>
          <p:cNvPr id="18" name="Text 12"/>
          <p:cNvSpPr txBox="1"/>
          <p:nvPr/>
        </p:nvSpPr>
        <p:spPr>
          <a:xfrm>
            <a:off x="571500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Zoom with the mouse wheel or two fingers.</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Solids and holes</a:t>
            </a:r>
            <a:endParaRPr lang="en-US" sz="3000" dirty="0"/>
          </a:p>
        </p:txBody>
      </p:sp>
      <p:sp>
        <p:nvSpPr>
          <p:cNvPr id="3" name="Shape 1"/>
          <p:cNvSpPr/>
          <p:nvPr/>
        </p:nvSpPr>
        <p:spPr>
          <a:xfrm>
            <a:off x="457200" y="1234440"/>
            <a:ext cx="502920" cy="502920"/>
          </a:xfrm>
          <a:prstGeom prst="ellipse">
            <a:avLst/>
          </a:prstGeom>
          <a:solidFill>
            <a:srgbClr val="0E7C80"/>
          </a:solidFill>
          <a:ln w="12700">
            <a:solidFill>
              <a:srgbClr val="0E7C80"/>
            </a:solidFill>
            <a:prstDash val="solid"/>
          </a:ln>
        </p:spPr>
      </p:sp>
      <p:pic>
        <p:nvPicPr>
          <p:cNvPr id="4" name="Image 0" descr="preencoded.png">    </p:cNvPr>
          <p:cNvPicPr>
            <a:picLocks noChangeAspect="1"/>
          </p:cNvPicPr>
          <p:nvPr/>
        </p:nvPicPr>
        <p:blipFill>
          <a:blip r:embed="rId1"/>
          <a:stretch>
            <a:fillRect/>
          </a:stretch>
        </p:blipFill>
        <p:spPr>
          <a:xfrm>
            <a:off x="577901" y="1355141"/>
            <a:ext cx="261518" cy="261518"/>
          </a:xfrm>
          <a:prstGeom prst="rect">
            <a:avLst/>
          </a:prstGeom>
        </p:spPr>
      </p:pic>
      <p:sp>
        <p:nvSpPr>
          <p:cNvPr id="5" name="Text 2"/>
          <p:cNvSpPr txBox="1"/>
          <p:nvPr/>
        </p:nvSpPr>
        <p:spPr>
          <a:xfrm>
            <a:off x="1143000" y="118872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A solid shape adds material.</a:t>
            </a:r>
            <a:endParaRPr lang="en-US" sz="1600" dirty="0"/>
          </a:p>
        </p:txBody>
      </p:sp>
      <p:sp>
        <p:nvSpPr>
          <p:cNvPr id="6" name="Shape 3"/>
          <p:cNvSpPr/>
          <p:nvPr/>
        </p:nvSpPr>
        <p:spPr>
          <a:xfrm>
            <a:off x="457200" y="2057400"/>
            <a:ext cx="502920" cy="502920"/>
          </a:xfrm>
          <a:prstGeom prst="ellipse">
            <a:avLst/>
          </a:prstGeom>
          <a:solidFill>
            <a:srgbClr val="9E1B4B"/>
          </a:solidFill>
          <a:ln w="12700">
            <a:solidFill>
              <a:srgbClr val="9E1B4B"/>
            </a:solidFill>
            <a:prstDash val="solid"/>
          </a:ln>
        </p:spPr>
      </p:sp>
      <p:pic>
        <p:nvPicPr>
          <p:cNvPr id="7" name="Image 1" descr="preencoded.png">    </p:cNvPr>
          <p:cNvPicPr>
            <a:picLocks noChangeAspect="1"/>
          </p:cNvPicPr>
          <p:nvPr/>
        </p:nvPicPr>
        <p:blipFill>
          <a:blip r:embed="rId2"/>
          <a:stretch>
            <a:fillRect/>
          </a:stretch>
        </p:blipFill>
        <p:spPr>
          <a:xfrm>
            <a:off x="577901" y="2178101"/>
            <a:ext cx="261518" cy="261518"/>
          </a:xfrm>
          <a:prstGeom prst="rect">
            <a:avLst/>
          </a:prstGeom>
        </p:spPr>
      </p:pic>
      <p:sp>
        <p:nvSpPr>
          <p:cNvPr id="8" name="Text 4"/>
          <p:cNvSpPr txBox="1"/>
          <p:nvPr/>
        </p:nvSpPr>
        <p:spPr>
          <a:xfrm>
            <a:off x="1143000" y="201168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A hole shape removes material.</a:t>
            </a:r>
            <a:endParaRPr lang="en-US" sz="1600" dirty="0"/>
          </a:p>
        </p:txBody>
      </p:sp>
      <p:sp>
        <p:nvSpPr>
          <p:cNvPr id="9" name="Shape 5"/>
          <p:cNvSpPr/>
          <p:nvPr/>
        </p:nvSpPr>
        <p:spPr>
          <a:xfrm>
            <a:off x="457200" y="2880360"/>
            <a:ext cx="502920" cy="502920"/>
          </a:xfrm>
          <a:prstGeom prst="ellipse">
            <a:avLst/>
          </a:prstGeom>
          <a:solidFill>
            <a:srgbClr val="0E7C80"/>
          </a:solidFill>
          <a:ln w="12700">
            <a:solidFill>
              <a:srgbClr val="0E7C80"/>
            </a:solidFill>
            <a:prstDash val="solid"/>
          </a:ln>
        </p:spPr>
      </p:sp>
      <p:pic>
        <p:nvPicPr>
          <p:cNvPr id="10" name="Image 2" descr="preencoded.png">    </p:cNvPr>
          <p:cNvPicPr>
            <a:picLocks noChangeAspect="1"/>
          </p:cNvPicPr>
          <p:nvPr/>
        </p:nvPicPr>
        <p:blipFill>
          <a:blip r:embed="rId3"/>
          <a:stretch>
            <a:fillRect/>
          </a:stretch>
        </p:blipFill>
        <p:spPr>
          <a:xfrm>
            <a:off x="577901" y="3001061"/>
            <a:ext cx="261518" cy="261518"/>
          </a:xfrm>
          <a:prstGeom prst="rect">
            <a:avLst/>
          </a:prstGeom>
        </p:spPr>
      </p:pic>
      <p:sp>
        <p:nvSpPr>
          <p:cNvPr id="11" name="Text 6"/>
          <p:cNvSpPr txBox="1"/>
          <p:nvPr/>
        </p:nvSpPr>
        <p:spPr>
          <a:xfrm>
            <a:off x="1143000" y="283464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Place a hole cylinder where the keyring goes.</a:t>
            </a:r>
            <a:endParaRPr lang="en-US" sz="1600" dirty="0"/>
          </a:p>
        </p:txBody>
      </p:sp>
      <p:sp>
        <p:nvSpPr>
          <p:cNvPr id="12" name="Shape 7"/>
          <p:cNvSpPr/>
          <p:nvPr/>
        </p:nvSpPr>
        <p:spPr>
          <a:xfrm>
            <a:off x="457200" y="3703320"/>
            <a:ext cx="502920" cy="502920"/>
          </a:xfrm>
          <a:prstGeom prst="ellipse">
            <a:avLst/>
          </a:prstGeom>
          <a:solidFill>
            <a:srgbClr val="9E1B4B"/>
          </a:solidFill>
          <a:ln w="12700">
            <a:solidFill>
              <a:srgbClr val="9E1B4B"/>
            </a:solidFill>
            <a:prstDash val="solid"/>
          </a:ln>
        </p:spPr>
      </p:sp>
      <p:pic>
        <p:nvPicPr>
          <p:cNvPr id="13" name="Image 3" descr="preencoded.png">    </p:cNvPr>
          <p:cNvPicPr>
            <a:picLocks noChangeAspect="1"/>
          </p:cNvPicPr>
          <p:nvPr/>
        </p:nvPicPr>
        <p:blipFill>
          <a:blip r:embed="rId4"/>
          <a:stretch>
            <a:fillRect/>
          </a:stretch>
        </p:blipFill>
        <p:spPr>
          <a:xfrm>
            <a:off x="577901" y="3824021"/>
            <a:ext cx="261518" cy="261518"/>
          </a:xfrm>
          <a:prstGeom prst="rect">
            <a:avLst/>
          </a:prstGeom>
        </p:spPr>
      </p:pic>
      <p:sp>
        <p:nvSpPr>
          <p:cNvPr id="14" name="Text 8"/>
          <p:cNvSpPr txBox="1"/>
          <p:nvPr/>
        </p:nvSpPr>
        <p:spPr>
          <a:xfrm>
            <a:off x="1143000" y="365760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Group the solid and the hole to cut it out.</a:t>
            </a:r>
            <a:endParaRPr lang="en-US" sz="1600" dirty="0"/>
          </a:p>
        </p:txBody>
      </p:sp>
      <p:sp>
        <p:nvSpPr>
          <p:cNvPr id="15" name="panel"/>
          <p:cNvSpPr/>
          <p:nvPr/>
        </p:nvSpPr>
        <p:spPr>
          <a:xfrm>
            <a:off x="6263640" y="1188720"/>
            <a:ext cx="2423160" cy="3246120"/>
          </a:xfrm>
          <a:prstGeom prst="roundRect">
            <a:avLst>
              <a:gd name="adj" fmla="val 4528"/>
            </a:avLst>
          </a:prstGeom>
          <a:solidFill>
            <a:srgbClr val="0E7C80"/>
          </a:solidFill>
          <a:ln w="12700">
            <a:solidFill>
              <a:srgbClr val="0E7C80"/>
            </a:solidFill>
            <a:prstDash val="solid"/>
          </a:ln>
        </p:spPr>
      </p:sp>
      <p:sp>
        <p:nvSpPr>
          <p:cNvPr id="16" name="Shape 10"/>
          <p:cNvSpPr/>
          <p:nvPr/>
        </p:nvSpPr>
        <p:spPr>
          <a:xfrm>
            <a:off x="6903720" y="1463040"/>
            <a:ext cx="1143000" cy="1143000"/>
          </a:xfrm>
          <a:prstGeom prst="ellipse">
            <a:avLst/>
          </a:prstGeom>
          <a:solidFill>
            <a:srgbClr val="FFFFFF"/>
          </a:solidFill>
          <a:ln w="12700">
            <a:solidFill>
              <a:srgbClr val="FFFFFF"/>
            </a:solidFill>
            <a:prstDash val="solid"/>
          </a:ln>
        </p:spPr>
      </p:sp>
      <p:pic>
        <p:nvPicPr>
          <p:cNvPr id="17" name="Image 4" descr="preencoded.png">    </p:cNvPr>
          <p:cNvPicPr>
            <a:picLocks noChangeAspect="1"/>
          </p:cNvPicPr>
          <p:nvPr/>
        </p:nvPicPr>
        <p:blipFill>
          <a:blip r:embed="rId5"/>
          <a:stretch>
            <a:fillRect/>
          </a:stretch>
        </p:blipFill>
        <p:spPr>
          <a:xfrm>
            <a:off x="7178040" y="1737360"/>
            <a:ext cx="594360" cy="594360"/>
          </a:xfrm>
          <a:prstGeom prst="rect">
            <a:avLst/>
          </a:prstGeom>
        </p:spPr>
      </p:pic>
      <p:sp>
        <p:nvSpPr>
          <p:cNvPr id="18" name="Text 11"/>
          <p:cNvSpPr txBox="1"/>
          <p:nvPr/>
        </p:nvSpPr>
        <p:spPr>
          <a:xfrm>
            <a:off x="6400800" y="2788920"/>
            <a:ext cx="2148840" cy="320040"/>
          </a:xfrm>
          <a:prstGeom prst="rect">
            <a:avLst/>
          </a:prstGeom>
          <a:noFill/>
          <a:ln/>
        </p:spPr>
        <p:txBody>
          <a:bodyPr wrap="square" lIns="0" tIns="0" rIns="0" bIns="0" rtlCol="0" anchor="ctr"/>
          <a:lstStyle/>
          <a:p>
            <a:pPr algn="ctr" indent="0" marL="0">
              <a:buNone/>
            </a:pPr>
            <a:r>
              <a:rPr lang="en-US" sz="1400" b="1" dirty="0">
                <a:solidFill>
                  <a:srgbClr val="F2A31B"/>
                </a:solidFill>
                <a:latin typeface="Calibri" pitchFamily="34" charset="0"/>
                <a:ea typeface="Calibri" pitchFamily="34" charset="-122"/>
                <a:cs typeface="Calibri" pitchFamily="34" charset="-120"/>
              </a:rPr>
              <a:t>Think</a:t>
            </a:r>
            <a:endParaRPr lang="en-US" sz="1400" dirty="0"/>
          </a:p>
        </p:txBody>
      </p:sp>
      <p:sp>
        <p:nvSpPr>
          <p:cNvPr id="19" name="Text 12"/>
          <p:cNvSpPr txBox="1"/>
          <p:nvPr/>
        </p:nvSpPr>
        <p:spPr>
          <a:xfrm>
            <a:off x="6446520" y="3154680"/>
            <a:ext cx="2057400" cy="114300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Explain one of these points to your partner in your own words.</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Size in millimetres</a:t>
            </a:r>
            <a:endParaRPr lang="en-US" sz="3000" dirty="0"/>
          </a:p>
        </p:txBody>
      </p:sp>
      <p:sp>
        <p:nvSpPr>
          <p:cNvPr id="3" name="pt0"/>
          <p:cNvSpPr/>
          <p:nvPr/>
        </p:nvSpPr>
        <p:spPr>
          <a:xfrm>
            <a:off x="457200" y="1188720"/>
            <a:ext cx="4023360" cy="1508760"/>
          </a:xfrm>
          <a:prstGeom prst="roundRect">
            <a:avLst>
              <a:gd name="adj" fmla="val 7273"/>
            </a:avLst>
          </a:prstGeom>
          <a:solidFill>
            <a:srgbClr val="E6F2F2"/>
          </a:solidFill>
          <a:ln w="12700">
            <a:solidFill>
              <a:srgbClr val="E6F2F2"/>
            </a:solidFill>
            <a:prstDash val="solid"/>
          </a:ln>
        </p:spPr>
      </p:sp>
      <p:sp>
        <p:nvSpPr>
          <p:cNvPr id="4" name="Shape 2"/>
          <p:cNvSpPr/>
          <p:nvPr/>
        </p:nvSpPr>
        <p:spPr>
          <a:xfrm>
            <a:off x="640080" y="1600200"/>
            <a:ext cx="685800" cy="685800"/>
          </a:xfrm>
          <a:prstGeom prst="ellipse">
            <a:avLst/>
          </a:prstGeom>
          <a:solidFill>
            <a:srgbClr val="0E7C80"/>
          </a:solidFill>
          <a:ln w="12700">
            <a:solidFill>
              <a:srgbClr val="0E7C80"/>
            </a:solidFill>
            <a:prstDash val="solid"/>
          </a:ln>
        </p:spPr>
      </p:sp>
      <p:pic>
        <p:nvPicPr>
          <p:cNvPr id="5" name="Image 0" descr="preencoded.png">    </p:cNvPr>
          <p:cNvPicPr>
            <a:picLocks noChangeAspect="1"/>
          </p:cNvPicPr>
          <p:nvPr/>
        </p:nvPicPr>
        <p:blipFill>
          <a:blip r:embed="rId1"/>
          <a:stretch>
            <a:fillRect/>
          </a:stretch>
        </p:blipFill>
        <p:spPr>
          <a:xfrm>
            <a:off x="804672" y="1764792"/>
            <a:ext cx="356616" cy="356616"/>
          </a:xfrm>
          <a:prstGeom prst="rect">
            <a:avLst/>
          </a:prstGeom>
        </p:spPr>
      </p:pic>
      <p:sp>
        <p:nvSpPr>
          <p:cNvPr id="6" name="Text 3"/>
          <p:cNvSpPr txBox="1"/>
          <p:nvPr/>
        </p:nvSpPr>
        <p:spPr>
          <a:xfrm>
            <a:off x="150876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Click a shape to see its white size handles.</a:t>
            </a:r>
            <a:endParaRPr lang="en-US" sz="1500" dirty="0"/>
          </a:p>
        </p:txBody>
      </p:sp>
      <p:sp>
        <p:nvSpPr>
          <p:cNvPr id="7" name="pt1"/>
          <p:cNvSpPr/>
          <p:nvPr/>
        </p:nvSpPr>
        <p:spPr>
          <a:xfrm>
            <a:off x="4663440" y="1188720"/>
            <a:ext cx="4023360" cy="1508760"/>
          </a:xfrm>
          <a:prstGeom prst="roundRect">
            <a:avLst>
              <a:gd name="adj" fmla="val 7273"/>
            </a:avLst>
          </a:prstGeom>
          <a:solidFill>
            <a:srgbClr val="F3F5F6"/>
          </a:solidFill>
          <a:ln w="12700">
            <a:solidFill>
              <a:srgbClr val="F3F5F6"/>
            </a:solidFill>
            <a:prstDash val="solid"/>
          </a:ln>
        </p:spPr>
      </p:sp>
      <p:sp>
        <p:nvSpPr>
          <p:cNvPr id="8" name="Shape 5"/>
          <p:cNvSpPr/>
          <p:nvPr/>
        </p:nvSpPr>
        <p:spPr>
          <a:xfrm>
            <a:off x="4846320" y="1600200"/>
            <a:ext cx="685800" cy="685800"/>
          </a:xfrm>
          <a:prstGeom prst="ellipse">
            <a:avLst/>
          </a:prstGeom>
          <a:solidFill>
            <a:srgbClr val="0E7C80"/>
          </a:solidFill>
          <a:ln w="12700">
            <a:solidFill>
              <a:srgbClr val="0E7C80"/>
            </a:solidFill>
            <a:prstDash val="solid"/>
          </a:ln>
        </p:spPr>
      </p:sp>
      <p:pic>
        <p:nvPicPr>
          <p:cNvPr id="9" name="Image 1" descr="preencoded.png">    </p:cNvPr>
          <p:cNvPicPr>
            <a:picLocks noChangeAspect="1"/>
          </p:cNvPicPr>
          <p:nvPr/>
        </p:nvPicPr>
        <p:blipFill>
          <a:blip r:embed="rId2"/>
          <a:stretch>
            <a:fillRect/>
          </a:stretch>
        </p:blipFill>
        <p:spPr>
          <a:xfrm>
            <a:off x="5010912" y="1764792"/>
            <a:ext cx="356616" cy="356616"/>
          </a:xfrm>
          <a:prstGeom prst="rect">
            <a:avLst/>
          </a:prstGeom>
        </p:spPr>
      </p:pic>
      <p:sp>
        <p:nvSpPr>
          <p:cNvPr id="10" name="Text 6"/>
          <p:cNvSpPr txBox="1"/>
          <p:nvPr/>
        </p:nvSpPr>
        <p:spPr>
          <a:xfrm>
            <a:off x="5715000" y="132588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Type exact numbers in millimetres.</a:t>
            </a:r>
            <a:endParaRPr lang="en-US" sz="1500" dirty="0"/>
          </a:p>
        </p:txBody>
      </p:sp>
      <p:sp>
        <p:nvSpPr>
          <p:cNvPr id="11" name="pt2"/>
          <p:cNvSpPr/>
          <p:nvPr/>
        </p:nvSpPr>
        <p:spPr>
          <a:xfrm>
            <a:off x="457200" y="2880360"/>
            <a:ext cx="4023360" cy="1508760"/>
          </a:xfrm>
          <a:prstGeom prst="roundRect">
            <a:avLst>
              <a:gd name="adj" fmla="val 7273"/>
            </a:avLst>
          </a:prstGeom>
          <a:solidFill>
            <a:srgbClr val="F3F5F6"/>
          </a:solidFill>
          <a:ln w="12700">
            <a:solidFill>
              <a:srgbClr val="F3F5F6"/>
            </a:solidFill>
            <a:prstDash val="solid"/>
          </a:ln>
        </p:spPr>
      </p:sp>
      <p:sp>
        <p:nvSpPr>
          <p:cNvPr id="12" name="Shape 8"/>
          <p:cNvSpPr/>
          <p:nvPr/>
        </p:nvSpPr>
        <p:spPr>
          <a:xfrm>
            <a:off x="640080" y="3291840"/>
            <a:ext cx="685800" cy="685800"/>
          </a:xfrm>
          <a:prstGeom prst="ellipse">
            <a:avLst/>
          </a:prstGeom>
          <a:solidFill>
            <a:srgbClr val="0E7C80"/>
          </a:solidFill>
          <a:ln w="12700">
            <a:solidFill>
              <a:srgbClr val="0E7C80"/>
            </a:solidFill>
            <a:prstDash val="solid"/>
          </a:ln>
        </p:spPr>
      </p:sp>
      <p:pic>
        <p:nvPicPr>
          <p:cNvPr id="13" name="Image 2" descr="preencoded.png">    </p:cNvPr>
          <p:cNvPicPr>
            <a:picLocks noChangeAspect="1"/>
          </p:cNvPicPr>
          <p:nvPr/>
        </p:nvPicPr>
        <p:blipFill>
          <a:blip r:embed="rId3"/>
          <a:stretch>
            <a:fillRect/>
          </a:stretch>
        </p:blipFill>
        <p:spPr>
          <a:xfrm>
            <a:off x="804672" y="3456432"/>
            <a:ext cx="356616" cy="356616"/>
          </a:xfrm>
          <a:prstGeom prst="rect">
            <a:avLst/>
          </a:prstGeom>
        </p:spPr>
      </p:pic>
      <p:sp>
        <p:nvSpPr>
          <p:cNvPr id="14" name="Text 9"/>
          <p:cNvSpPr txBox="1"/>
          <p:nvPr/>
        </p:nvSpPr>
        <p:spPr>
          <a:xfrm>
            <a:off x="150876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Our keychain: about 50 mm long, 20 mm wide and 3 mm thick.</a:t>
            </a:r>
            <a:endParaRPr lang="en-US" sz="1500" dirty="0"/>
          </a:p>
        </p:txBody>
      </p:sp>
      <p:sp>
        <p:nvSpPr>
          <p:cNvPr id="15" name="pt3"/>
          <p:cNvSpPr/>
          <p:nvPr/>
        </p:nvSpPr>
        <p:spPr>
          <a:xfrm>
            <a:off x="4663440" y="2880360"/>
            <a:ext cx="4023360" cy="1508760"/>
          </a:xfrm>
          <a:prstGeom prst="roundRect">
            <a:avLst>
              <a:gd name="adj" fmla="val 7273"/>
            </a:avLst>
          </a:prstGeom>
          <a:solidFill>
            <a:srgbClr val="E6F2F2"/>
          </a:solidFill>
          <a:ln w="12700">
            <a:solidFill>
              <a:srgbClr val="E6F2F2"/>
            </a:solidFill>
            <a:prstDash val="solid"/>
          </a:ln>
        </p:spPr>
      </p:sp>
      <p:sp>
        <p:nvSpPr>
          <p:cNvPr id="16" name="Shape 11"/>
          <p:cNvSpPr/>
          <p:nvPr/>
        </p:nvSpPr>
        <p:spPr>
          <a:xfrm>
            <a:off x="4846320" y="3291840"/>
            <a:ext cx="685800" cy="685800"/>
          </a:xfrm>
          <a:prstGeom prst="ellipse">
            <a:avLst/>
          </a:prstGeom>
          <a:solidFill>
            <a:srgbClr val="0E7C80"/>
          </a:solidFill>
          <a:ln w="12700">
            <a:solidFill>
              <a:srgbClr val="0E7C80"/>
            </a:solidFill>
            <a:prstDash val="solid"/>
          </a:ln>
        </p:spPr>
      </p:sp>
      <p:pic>
        <p:nvPicPr>
          <p:cNvPr id="17" name="Image 3" descr="preencoded.png">    </p:cNvPr>
          <p:cNvPicPr>
            <a:picLocks noChangeAspect="1"/>
          </p:cNvPicPr>
          <p:nvPr/>
        </p:nvPicPr>
        <p:blipFill>
          <a:blip r:embed="rId4"/>
          <a:stretch>
            <a:fillRect/>
          </a:stretch>
        </p:blipFill>
        <p:spPr>
          <a:xfrm>
            <a:off x="5010912" y="3456432"/>
            <a:ext cx="356616" cy="356616"/>
          </a:xfrm>
          <a:prstGeom prst="rect">
            <a:avLst/>
          </a:prstGeom>
        </p:spPr>
      </p:pic>
      <p:sp>
        <p:nvSpPr>
          <p:cNvPr id="18" name="Text 12"/>
          <p:cNvSpPr txBox="1"/>
          <p:nvPr/>
        </p:nvSpPr>
        <p:spPr>
          <a:xfrm>
            <a:off x="5715000" y="3017520"/>
            <a:ext cx="2834640" cy="1234440"/>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Ring hole: 4 mm wide, at least 3 mm from the edge.</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Align, group and text</a:t>
            </a:r>
            <a:endParaRPr lang="en-US" sz="3000" dirty="0"/>
          </a:p>
        </p:txBody>
      </p:sp>
      <p:sp>
        <p:nvSpPr>
          <p:cNvPr id="3" name="Shape 1"/>
          <p:cNvSpPr/>
          <p:nvPr/>
        </p:nvSpPr>
        <p:spPr>
          <a:xfrm>
            <a:off x="457200" y="1234440"/>
            <a:ext cx="502920" cy="502920"/>
          </a:xfrm>
          <a:prstGeom prst="ellipse">
            <a:avLst/>
          </a:prstGeom>
          <a:solidFill>
            <a:srgbClr val="0E7C80"/>
          </a:solidFill>
          <a:ln w="12700">
            <a:solidFill>
              <a:srgbClr val="0E7C80"/>
            </a:solidFill>
            <a:prstDash val="solid"/>
          </a:ln>
        </p:spPr>
      </p:sp>
      <p:pic>
        <p:nvPicPr>
          <p:cNvPr id="4" name="Image 0" descr="preencoded.png">    </p:cNvPr>
          <p:cNvPicPr>
            <a:picLocks noChangeAspect="1"/>
          </p:cNvPicPr>
          <p:nvPr/>
        </p:nvPicPr>
        <p:blipFill>
          <a:blip r:embed="rId1"/>
          <a:stretch>
            <a:fillRect/>
          </a:stretch>
        </p:blipFill>
        <p:spPr>
          <a:xfrm>
            <a:off x="577901" y="1355141"/>
            <a:ext cx="261518" cy="261518"/>
          </a:xfrm>
          <a:prstGeom prst="rect">
            <a:avLst/>
          </a:prstGeom>
        </p:spPr>
      </p:pic>
      <p:sp>
        <p:nvSpPr>
          <p:cNvPr id="5" name="Text 2"/>
          <p:cNvSpPr txBox="1"/>
          <p:nvPr/>
        </p:nvSpPr>
        <p:spPr>
          <a:xfrm>
            <a:off x="1143000" y="118872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Align lines up shapes perfectly.</a:t>
            </a:r>
            <a:endParaRPr lang="en-US" sz="1600" dirty="0"/>
          </a:p>
        </p:txBody>
      </p:sp>
      <p:sp>
        <p:nvSpPr>
          <p:cNvPr id="6" name="Shape 3"/>
          <p:cNvSpPr/>
          <p:nvPr/>
        </p:nvSpPr>
        <p:spPr>
          <a:xfrm>
            <a:off x="457200" y="2057400"/>
            <a:ext cx="502920" cy="502920"/>
          </a:xfrm>
          <a:prstGeom prst="ellipse">
            <a:avLst/>
          </a:prstGeom>
          <a:solidFill>
            <a:srgbClr val="9E1B4B"/>
          </a:solidFill>
          <a:ln w="12700">
            <a:solidFill>
              <a:srgbClr val="9E1B4B"/>
            </a:solidFill>
            <a:prstDash val="solid"/>
          </a:ln>
        </p:spPr>
      </p:sp>
      <p:pic>
        <p:nvPicPr>
          <p:cNvPr id="7" name="Image 1" descr="preencoded.png">    </p:cNvPr>
          <p:cNvPicPr>
            <a:picLocks noChangeAspect="1"/>
          </p:cNvPicPr>
          <p:nvPr/>
        </p:nvPicPr>
        <p:blipFill>
          <a:blip r:embed="rId2"/>
          <a:stretch>
            <a:fillRect/>
          </a:stretch>
        </p:blipFill>
        <p:spPr>
          <a:xfrm>
            <a:off x="577901" y="2178101"/>
            <a:ext cx="261518" cy="261518"/>
          </a:xfrm>
          <a:prstGeom prst="rect">
            <a:avLst/>
          </a:prstGeom>
        </p:spPr>
      </p:pic>
      <p:sp>
        <p:nvSpPr>
          <p:cNvPr id="8" name="Text 4"/>
          <p:cNvSpPr txBox="1"/>
          <p:nvPr/>
        </p:nvSpPr>
        <p:spPr>
          <a:xfrm>
            <a:off x="1143000" y="201168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Group joins shapes into one object.</a:t>
            </a:r>
            <a:endParaRPr lang="en-US" sz="1600" dirty="0"/>
          </a:p>
        </p:txBody>
      </p:sp>
      <p:sp>
        <p:nvSpPr>
          <p:cNvPr id="9" name="Shape 5"/>
          <p:cNvSpPr/>
          <p:nvPr/>
        </p:nvSpPr>
        <p:spPr>
          <a:xfrm>
            <a:off x="457200" y="2880360"/>
            <a:ext cx="502920" cy="502920"/>
          </a:xfrm>
          <a:prstGeom prst="ellipse">
            <a:avLst/>
          </a:prstGeom>
          <a:solidFill>
            <a:srgbClr val="0E7C80"/>
          </a:solidFill>
          <a:ln w="12700">
            <a:solidFill>
              <a:srgbClr val="0E7C80"/>
            </a:solidFill>
            <a:prstDash val="solid"/>
          </a:ln>
        </p:spPr>
      </p:sp>
      <p:pic>
        <p:nvPicPr>
          <p:cNvPr id="10" name="Image 2" descr="preencoded.png">    </p:cNvPr>
          <p:cNvPicPr>
            <a:picLocks noChangeAspect="1"/>
          </p:cNvPicPr>
          <p:nvPr/>
        </p:nvPicPr>
        <p:blipFill>
          <a:blip r:embed="rId3"/>
          <a:stretch>
            <a:fillRect/>
          </a:stretch>
        </p:blipFill>
        <p:spPr>
          <a:xfrm>
            <a:off x="577901" y="3001061"/>
            <a:ext cx="261518" cy="261518"/>
          </a:xfrm>
          <a:prstGeom prst="rect">
            <a:avLst/>
          </a:prstGeom>
        </p:spPr>
      </p:pic>
      <p:sp>
        <p:nvSpPr>
          <p:cNvPr id="11" name="Text 6"/>
          <p:cNvSpPr txBox="1"/>
          <p:nvPr/>
        </p:nvSpPr>
        <p:spPr>
          <a:xfrm>
            <a:off x="1143000" y="283464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Add the Text shape for your name and make it 1 mm taller than the base.</a:t>
            </a:r>
            <a:endParaRPr lang="en-US" sz="1600" dirty="0"/>
          </a:p>
        </p:txBody>
      </p:sp>
      <p:sp>
        <p:nvSpPr>
          <p:cNvPr id="12" name="Shape 7"/>
          <p:cNvSpPr/>
          <p:nvPr/>
        </p:nvSpPr>
        <p:spPr>
          <a:xfrm>
            <a:off x="457200" y="3703320"/>
            <a:ext cx="502920" cy="502920"/>
          </a:xfrm>
          <a:prstGeom prst="ellipse">
            <a:avLst/>
          </a:prstGeom>
          <a:solidFill>
            <a:srgbClr val="9E1B4B"/>
          </a:solidFill>
          <a:ln w="12700">
            <a:solidFill>
              <a:srgbClr val="9E1B4B"/>
            </a:solidFill>
            <a:prstDash val="solid"/>
          </a:ln>
        </p:spPr>
      </p:sp>
      <p:pic>
        <p:nvPicPr>
          <p:cNvPr id="13" name="Image 3" descr="preencoded.png">    </p:cNvPr>
          <p:cNvPicPr>
            <a:picLocks noChangeAspect="1"/>
          </p:cNvPicPr>
          <p:nvPr/>
        </p:nvPicPr>
        <p:blipFill>
          <a:blip r:embed="rId4"/>
          <a:stretch>
            <a:fillRect/>
          </a:stretch>
        </p:blipFill>
        <p:spPr>
          <a:xfrm>
            <a:off x="577901" y="3824021"/>
            <a:ext cx="261518" cy="261518"/>
          </a:xfrm>
          <a:prstGeom prst="rect">
            <a:avLst/>
          </a:prstGeom>
        </p:spPr>
      </p:pic>
      <p:sp>
        <p:nvSpPr>
          <p:cNvPr id="14" name="Text 8"/>
          <p:cNvSpPr txBox="1"/>
          <p:nvPr/>
        </p:nvSpPr>
        <p:spPr>
          <a:xfrm>
            <a:off x="1143000" y="3657600"/>
            <a:ext cx="4754880" cy="77724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Name your design and save it.</a:t>
            </a:r>
            <a:endParaRPr lang="en-US" sz="1600" dirty="0"/>
          </a:p>
        </p:txBody>
      </p:sp>
      <p:sp>
        <p:nvSpPr>
          <p:cNvPr id="15" name="panel"/>
          <p:cNvSpPr/>
          <p:nvPr/>
        </p:nvSpPr>
        <p:spPr>
          <a:xfrm>
            <a:off x="6263640" y="1188720"/>
            <a:ext cx="2423160" cy="3246120"/>
          </a:xfrm>
          <a:prstGeom prst="roundRect">
            <a:avLst>
              <a:gd name="adj" fmla="val 4528"/>
            </a:avLst>
          </a:prstGeom>
          <a:solidFill>
            <a:srgbClr val="0E7C80"/>
          </a:solidFill>
          <a:ln w="12700">
            <a:solidFill>
              <a:srgbClr val="0E7C80"/>
            </a:solidFill>
            <a:prstDash val="solid"/>
          </a:ln>
        </p:spPr>
      </p:sp>
      <p:sp>
        <p:nvSpPr>
          <p:cNvPr id="16" name="Shape 10"/>
          <p:cNvSpPr/>
          <p:nvPr/>
        </p:nvSpPr>
        <p:spPr>
          <a:xfrm>
            <a:off x="6903720" y="1463040"/>
            <a:ext cx="1143000" cy="1143000"/>
          </a:xfrm>
          <a:prstGeom prst="ellipse">
            <a:avLst/>
          </a:prstGeom>
          <a:solidFill>
            <a:srgbClr val="FFFFFF"/>
          </a:solidFill>
          <a:ln w="12700">
            <a:solidFill>
              <a:srgbClr val="FFFFFF"/>
            </a:solidFill>
            <a:prstDash val="solid"/>
          </a:ln>
        </p:spPr>
      </p:sp>
      <p:pic>
        <p:nvPicPr>
          <p:cNvPr id="17" name="Image 4" descr="preencoded.png">    </p:cNvPr>
          <p:cNvPicPr>
            <a:picLocks noChangeAspect="1"/>
          </p:cNvPicPr>
          <p:nvPr/>
        </p:nvPicPr>
        <p:blipFill>
          <a:blip r:embed="rId5"/>
          <a:stretch>
            <a:fillRect/>
          </a:stretch>
        </p:blipFill>
        <p:spPr>
          <a:xfrm>
            <a:off x="7178040" y="1737360"/>
            <a:ext cx="594360" cy="594360"/>
          </a:xfrm>
          <a:prstGeom prst="rect">
            <a:avLst/>
          </a:prstGeom>
        </p:spPr>
      </p:pic>
      <p:sp>
        <p:nvSpPr>
          <p:cNvPr id="18" name="Text 11"/>
          <p:cNvSpPr txBox="1"/>
          <p:nvPr/>
        </p:nvSpPr>
        <p:spPr>
          <a:xfrm>
            <a:off x="6400800" y="2788920"/>
            <a:ext cx="2148840" cy="320040"/>
          </a:xfrm>
          <a:prstGeom prst="rect">
            <a:avLst/>
          </a:prstGeom>
          <a:noFill/>
          <a:ln/>
        </p:spPr>
        <p:txBody>
          <a:bodyPr wrap="square" lIns="0" tIns="0" rIns="0" bIns="0" rtlCol="0" anchor="ctr"/>
          <a:lstStyle/>
          <a:p>
            <a:pPr algn="ctr" indent="0" marL="0">
              <a:buNone/>
            </a:pPr>
            <a:r>
              <a:rPr lang="en-US" sz="1400" b="1" dirty="0">
                <a:solidFill>
                  <a:srgbClr val="F2A31B"/>
                </a:solidFill>
                <a:latin typeface="Calibri" pitchFamily="34" charset="0"/>
                <a:ea typeface="Calibri" pitchFamily="34" charset="-122"/>
                <a:cs typeface="Calibri" pitchFamily="34" charset="-120"/>
              </a:rPr>
              <a:t>Think</a:t>
            </a:r>
            <a:endParaRPr lang="en-US" sz="1400" dirty="0"/>
          </a:p>
        </p:txBody>
      </p:sp>
      <p:sp>
        <p:nvSpPr>
          <p:cNvPr id="19" name="Text 12"/>
          <p:cNvSpPr txBox="1"/>
          <p:nvPr/>
        </p:nvSpPr>
        <p:spPr>
          <a:xfrm>
            <a:off x="6446520" y="3154680"/>
            <a:ext cx="2057400" cy="1143000"/>
          </a:xfrm>
          <a:prstGeom prst="rect">
            <a:avLst/>
          </a:prstGeom>
          <a:noFill/>
          <a:ln/>
        </p:spPr>
        <p:txBody>
          <a:bodyPr wrap="square" lIns="0" tIns="0" rIns="0" bIns="0" rtlCol="0" anchor="t"/>
          <a:lstStyle/>
          <a:p>
            <a:pPr algn="ctr" indent="0" marL="0">
              <a:buNone/>
            </a:pPr>
            <a:r>
              <a:rPr lang="en-US" sz="1300" dirty="0">
                <a:solidFill>
                  <a:schemeClr val="bg1"/>
                </a:solidFill>
                <a:latin typeface="Calibri" pitchFamily="34" charset="0"/>
                <a:ea typeface="Calibri" pitchFamily="34" charset="-122"/>
                <a:cs typeface="Calibri" pitchFamily="34" charset="-120"/>
              </a:rPr>
              <a:t>Explain one of these points to your partner in your own words.</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Keychain steps</a:t>
            </a:r>
            <a:endParaRPr lang="en-US" sz="3000" dirty="0"/>
          </a:p>
        </p:txBody>
      </p:sp>
      <p:sp>
        <p:nvSpPr>
          <p:cNvPr id="3" name="step0"/>
          <p:cNvSpPr/>
          <p:nvPr/>
        </p:nvSpPr>
        <p:spPr>
          <a:xfrm>
            <a:off x="457200" y="1188720"/>
            <a:ext cx="2590800" cy="1463040"/>
          </a:xfrm>
          <a:prstGeom prst="roundRect">
            <a:avLst>
              <a:gd name="adj" fmla="val 7500"/>
            </a:avLst>
          </a:prstGeom>
          <a:solidFill>
            <a:srgbClr val="E6F2F2"/>
          </a:solidFill>
          <a:ln w="12700">
            <a:solidFill>
              <a:srgbClr val="E6F2F2"/>
            </a:solidFill>
            <a:prstDash val="solid"/>
          </a:ln>
        </p:spPr>
      </p:sp>
      <p:sp>
        <p:nvSpPr>
          <p:cNvPr id="4" name="Shape 2"/>
          <p:cNvSpPr/>
          <p:nvPr/>
        </p:nvSpPr>
        <p:spPr>
          <a:xfrm>
            <a:off x="594360" y="1325880"/>
            <a:ext cx="457200" cy="457200"/>
          </a:xfrm>
          <a:prstGeom prst="ellipse">
            <a:avLst/>
          </a:prstGeom>
          <a:solidFill>
            <a:srgbClr val="0E7C80"/>
          </a:solidFill>
          <a:ln w="12700">
            <a:solidFill>
              <a:srgbClr val="0E7C80"/>
            </a:solidFill>
            <a:prstDash val="solid"/>
          </a:ln>
        </p:spPr>
      </p:sp>
      <p:sp>
        <p:nvSpPr>
          <p:cNvPr id="5" name="Text 3"/>
          <p:cNvSpPr txBox="1"/>
          <p:nvPr/>
        </p:nvSpPr>
        <p:spPr>
          <a:xfrm>
            <a:off x="5943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5943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Drag a box onto the workplane</a:t>
            </a:r>
            <a:endParaRPr lang="en-US" sz="1300" dirty="0"/>
          </a:p>
        </p:txBody>
      </p:sp>
      <p:sp>
        <p:nvSpPr>
          <p:cNvPr id="7" name="step1"/>
          <p:cNvSpPr/>
          <p:nvPr/>
        </p:nvSpPr>
        <p:spPr>
          <a:xfrm>
            <a:off x="3276600" y="1188720"/>
            <a:ext cx="2590800" cy="1463040"/>
          </a:xfrm>
          <a:prstGeom prst="roundRect">
            <a:avLst>
              <a:gd name="adj" fmla="val 7500"/>
            </a:avLst>
          </a:prstGeom>
          <a:solidFill>
            <a:srgbClr val="E6F2F2"/>
          </a:solidFill>
          <a:ln w="12700">
            <a:solidFill>
              <a:srgbClr val="E6F2F2"/>
            </a:solidFill>
            <a:prstDash val="solid"/>
          </a:ln>
        </p:spPr>
      </p:sp>
      <p:sp>
        <p:nvSpPr>
          <p:cNvPr id="8" name="Shape 6"/>
          <p:cNvSpPr/>
          <p:nvPr/>
        </p:nvSpPr>
        <p:spPr>
          <a:xfrm>
            <a:off x="3413760" y="1325880"/>
            <a:ext cx="457200" cy="457200"/>
          </a:xfrm>
          <a:prstGeom prst="ellipse">
            <a:avLst/>
          </a:prstGeom>
          <a:solidFill>
            <a:srgbClr val="0E7C80"/>
          </a:solidFill>
          <a:ln w="12700">
            <a:solidFill>
              <a:srgbClr val="0E7C80"/>
            </a:solidFill>
            <a:prstDash val="solid"/>
          </a:ln>
        </p:spPr>
      </p:sp>
      <p:sp>
        <p:nvSpPr>
          <p:cNvPr id="9" name="Text 7"/>
          <p:cNvSpPr txBox="1"/>
          <p:nvPr/>
        </p:nvSpPr>
        <p:spPr>
          <a:xfrm>
            <a:off x="34137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34137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Set the size to 50 x 20 x 3 mm</a:t>
            </a:r>
            <a:endParaRPr lang="en-US" sz="1300" dirty="0"/>
          </a:p>
        </p:txBody>
      </p:sp>
      <p:sp>
        <p:nvSpPr>
          <p:cNvPr id="11" name="step2"/>
          <p:cNvSpPr/>
          <p:nvPr/>
        </p:nvSpPr>
        <p:spPr>
          <a:xfrm>
            <a:off x="6096000" y="1188720"/>
            <a:ext cx="2590800" cy="1463040"/>
          </a:xfrm>
          <a:prstGeom prst="roundRect">
            <a:avLst>
              <a:gd name="adj" fmla="val 7500"/>
            </a:avLst>
          </a:prstGeom>
          <a:solidFill>
            <a:srgbClr val="E6F2F2"/>
          </a:solidFill>
          <a:ln w="12700">
            <a:solidFill>
              <a:srgbClr val="E6F2F2"/>
            </a:solidFill>
            <a:prstDash val="solid"/>
          </a:ln>
        </p:spPr>
      </p:sp>
      <p:sp>
        <p:nvSpPr>
          <p:cNvPr id="12" name="Shape 10"/>
          <p:cNvSpPr/>
          <p:nvPr/>
        </p:nvSpPr>
        <p:spPr>
          <a:xfrm>
            <a:off x="6233160" y="1325880"/>
            <a:ext cx="457200" cy="457200"/>
          </a:xfrm>
          <a:prstGeom prst="ellipse">
            <a:avLst/>
          </a:prstGeom>
          <a:solidFill>
            <a:srgbClr val="0E7C80"/>
          </a:solidFill>
          <a:ln w="12700">
            <a:solidFill>
              <a:srgbClr val="0E7C80"/>
            </a:solidFill>
            <a:prstDash val="solid"/>
          </a:ln>
        </p:spPr>
      </p:sp>
      <p:sp>
        <p:nvSpPr>
          <p:cNvPr id="13" name="Text 11"/>
          <p:cNvSpPr txBox="1"/>
          <p:nvPr/>
        </p:nvSpPr>
        <p:spPr>
          <a:xfrm>
            <a:off x="6233160" y="13258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6233160" y="187452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Add a 4 mm hole cylinder near one end</a:t>
            </a:r>
            <a:endParaRPr lang="en-US" sz="1300" dirty="0"/>
          </a:p>
        </p:txBody>
      </p:sp>
      <p:sp>
        <p:nvSpPr>
          <p:cNvPr id="15" name="step3"/>
          <p:cNvSpPr/>
          <p:nvPr/>
        </p:nvSpPr>
        <p:spPr>
          <a:xfrm>
            <a:off x="457200" y="2880360"/>
            <a:ext cx="2590800" cy="1463040"/>
          </a:xfrm>
          <a:prstGeom prst="roundRect">
            <a:avLst>
              <a:gd name="adj" fmla="val 7500"/>
            </a:avLst>
          </a:prstGeom>
          <a:solidFill>
            <a:srgbClr val="FCEFF3"/>
          </a:solidFill>
          <a:ln w="12700">
            <a:solidFill>
              <a:srgbClr val="FCEFF3"/>
            </a:solidFill>
            <a:prstDash val="solid"/>
          </a:ln>
        </p:spPr>
      </p:sp>
      <p:sp>
        <p:nvSpPr>
          <p:cNvPr id="16" name="Shape 14"/>
          <p:cNvSpPr/>
          <p:nvPr/>
        </p:nvSpPr>
        <p:spPr>
          <a:xfrm>
            <a:off x="594360" y="3017520"/>
            <a:ext cx="457200" cy="457200"/>
          </a:xfrm>
          <a:prstGeom prst="ellipse">
            <a:avLst/>
          </a:prstGeom>
          <a:solidFill>
            <a:srgbClr val="9E1B4B"/>
          </a:solidFill>
          <a:ln w="12700">
            <a:solidFill>
              <a:srgbClr val="9E1B4B"/>
            </a:solidFill>
            <a:prstDash val="solid"/>
          </a:ln>
        </p:spPr>
      </p:sp>
      <p:sp>
        <p:nvSpPr>
          <p:cNvPr id="17" name="Text 15"/>
          <p:cNvSpPr txBox="1"/>
          <p:nvPr/>
        </p:nvSpPr>
        <p:spPr>
          <a:xfrm>
            <a:off x="5943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8" name="Text 16"/>
          <p:cNvSpPr txBox="1"/>
          <p:nvPr/>
        </p:nvSpPr>
        <p:spPr>
          <a:xfrm>
            <a:off x="5943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Group to cut the hole</a:t>
            </a:r>
            <a:endParaRPr lang="en-US" sz="1300" dirty="0"/>
          </a:p>
        </p:txBody>
      </p:sp>
      <p:sp>
        <p:nvSpPr>
          <p:cNvPr id="19" name="step4"/>
          <p:cNvSpPr/>
          <p:nvPr/>
        </p:nvSpPr>
        <p:spPr>
          <a:xfrm>
            <a:off x="3276600" y="2880360"/>
            <a:ext cx="2590800" cy="1463040"/>
          </a:xfrm>
          <a:prstGeom prst="roundRect">
            <a:avLst>
              <a:gd name="adj" fmla="val 7500"/>
            </a:avLst>
          </a:prstGeom>
          <a:solidFill>
            <a:srgbClr val="FCEFF3"/>
          </a:solidFill>
          <a:ln w="12700">
            <a:solidFill>
              <a:srgbClr val="FCEFF3"/>
            </a:solidFill>
            <a:prstDash val="solid"/>
          </a:ln>
        </p:spPr>
      </p:sp>
      <p:sp>
        <p:nvSpPr>
          <p:cNvPr id="20" name="Shape 18"/>
          <p:cNvSpPr/>
          <p:nvPr/>
        </p:nvSpPr>
        <p:spPr>
          <a:xfrm>
            <a:off x="3413760" y="3017520"/>
            <a:ext cx="457200" cy="457200"/>
          </a:xfrm>
          <a:prstGeom prst="ellipse">
            <a:avLst/>
          </a:prstGeom>
          <a:solidFill>
            <a:srgbClr val="9E1B4B"/>
          </a:solidFill>
          <a:ln w="12700">
            <a:solidFill>
              <a:srgbClr val="9E1B4B"/>
            </a:solidFill>
            <a:prstDash val="solid"/>
          </a:ln>
        </p:spPr>
      </p:sp>
      <p:sp>
        <p:nvSpPr>
          <p:cNvPr id="21" name="Text 19"/>
          <p:cNvSpPr txBox="1"/>
          <p:nvPr/>
        </p:nvSpPr>
        <p:spPr>
          <a:xfrm>
            <a:off x="34137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22" name="Text 20"/>
          <p:cNvSpPr txBox="1"/>
          <p:nvPr/>
        </p:nvSpPr>
        <p:spPr>
          <a:xfrm>
            <a:off x="34137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Add your name with the Text shape</a:t>
            </a:r>
            <a:endParaRPr lang="en-US" sz="1300" dirty="0"/>
          </a:p>
        </p:txBody>
      </p:sp>
      <p:sp>
        <p:nvSpPr>
          <p:cNvPr id="23" name="step5"/>
          <p:cNvSpPr/>
          <p:nvPr/>
        </p:nvSpPr>
        <p:spPr>
          <a:xfrm>
            <a:off x="6096000" y="2880360"/>
            <a:ext cx="2590800" cy="1463040"/>
          </a:xfrm>
          <a:prstGeom prst="roundRect">
            <a:avLst>
              <a:gd name="adj" fmla="val 7500"/>
            </a:avLst>
          </a:prstGeom>
          <a:solidFill>
            <a:srgbClr val="FCEFF3"/>
          </a:solidFill>
          <a:ln w="12700">
            <a:solidFill>
              <a:srgbClr val="FCEFF3"/>
            </a:solidFill>
            <a:prstDash val="solid"/>
          </a:ln>
        </p:spPr>
      </p:sp>
      <p:sp>
        <p:nvSpPr>
          <p:cNvPr id="24" name="Shape 22"/>
          <p:cNvSpPr/>
          <p:nvPr/>
        </p:nvSpPr>
        <p:spPr>
          <a:xfrm>
            <a:off x="6233160" y="3017520"/>
            <a:ext cx="457200" cy="457200"/>
          </a:xfrm>
          <a:prstGeom prst="ellipse">
            <a:avLst/>
          </a:prstGeom>
          <a:solidFill>
            <a:srgbClr val="9E1B4B"/>
          </a:solidFill>
          <a:ln w="12700">
            <a:solidFill>
              <a:srgbClr val="9E1B4B"/>
            </a:solidFill>
            <a:prstDash val="solid"/>
          </a:ln>
        </p:spPr>
      </p:sp>
      <p:sp>
        <p:nvSpPr>
          <p:cNvPr id="25" name="Text 23"/>
          <p:cNvSpPr txBox="1"/>
          <p:nvPr/>
        </p:nvSpPr>
        <p:spPr>
          <a:xfrm>
            <a:off x="6233160" y="301752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6</a:t>
            </a:r>
            <a:endParaRPr lang="en-US" sz="1500" dirty="0"/>
          </a:p>
        </p:txBody>
      </p:sp>
      <p:sp>
        <p:nvSpPr>
          <p:cNvPr id="26" name="Text 24"/>
          <p:cNvSpPr txBox="1"/>
          <p:nvPr/>
        </p:nvSpPr>
        <p:spPr>
          <a:xfrm>
            <a:off x="6233160" y="3566160"/>
            <a:ext cx="2316480" cy="731520"/>
          </a:xfrm>
          <a:prstGeom prst="rect">
            <a:avLst/>
          </a:prstGeom>
          <a:noFill/>
          <a:ln/>
        </p:spPr>
        <p:txBody>
          <a:bodyPr wrap="square" lIns="0" tIns="0" rIns="0" bIns="0" rtlCol="0" anchor="t"/>
          <a:lstStyle/>
          <a:p>
            <a:pPr indent="0" marL="0">
              <a:buNone/>
            </a:pPr>
            <a:r>
              <a:rPr lang="en-US" sz="1300" dirty="0">
                <a:solidFill>
                  <a:schemeClr val="tx1"/>
                </a:solidFill>
                <a:latin typeface="Calibri" pitchFamily="34" charset="0"/>
                <a:ea typeface="Calibri" pitchFamily="34" charset="-122"/>
                <a:cs typeface="Calibri" pitchFamily="34" charset="-120"/>
              </a:rPr>
              <a:t>Align, group and rename your design</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Safety First</a:t>
            </a:r>
            <a:endParaRPr lang="en-US" sz="3000" dirty="0"/>
          </a:p>
        </p:txBody>
      </p:sp>
      <p:sp>
        <p:nvSpPr>
          <p:cNvPr id="3" name="Shape 1"/>
          <p:cNvSpPr/>
          <p:nvPr/>
        </p:nvSpPr>
        <p:spPr>
          <a:xfrm>
            <a:off x="457200" y="1234440"/>
            <a:ext cx="1280160" cy="1280160"/>
          </a:xfrm>
          <a:prstGeom prst="ellipse">
            <a:avLst/>
          </a:prstGeom>
          <a:solidFill>
            <a:srgbClr val="9E1B4B"/>
          </a:solidFill>
          <a:ln w="12700">
            <a:solidFill>
              <a:srgbClr val="9E1B4B"/>
            </a:solidFill>
            <a:prstDash val="solid"/>
          </a:ln>
        </p:spPr>
      </p:sp>
      <p:pic>
        <p:nvPicPr>
          <p:cNvPr id="4" name="Image 0" descr="preencoded.png">    </p:cNvPr>
          <p:cNvPicPr>
            <a:picLocks noChangeAspect="1"/>
          </p:cNvPicPr>
          <p:nvPr/>
        </p:nvPicPr>
        <p:blipFill>
          <a:blip r:embed="rId1"/>
          <a:stretch>
            <a:fillRect/>
          </a:stretch>
        </p:blipFill>
        <p:spPr>
          <a:xfrm>
            <a:off x="764438" y="1541678"/>
            <a:ext cx="665683" cy="665683"/>
          </a:xfrm>
          <a:prstGeom prst="rect">
            <a:avLst/>
          </a:prstGeom>
        </p:spPr>
      </p:pic>
      <p:sp>
        <p:nvSpPr>
          <p:cNvPr id="5" name="Text 2"/>
          <p:cNvSpPr txBox="1"/>
          <p:nvPr/>
        </p:nvSpPr>
        <p:spPr>
          <a:xfrm>
            <a:off x="274320" y="2651760"/>
            <a:ext cx="1645920" cy="548640"/>
          </a:xfrm>
          <a:prstGeom prst="rect">
            <a:avLst/>
          </a:prstGeom>
          <a:noFill/>
          <a:ln/>
        </p:spPr>
        <p:txBody>
          <a:bodyPr wrap="square" lIns="0" tIns="0" rIns="0" bIns="0" rtlCol="0" anchor="ctr"/>
          <a:lstStyle/>
          <a:p>
            <a:pPr algn="ctr" indent="0" marL="0">
              <a:buNone/>
            </a:pPr>
            <a:r>
              <a:rPr lang="en-US" sz="1200" b="1" dirty="0">
                <a:solidFill>
                  <a:schemeClr val="accent2"/>
                </a:solidFill>
                <a:latin typeface="Calibri" pitchFamily="34" charset="0"/>
                <a:ea typeface="Calibri" pitchFamily="34" charset="-122"/>
                <a:cs typeface="Calibri" pitchFamily="34" charset="-120"/>
              </a:rPr>
              <a:t>Every time. No exceptions.</a:t>
            </a:r>
            <a:endParaRPr lang="en-US" sz="1200" dirty="0"/>
          </a:p>
        </p:txBody>
      </p:sp>
      <p:sp>
        <p:nvSpPr>
          <p:cNvPr id="6" name="safe0"/>
          <p:cNvSpPr/>
          <p:nvPr/>
        </p:nvSpPr>
        <p:spPr>
          <a:xfrm>
            <a:off x="2194560" y="1188720"/>
            <a:ext cx="6492240" cy="566928"/>
          </a:xfrm>
          <a:prstGeom prst="roundRect">
            <a:avLst>
              <a:gd name="adj" fmla="val 19355"/>
            </a:avLst>
          </a:prstGeom>
          <a:solidFill>
            <a:srgbClr val="FCEFF3"/>
          </a:solidFill>
          <a:ln w="12700">
            <a:solidFill>
              <a:srgbClr val="FCEFF3"/>
            </a:solidFill>
            <a:prstDash val="solid"/>
          </a:ln>
        </p:spPr>
      </p:sp>
      <p:sp>
        <p:nvSpPr>
          <p:cNvPr id="7" name="Text 4"/>
          <p:cNvSpPr txBox="1"/>
          <p:nvPr/>
        </p:nvSpPr>
        <p:spPr>
          <a:xfrm>
            <a:off x="2377440" y="1188720"/>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Sit correctly and keep drinks away from devices.</a:t>
            </a:r>
            <a:endParaRPr lang="en-US" sz="1500" dirty="0"/>
          </a:p>
        </p:txBody>
      </p:sp>
      <p:sp>
        <p:nvSpPr>
          <p:cNvPr id="8" name="safe1"/>
          <p:cNvSpPr/>
          <p:nvPr/>
        </p:nvSpPr>
        <p:spPr>
          <a:xfrm>
            <a:off x="2194560" y="1847088"/>
            <a:ext cx="6492240" cy="566928"/>
          </a:xfrm>
          <a:prstGeom prst="roundRect">
            <a:avLst>
              <a:gd name="adj" fmla="val 19355"/>
            </a:avLst>
          </a:prstGeom>
          <a:solidFill>
            <a:srgbClr val="FFFFFF"/>
          </a:solidFill>
          <a:ln w="12700">
            <a:solidFill>
              <a:srgbClr val="FFFFFF"/>
            </a:solidFill>
            <a:prstDash val="solid"/>
          </a:ln>
        </p:spPr>
      </p:sp>
      <p:sp>
        <p:nvSpPr>
          <p:cNvPr id="9" name="Text 6"/>
          <p:cNvSpPr txBox="1"/>
          <p:nvPr/>
        </p:nvSpPr>
        <p:spPr>
          <a:xfrm>
            <a:off x="2377440" y="1847088"/>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Log in only with your own class account.</a:t>
            </a:r>
            <a:endParaRPr lang="en-US" sz="1500" dirty="0"/>
          </a:p>
        </p:txBody>
      </p:sp>
      <p:sp>
        <p:nvSpPr>
          <p:cNvPr id="10" name="safe2"/>
          <p:cNvSpPr/>
          <p:nvPr/>
        </p:nvSpPr>
        <p:spPr>
          <a:xfrm>
            <a:off x="2194560" y="2505456"/>
            <a:ext cx="6492240" cy="566928"/>
          </a:xfrm>
          <a:prstGeom prst="roundRect">
            <a:avLst>
              <a:gd name="adj" fmla="val 19355"/>
            </a:avLst>
          </a:prstGeom>
          <a:solidFill>
            <a:srgbClr val="FCEFF3"/>
          </a:solidFill>
          <a:ln w="12700">
            <a:solidFill>
              <a:srgbClr val="FCEFF3"/>
            </a:solidFill>
            <a:prstDash val="solid"/>
          </a:ln>
        </p:spPr>
      </p:sp>
      <p:sp>
        <p:nvSpPr>
          <p:cNvPr id="11" name="Text 8"/>
          <p:cNvSpPr txBox="1"/>
          <p:nvPr/>
        </p:nvSpPr>
        <p:spPr>
          <a:xfrm>
            <a:off x="2377440" y="2505456"/>
            <a:ext cx="6217920" cy="566928"/>
          </a:xfrm>
          <a:prstGeom prst="rect">
            <a:avLst/>
          </a:prstGeom>
          <a:noFill/>
          <a:ln/>
        </p:spPr>
        <p:txBody>
          <a:bodyPr wrap="square" lIns="0" tIns="0" rIns="0" bIns="0" rtlCol="0" anchor="ctr"/>
          <a:lstStyle/>
          <a:p>
            <a:pPr indent="0" marL="0">
              <a:buNone/>
            </a:pPr>
            <a:r>
              <a:rPr lang="en-US" sz="1500" dirty="0">
                <a:solidFill>
                  <a:schemeClr val="tx1"/>
                </a:solidFill>
                <a:latin typeface="Calibri" pitchFamily="34" charset="0"/>
                <a:ea typeface="Calibri" pitchFamily="34" charset="-122"/>
                <a:cs typeface="Calibri" pitchFamily="34" charset="-120"/>
              </a:rPr>
              <a:t>Save your work often.</a:t>
            </a:r>
            <a:endParaRPr lang="en-US" sz="15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Your task today</a:t>
            </a:r>
            <a:endParaRPr lang="en-US" sz="3000" dirty="0"/>
          </a:p>
        </p:txBody>
      </p:sp>
      <p:sp>
        <p:nvSpPr>
          <p:cNvPr id="3" name="Shape 1"/>
          <p:cNvSpPr/>
          <p:nvPr/>
        </p:nvSpPr>
        <p:spPr>
          <a:xfrm>
            <a:off x="457200" y="1261872"/>
            <a:ext cx="411480" cy="411480"/>
          </a:xfrm>
          <a:prstGeom prst="roundRect">
            <a:avLst>
              <a:gd name="adj" fmla="val 13333"/>
            </a:avLst>
          </a:prstGeom>
          <a:solidFill>
            <a:srgbClr val="FFFFFF"/>
          </a:solidFill>
          <a:ln w="25400">
            <a:solidFill>
              <a:srgbClr val="0E7C80"/>
            </a:solidFill>
            <a:prstDash val="solid"/>
          </a:ln>
        </p:spPr>
      </p:sp>
      <p:sp>
        <p:nvSpPr>
          <p:cNvPr id="4" name="Text 2"/>
          <p:cNvSpPr txBox="1"/>
          <p:nvPr/>
        </p:nvSpPr>
        <p:spPr>
          <a:xfrm>
            <a:off x="1051560" y="1188720"/>
            <a:ext cx="4846320" cy="6858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Design a keychain or a name tag.</a:t>
            </a:r>
            <a:endParaRPr lang="en-US" sz="1600" dirty="0"/>
          </a:p>
        </p:txBody>
      </p:sp>
      <p:sp>
        <p:nvSpPr>
          <p:cNvPr id="5" name="Shape 3"/>
          <p:cNvSpPr/>
          <p:nvPr/>
        </p:nvSpPr>
        <p:spPr>
          <a:xfrm>
            <a:off x="457200" y="1947672"/>
            <a:ext cx="411480" cy="411480"/>
          </a:xfrm>
          <a:prstGeom prst="roundRect">
            <a:avLst>
              <a:gd name="adj" fmla="val 13333"/>
            </a:avLst>
          </a:prstGeom>
          <a:solidFill>
            <a:srgbClr val="FFFFFF"/>
          </a:solidFill>
          <a:ln w="25400">
            <a:solidFill>
              <a:srgbClr val="0E7C80"/>
            </a:solidFill>
            <a:prstDash val="solid"/>
          </a:ln>
        </p:spPr>
      </p:sp>
      <p:sp>
        <p:nvSpPr>
          <p:cNvPr id="6" name="Text 4"/>
          <p:cNvSpPr txBox="1"/>
          <p:nvPr/>
        </p:nvSpPr>
        <p:spPr>
          <a:xfrm>
            <a:off x="1051560" y="1874520"/>
            <a:ext cx="4846320" cy="6858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Make it 50 x 20 x 3 mm (or your own size, up to 60 mm).</a:t>
            </a:r>
            <a:endParaRPr lang="en-US" sz="1600" dirty="0"/>
          </a:p>
        </p:txBody>
      </p:sp>
      <p:sp>
        <p:nvSpPr>
          <p:cNvPr id="7" name="Shape 5"/>
          <p:cNvSpPr/>
          <p:nvPr/>
        </p:nvSpPr>
        <p:spPr>
          <a:xfrm>
            <a:off x="457200" y="2633472"/>
            <a:ext cx="411480" cy="411480"/>
          </a:xfrm>
          <a:prstGeom prst="roundRect">
            <a:avLst>
              <a:gd name="adj" fmla="val 13333"/>
            </a:avLst>
          </a:prstGeom>
          <a:solidFill>
            <a:srgbClr val="FFFFFF"/>
          </a:solidFill>
          <a:ln w="25400">
            <a:solidFill>
              <a:srgbClr val="0E7C80"/>
            </a:solidFill>
            <a:prstDash val="solid"/>
          </a:ln>
        </p:spPr>
      </p:sp>
      <p:sp>
        <p:nvSpPr>
          <p:cNvPr id="8" name="Text 6"/>
          <p:cNvSpPr txBox="1"/>
          <p:nvPr/>
        </p:nvSpPr>
        <p:spPr>
          <a:xfrm>
            <a:off x="1051560" y="2560320"/>
            <a:ext cx="4846320" cy="6858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Add a 4 mm ring hole and your name.</a:t>
            </a:r>
            <a:endParaRPr lang="en-US" sz="1600" dirty="0"/>
          </a:p>
        </p:txBody>
      </p:sp>
      <p:sp>
        <p:nvSpPr>
          <p:cNvPr id="9" name="Shape 7"/>
          <p:cNvSpPr/>
          <p:nvPr/>
        </p:nvSpPr>
        <p:spPr>
          <a:xfrm>
            <a:off x="457200" y="3319272"/>
            <a:ext cx="411480" cy="411480"/>
          </a:xfrm>
          <a:prstGeom prst="roundRect">
            <a:avLst>
              <a:gd name="adj" fmla="val 13333"/>
            </a:avLst>
          </a:prstGeom>
          <a:solidFill>
            <a:srgbClr val="FFFFFF"/>
          </a:solidFill>
          <a:ln w="25400">
            <a:solidFill>
              <a:srgbClr val="0E7C80"/>
            </a:solidFill>
            <a:prstDash val="solid"/>
          </a:ln>
        </p:spPr>
      </p:sp>
      <p:sp>
        <p:nvSpPr>
          <p:cNvPr id="10" name="Text 8"/>
          <p:cNvSpPr txBox="1"/>
          <p:nvPr/>
        </p:nvSpPr>
        <p:spPr>
          <a:xfrm>
            <a:off x="1051560" y="3246120"/>
            <a:ext cx="4846320" cy="685800"/>
          </a:xfrm>
          <a:prstGeom prst="rect">
            <a:avLst/>
          </a:prstGeom>
          <a:noFill/>
          <a:ln/>
        </p:spPr>
        <p:txBody>
          <a:bodyPr wrap="square" lIns="0" tIns="0" rIns="0" bIns="0" rtlCol="0" anchor="ctr"/>
          <a:lstStyle/>
          <a:p>
            <a:pPr indent="0" marL="0">
              <a:buNone/>
            </a:pPr>
            <a:r>
              <a:rPr lang="en-US" sz="1600" dirty="0">
                <a:solidFill>
                  <a:schemeClr val="tx1"/>
                </a:solidFill>
                <a:latin typeface="Calibri" pitchFamily="34" charset="0"/>
                <a:ea typeface="Calibri" pitchFamily="34" charset="-122"/>
                <a:cs typeface="Calibri" pitchFamily="34" charset="-120"/>
              </a:rPr>
              <a:t>Check it against the size checklist and save it.</a:t>
            </a:r>
            <a:endParaRPr lang="en-US" sz="1600" dirty="0"/>
          </a:p>
        </p:txBody>
      </p:sp>
      <p:sp>
        <p:nvSpPr>
          <p:cNvPr id="11" name="wsCard"/>
          <p:cNvSpPr/>
          <p:nvPr/>
        </p:nvSpPr>
        <p:spPr>
          <a:xfrm>
            <a:off x="6263640" y="1188720"/>
            <a:ext cx="2423160" cy="3246120"/>
          </a:xfrm>
          <a:prstGeom prst="roundRect">
            <a:avLst>
              <a:gd name="adj" fmla="val 4528"/>
            </a:avLst>
          </a:prstGeom>
          <a:solidFill>
            <a:srgbClr val="E6F2F2"/>
          </a:solidFill>
          <a:ln w="12700">
            <a:solidFill>
              <a:srgbClr val="E6F2F2"/>
            </a:solidFill>
            <a:prstDash val="solid"/>
          </a:ln>
        </p:spPr>
      </p:sp>
      <p:sp>
        <p:nvSpPr>
          <p:cNvPr id="12" name="Shape 10"/>
          <p:cNvSpPr/>
          <p:nvPr/>
        </p:nvSpPr>
        <p:spPr>
          <a:xfrm>
            <a:off x="6949440" y="1417320"/>
            <a:ext cx="1051560" cy="1051560"/>
          </a:xfrm>
          <a:prstGeom prst="ellipse">
            <a:avLst/>
          </a:prstGeom>
          <a:solidFill>
            <a:srgbClr val="0E7C80"/>
          </a:solidFill>
          <a:ln w="12700">
            <a:solidFill>
              <a:srgbClr val="0E7C80"/>
            </a:solidFill>
            <a:prstDash val="solid"/>
          </a:ln>
        </p:spPr>
      </p:sp>
      <p:pic>
        <p:nvPicPr>
          <p:cNvPr id="13" name="Image 0" descr="preencoded.png">    </p:cNvPr>
          <p:cNvPicPr>
            <a:picLocks noChangeAspect="1"/>
          </p:cNvPicPr>
          <p:nvPr/>
        </p:nvPicPr>
        <p:blipFill>
          <a:blip r:embed="rId1"/>
          <a:stretch>
            <a:fillRect/>
          </a:stretch>
        </p:blipFill>
        <p:spPr>
          <a:xfrm>
            <a:off x="7201814" y="1669694"/>
            <a:ext cx="546811" cy="546811"/>
          </a:xfrm>
          <a:prstGeom prst="rect">
            <a:avLst/>
          </a:prstGeom>
        </p:spPr>
      </p:pic>
      <p:sp>
        <p:nvSpPr>
          <p:cNvPr id="14" name="Text 11"/>
          <p:cNvSpPr txBox="1"/>
          <p:nvPr/>
        </p:nvSpPr>
        <p:spPr>
          <a:xfrm>
            <a:off x="6400800" y="2606040"/>
            <a:ext cx="2148840" cy="365760"/>
          </a:xfrm>
          <a:prstGeom prst="rect">
            <a:avLst/>
          </a:prstGeom>
          <a:noFill/>
          <a:ln/>
        </p:spPr>
        <p:txBody>
          <a:bodyPr wrap="square" lIns="0" tIns="0" rIns="0" bIns="0" rtlCol="0" anchor="ctr"/>
          <a:lstStyle/>
          <a:p>
            <a:pPr algn="ctr" indent="0" marL="0">
              <a:buNone/>
            </a:pPr>
            <a:r>
              <a:rPr lang="en-US" sz="1600" b="1" dirty="0">
                <a:solidFill>
                  <a:schemeClr val="tx2"/>
                </a:solidFill>
                <a:latin typeface="Calibri" pitchFamily="34" charset="0"/>
                <a:ea typeface="Calibri" pitchFamily="34" charset="-122"/>
                <a:cs typeface="Calibri" pitchFamily="34" charset="-120"/>
              </a:rPr>
              <a:t>Worksheet</a:t>
            </a:r>
            <a:endParaRPr lang="en-US" sz="1600" dirty="0"/>
          </a:p>
        </p:txBody>
      </p:sp>
      <p:sp>
        <p:nvSpPr>
          <p:cNvPr id="15" name="Text 12"/>
          <p:cNvSpPr txBox="1"/>
          <p:nvPr/>
        </p:nvSpPr>
        <p:spPr>
          <a:xfrm>
            <a:off x="6400800" y="3017520"/>
            <a:ext cx="2148840" cy="822960"/>
          </a:xfrm>
          <a:prstGeom prst="rect">
            <a:avLst/>
          </a:prstGeom>
          <a:noFill/>
          <a:ln/>
        </p:spPr>
        <p:txBody>
          <a:bodyPr wrap="square" lIns="0" tIns="0" rIns="0" bIns="0" rtlCol="0" anchor="t"/>
          <a:lstStyle/>
          <a:p>
            <a:pPr algn="ctr" indent="0" marL="0">
              <a:buNone/>
            </a:pPr>
            <a:r>
              <a:rPr lang="en-US" sz="1400" dirty="0">
                <a:solidFill>
                  <a:schemeClr val="tx1"/>
                </a:solidFill>
                <a:latin typeface="Calibri" pitchFamily="34" charset="0"/>
                <a:ea typeface="Calibri" pitchFamily="34" charset="-122"/>
                <a:cs typeface="Calibri" pitchFamily="34" charset="-120"/>
              </a:rPr>
              <a:t>My Tinkercad Keychain</a:t>
            </a:r>
            <a:endParaRPr lang="en-US" sz="14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Choose Your Challenge</a:t>
            </a:r>
            <a:endParaRPr lang="en-US" sz="3000" dirty="0"/>
          </a:p>
        </p:txBody>
      </p:sp>
      <p:sp>
        <p:nvSpPr>
          <p:cNvPr id="3" name="lvl0"/>
          <p:cNvSpPr/>
          <p:nvPr/>
        </p:nvSpPr>
        <p:spPr>
          <a:xfrm>
            <a:off x="457200" y="1188720"/>
            <a:ext cx="2596896" cy="3246120"/>
          </a:xfrm>
          <a:prstGeom prst="roundRect">
            <a:avLst>
              <a:gd name="adj" fmla="val 4225"/>
            </a:avLst>
          </a:prstGeom>
          <a:solidFill>
            <a:srgbClr val="F3F5F6"/>
          </a:solidFill>
          <a:ln w="12700">
            <a:solidFill>
              <a:srgbClr val="F3F5F6"/>
            </a:solidFill>
            <a:prstDash val="solid"/>
          </a:ln>
        </p:spPr>
      </p:sp>
      <p:sp>
        <p:nvSpPr>
          <p:cNvPr id="4" name="Shape 2"/>
          <p:cNvSpPr/>
          <p:nvPr/>
        </p:nvSpPr>
        <p:spPr>
          <a:xfrm>
            <a:off x="640080" y="1371600"/>
            <a:ext cx="640080" cy="640080"/>
          </a:xfrm>
          <a:prstGeom prst="ellipse">
            <a:avLst/>
          </a:prstGeom>
          <a:solidFill>
            <a:srgbClr val="2E8B57"/>
          </a:solidFill>
          <a:ln w="12700">
            <a:solidFill>
              <a:srgbClr val="2E8B57"/>
            </a:solidFill>
            <a:prstDash val="solid"/>
          </a:ln>
        </p:spPr>
      </p:sp>
      <p:pic>
        <p:nvPicPr>
          <p:cNvPr id="5" name="Image 0" descr="preencoded.png">    </p:cNvPr>
          <p:cNvPicPr>
            <a:picLocks noChangeAspect="1"/>
          </p:cNvPicPr>
          <p:nvPr/>
        </p:nvPicPr>
        <p:blipFill>
          <a:blip r:embed="rId1"/>
          <a:stretch>
            <a:fillRect/>
          </a:stretch>
        </p:blipFill>
        <p:spPr>
          <a:xfrm>
            <a:off x="793699" y="1525219"/>
            <a:ext cx="332842" cy="332842"/>
          </a:xfrm>
          <a:prstGeom prst="rect">
            <a:avLst/>
          </a:prstGeom>
        </p:spPr>
      </p:pic>
      <p:sp>
        <p:nvSpPr>
          <p:cNvPr id="6" name="Text 3"/>
          <p:cNvSpPr txBox="1"/>
          <p:nvPr/>
        </p:nvSpPr>
        <p:spPr>
          <a:xfrm>
            <a:off x="1417320" y="1417320"/>
            <a:ext cx="1554480" cy="548640"/>
          </a:xfrm>
          <a:prstGeom prst="rect">
            <a:avLst/>
          </a:prstGeom>
          <a:noFill/>
          <a:ln/>
        </p:spPr>
        <p:txBody>
          <a:bodyPr wrap="square" lIns="0" tIns="0" rIns="0" bIns="0" rtlCol="0" anchor="ctr"/>
          <a:lstStyle/>
          <a:p>
            <a:pPr indent="0" marL="0">
              <a:buNone/>
            </a:pPr>
            <a:r>
              <a:rPr lang="en-US" sz="2000" b="1" dirty="0">
                <a:solidFill>
                  <a:srgbClr val="2E8B57"/>
                </a:solidFill>
                <a:latin typeface="Calibri" pitchFamily="34" charset="0"/>
                <a:ea typeface="Calibri" pitchFamily="34" charset="-122"/>
                <a:cs typeface="Calibri" pitchFamily="34" charset="-120"/>
              </a:rPr>
              <a:t>Beginning</a:t>
            </a:r>
            <a:endParaRPr lang="en-US" sz="2000" dirty="0"/>
          </a:p>
        </p:txBody>
      </p:sp>
      <p:sp>
        <p:nvSpPr>
          <p:cNvPr id="7" name="Text 4"/>
          <p:cNvSpPr txBox="1"/>
          <p:nvPr/>
        </p:nvSpPr>
        <p:spPr>
          <a:xfrm>
            <a:off x="640080"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Follow the step cards to build a rectangle keychain with your initials.</a:t>
            </a:r>
            <a:endParaRPr lang="en-US" sz="1400" dirty="0"/>
          </a:p>
        </p:txBody>
      </p:sp>
      <p:sp>
        <p:nvSpPr>
          <p:cNvPr id="8" name="lvl1"/>
          <p:cNvSpPr/>
          <p:nvPr/>
        </p:nvSpPr>
        <p:spPr>
          <a:xfrm>
            <a:off x="3273552" y="1188720"/>
            <a:ext cx="2596896" cy="3246120"/>
          </a:xfrm>
          <a:prstGeom prst="roundRect">
            <a:avLst>
              <a:gd name="adj" fmla="val 4225"/>
            </a:avLst>
          </a:prstGeom>
          <a:solidFill>
            <a:srgbClr val="F3F5F6"/>
          </a:solidFill>
          <a:ln w="12700">
            <a:solidFill>
              <a:srgbClr val="F3F5F6"/>
            </a:solidFill>
            <a:prstDash val="solid"/>
          </a:ln>
        </p:spPr>
      </p:sp>
      <p:sp>
        <p:nvSpPr>
          <p:cNvPr id="9" name="Shape 6"/>
          <p:cNvSpPr/>
          <p:nvPr/>
        </p:nvSpPr>
        <p:spPr>
          <a:xfrm>
            <a:off x="3456432" y="1371600"/>
            <a:ext cx="640080" cy="640080"/>
          </a:xfrm>
          <a:prstGeom prst="ellipse">
            <a:avLst/>
          </a:prstGeom>
          <a:solidFill>
            <a:srgbClr val="0E7C80"/>
          </a:solidFill>
          <a:ln w="12700">
            <a:solidFill>
              <a:srgbClr val="0E7C80"/>
            </a:solidFill>
            <a:prstDash val="solid"/>
          </a:ln>
        </p:spPr>
      </p:sp>
      <p:pic>
        <p:nvPicPr>
          <p:cNvPr id="10" name="Image 1" descr="preencoded.png">    </p:cNvPr>
          <p:cNvPicPr>
            <a:picLocks noChangeAspect="1"/>
          </p:cNvPicPr>
          <p:nvPr/>
        </p:nvPicPr>
        <p:blipFill>
          <a:blip r:embed="rId2"/>
          <a:stretch>
            <a:fillRect/>
          </a:stretch>
        </p:blipFill>
        <p:spPr>
          <a:xfrm>
            <a:off x="3610051" y="1525219"/>
            <a:ext cx="332842" cy="332842"/>
          </a:xfrm>
          <a:prstGeom prst="rect">
            <a:avLst/>
          </a:prstGeom>
        </p:spPr>
      </p:pic>
      <p:sp>
        <p:nvSpPr>
          <p:cNvPr id="11" name="Text 7"/>
          <p:cNvSpPr txBox="1"/>
          <p:nvPr/>
        </p:nvSpPr>
        <p:spPr>
          <a:xfrm>
            <a:off x="4233672" y="1417320"/>
            <a:ext cx="1554480" cy="548640"/>
          </a:xfrm>
          <a:prstGeom prst="rect">
            <a:avLst/>
          </a:prstGeom>
          <a:noFill/>
          <a:ln/>
        </p:spPr>
        <p:txBody>
          <a:bodyPr wrap="square" lIns="0" tIns="0" rIns="0" bIns="0" rtlCol="0" anchor="ctr"/>
          <a:lstStyle/>
          <a:p>
            <a:pPr indent="0" marL="0">
              <a:buNone/>
            </a:pPr>
            <a:r>
              <a:rPr lang="en-US" sz="2000" b="1" dirty="0">
                <a:solidFill>
                  <a:srgbClr val="0E7C80"/>
                </a:solidFill>
                <a:latin typeface="Calibri" pitchFamily="34" charset="0"/>
                <a:ea typeface="Calibri" pitchFamily="34" charset="-122"/>
                <a:cs typeface="Calibri" pitchFamily="34" charset="-120"/>
              </a:rPr>
              <a:t>On</a:t>
            </a:r>
            <a:endParaRPr lang="en-US" sz="2000" dirty="0"/>
          </a:p>
        </p:txBody>
      </p:sp>
      <p:sp>
        <p:nvSpPr>
          <p:cNvPr id="12" name="Text 8"/>
          <p:cNvSpPr txBox="1"/>
          <p:nvPr/>
        </p:nvSpPr>
        <p:spPr>
          <a:xfrm>
            <a:off x="3456432"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Design a keychain with your full name and a ring hole, all sizes correct.</a:t>
            </a:r>
            <a:endParaRPr lang="en-US" sz="1400" dirty="0"/>
          </a:p>
        </p:txBody>
      </p:sp>
      <p:sp>
        <p:nvSpPr>
          <p:cNvPr id="13" name="lvl2"/>
          <p:cNvSpPr/>
          <p:nvPr/>
        </p:nvSpPr>
        <p:spPr>
          <a:xfrm>
            <a:off x="6089904" y="1188720"/>
            <a:ext cx="2596896" cy="3246120"/>
          </a:xfrm>
          <a:prstGeom prst="roundRect">
            <a:avLst>
              <a:gd name="adj" fmla="val 4225"/>
            </a:avLst>
          </a:prstGeom>
          <a:solidFill>
            <a:srgbClr val="F3F5F6"/>
          </a:solidFill>
          <a:ln w="12700">
            <a:solidFill>
              <a:srgbClr val="F3F5F6"/>
            </a:solidFill>
            <a:prstDash val="solid"/>
          </a:ln>
        </p:spPr>
      </p:sp>
      <p:sp>
        <p:nvSpPr>
          <p:cNvPr id="14" name="Shape 10"/>
          <p:cNvSpPr/>
          <p:nvPr/>
        </p:nvSpPr>
        <p:spPr>
          <a:xfrm>
            <a:off x="6272784" y="1371600"/>
            <a:ext cx="640080" cy="640080"/>
          </a:xfrm>
          <a:prstGeom prst="ellipse">
            <a:avLst/>
          </a:prstGeom>
          <a:solidFill>
            <a:srgbClr val="9E1B4B"/>
          </a:solidFill>
          <a:ln w="12700">
            <a:solidFill>
              <a:srgbClr val="9E1B4B"/>
            </a:solidFill>
            <a:prstDash val="solid"/>
          </a:ln>
        </p:spPr>
      </p:sp>
      <p:pic>
        <p:nvPicPr>
          <p:cNvPr id="15" name="Image 2" descr="preencoded.png">    </p:cNvPr>
          <p:cNvPicPr>
            <a:picLocks noChangeAspect="1"/>
          </p:cNvPicPr>
          <p:nvPr/>
        </p:nvPicPr>
        <p:blipFill>
          <a:blip r:embed="rId3"/>
          <a:stretch>
            <a:fillRect/>
          </a:stretch>
        </p:blipFill>
        <p:spPr>
          <a:xfrm>
            <a:off x="6426403" y="1525219"/>
            <a:ext cx="332842" cy="332842"/>
          </a:xfrm>
          <a:prstGeom prst="rect">
            <a:avLst/>
          </a:prstGeom>
        </p:spPr>
      </p:pic>
      <p:sp>
        <p:nvSpPr>
          <p:cNvPr id="16" name="Text 11"/>
          <p:cNvSpPr txBox="1"/>
          <p:nvPr/>
        </p:nvSpPr>
        <p:spPr>
          <a:xfrm>
            <a:off x="7050024" y="1417320"/>
            <a:ext cx="1554480" cy="548640"/>
          </a:xfrm>
          <a:prstGeom prst="rect">
            <a:avLst/>
          </a:prstGeom>
          <a:noFill/>
          <a:ln/>
        </p:spPr>
        <p:txBody>
          <a:bodyPr wrap="square" lIns="0" tIns="0" rIns="0" bIns="0" rtlCol="0" anchor="ctr"/>
          <a:lstStyle/>
          <a:p>
            <a:pPr indent="0" marL="0">
              <a:buNone/>
            </a:pPr>
            <a:r>
              <a:rPr lang="en-US" sz="2000" b="1" dirty="0">
                <a:solidFill>
                  <a:srgbClr val="9E1B4B"/>
                </a:solidFill>
                <a:latin typeface="Calibri" pitchFamily="34" charset="0"/>
                <a:ea typeface="Calibri" pitchFamily="34" charset="-122"/>
                <a:cs typeface="Calibri" pitchFamily="34" charset="-120"/>
              </a:rPr>
              <a:t>Above</a:t>
            </a:r>
            <a:endParaRPr lang="en-US" sz="2000" dirty="0"/>
          </a:p>
        </p:txBody>
      </p:sp>
      <p:sp>
        <p:nvSpPr>
          <p:cNvPr id="17" name="Text 12"/>
          <p:cNvSpPr txBox="1"/>
          <p:nvPr/>
        </p:nvSpPr>
        <p:spPr>
          <a:xfrm>
            <a:off x="6272784" y="2194560"/>
            <a:ext cx="2240280" cy="21031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Add a shape or pattern (for example a dhow or a Sadu-inspired border) and round the corners.</a:t>
            </a:r>
            <a:endParaRPr lang="en-US" sz="14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457200" y="320040"/>
            <a:ext cx="8229600" cy="685800"/>
          </a:xfrm>
          <a:prstGeom prst="rect">
            <a:avLst/>
          </a:prstGeom>
          <a:noFill/>
          <a:ln/>
        </p:spPr>
        <p:txBody>
          <a:bodyPr wrap="square" lIns="0" tIns="0" rIns="0" bIns="0" rtlCol="0" anchor="ctr"/>
          <a:lstStyle/>
          <a:p>
            <a:pPr indent="0" marL="0">
              <a:buNone/>
            </a:pPr>
            <a:r>
              <a:rPr lang="en-US" sz="3000" b="1" dirty="0">
                <a:solidFill>
                  <a:schemeClr val="bg1"/>
                </a:solidFill>
              </a:rPr>
              <a:t>Live Quiz Time</a:t>
            </a:r>
            <a:endParaRPr lang="en-US" sz="3000" dirty="0"/>
          </a:p>
        </p:txBody>
      </p:sp>
      <p:sp>
        <p:nvSpPr>
          <p:cNvPr id="3" name="Shape 1"/>
          <p:cNvSpPr/>
          <p:nvPr/>
        </p:nvSpPr>
        <p:spPr>
          <a:xfrm>
            <a:off x="457200" y="1234440"/>
            <a:ext cx="1463040" cy="1463040"/>
          </a:xfrm>
          <a:prstGeom prst="ellipse">
            <a:avLst/>
          </a:prstGeom>
          <a:solidFill>
            <a:srgbClr val="FFFFFF"/>
          </a:solidFill>
          <a:ln w="12700">
            <a:solidFill>
              <a:srgbClr val="FFFFFF"/>
            </a:solidFill>
            <a:prstDash val="solid"/>
          </a:ln>
        </p:spPr>
      </p:sp>
      <p:pic>
        <p:nvPicPr>
          <p:cNvPr id="4" name="Image 0" descr="preencoded.png">    </p:cNvPr>
          <p:cNvPicPr>
            <a:picLocks noChangeAspect="1"/>
          </p:cNvPicPr>
          <p:nvPr/>
        </p:nvPicPr>
        <p:blipFill>
          <a:blip r:embed="rId1"/>
          <a:stretch>
            <a:fillRect/>
          </a:stretch>
        </p:blipFill>
        <p:spPr>
          <a:xfrm>
            <a:off x="808330" y="1585570"/>
            <a:ext cx="760781" cy="760781"/>
          </a:xfrm>
          <a:prstGeom prst="rect">
            <a:avLst/>
          </a:prstGeom>
        </p:spPr>
      </p:pic>
      <p:sp>
        <p:nvSpPr>
          <p:cNvPr id="5" name="Text 2"/>
          <p:cNvSpPr txBox="1"/>
          <p:nvPr/>
        </p:nvSpPr>
        <p:spPr>
          <a:xfrm>
            <a:off x="2286000" y="1234440"/>
            <a:ext cx="6400800" cy="2194560"/>
          </a:xfrm>
          <a:prstGeom prst="rect">
            <a:avLst/>
          </a:prstGeom>
          <a:noFill/>
          <a:ln/>
        </p:spPr>
        <p:txBody>
          <a:bodyPr wrap="square" lIns="0" tIns="0" rIns="0" bIns="0" rtlCol="0" anchor="t"/>
          <a:lstStyle/>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1. Open the TCD website and tap Join a Quiz.</a:t>
            </a:r>
            <a:endParaRPr lang="en-US" sz="1800" dirty="0"/>
          </a:p>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2. Enter the quiz code on the board.</a:t>
            </a:r>
            <a:endParaRPr lang="en-US" sz="1800" dirty="0"/>
          </a:p>
          <a:p>
            <a:pPr indent="0" marL="0">
              <a:spcAft>
                <a:spcPts val="800"/>
              </a:spcAft>
              <a:buNone/>
            </a:pPr>
            <a:r>
              <a:rPr lang="en-US" sz="1800" dirty="0">
                <a:solidFill>
                  <a:schemeClr val="bg1"/>
                </a:solidFill>
                <a:latin typeface="Calibri" pitchFamily="34" charset="0"/>
                <a:ea typeface="Calibri" pitchFamily="34" charset="-122"/>
                <a:cs typeface="Calibri" pitchFamily="34" charset="-120"/>
              </a:rPr>
              <a:t>3. Type your Student ID, first name and last name.</a:t>
            </a:r>
            <a:endParaRPr lang="en-US" sz="1800" dirty="0"/>
          </a:p>
          <a:p>
            <a:pPr indent="0" marL="0">
              <a:buNone/>
            </a:pPr>
            <a:r>
              <a:rPr lang="en-US" sz="1800" dirty="0">
                <a:solidFill>
                  <a:schemeClr val="bg1"/>
                </a:solidFill>
                <a:latin typeface="Calibri" pitchFamily="34" charset="0"/>
                <a:ea typeface="Calibri" pitchFamily="34" charset="-122"/>
                <a:cs typeface="Calibri" pitchFamily="34" charset="-120"/>
              </a:rPr>
              <a:t>4. Answer 8 questions. Fast and correct answers score more points!</a:t>
            </a:r>
            <a:endParaRPr lang="en-US" sz="1800" dirty="0"/>
          </a:p>
        </p:txBody>
      </p:sp>
      <p:sp>
        <p:nvSpPr>
          <p:cNvPr id="6" name="codeBox"/>
          <p:cNvSpPr/>
          <p:nvPr/>
        </p:nvSpPr>
        <p:spPr>
          <a:xfrm>
            <a:off x="2286000" y="3611880"/>
            <a:ext cx="3840480" cy="777240"/>
          </a:xfrm>
          <a:prstGeom prst="roundRect">
            <a:avLst>
              <a:gd name="adj" fmla="val 14118"/>
            </a:avLst>
          </a:prstGeom>
          <a:solidFill>
            <a:srgbClr val="FFFFFF"/>
          </a:solidFill>
          <a:ln w="12700">
            <a:solidFill>
              <a:srgbClr val="FFFFFF"/>
            </a:solidFill>
            <a:prstDash val="solid"/>
          </a:ln>
        </p:spPr>
      </p:sp>
      <p:sp>
        <p:nvSpPr>
          <p:cNvPr id="7" name="Text 4"/>
          <p:cNvSpPr txBox="1"/>
          <p:nvPr/>
        </p:nvSpPr>
        <p:spPr>
          <a:xfrm>
            <a:off x="2286000" y="3611880"/>
            <a:ext cx="3840480" cy="777240"/>
          </a:xfrm>
          <a:prstGeom prst="rect">
            <a:avLst/>
          </a:prstGeom>
          <a:noFill/>
          <a:ln/>
        </p:spPr>
        <p:txBody>
          <a:bodyPr wrap="square" lIns="0" tIns="0" rIns="0" bIns="0" rtlCol="0" anchor="ctr"/>
          <a:lstStyle/>
          <a:p>
            <a:pPr algn="ctr" indent="0" marL="0">
              <a:buNone/>
            </a:pPr>
            <a:r>
              <a:rPr lang="en-US" sz="2200" b="1" dirty="0">
                <a:solidFill>
                  <a:srgbClr val="0E7C80"/>
                </a:solidFill>
                <a:latin typeface="Calibri" pitchFamily="34" charset="0"/>
                <a:ea typeface="Calibri" pitchFamily="34" charset="-122"/>
                <a:cs typeface="Calibri" pitchFamily="34" charset="-120"/>
              </a:rPr>
              <a:t>Quiz code:  _ _ _ _ _ _</a:t>
            </a:r>
            <a:endParaRPr lang="en-US" sz="2200" dirty="0"/>
          </a:p>
        </p:txBody>
      </p:sp>
      <p:sp>
        <p:nvSpPr>
          <p:cNvPr id="25" name="Slide Number Placeholder 0"/>
          <p:cNvSpPr>
            <a:spLocks noGrp="1"/>
          </p:cNvSpPr>
          <p:nvPr>
            <p:ph type="sldNum" sz="quarter" idx="4294967295"/>
          </p:nvPr>
        </p:nvSpPr>
        <p:spPr>
          <a:xfrm>
            <a:off x="45720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bg1"/>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chemeClr val="tx2"/>
                </a:solidFill>
              </a:rPr>
              <a:t>Reflect: Exit Ticket</a:t>
            </a:r>
            <a:endParaRPr lang="en-US" sz="3000" dirty="0"/>
          </a:p>
        </p:txBody>
      </p:sp>
      <p:sp>
        <p:nvSpPr>
          <p:cNvPr id="3" name="ref0"/>
          <p:cNvSpPr/>
          <p:nvPr/>
        </p:nvSpPr>
        <p:spPr>
          <a:xfrm>
            <a:off x="457200" y="1188720"/>
            <a:ext cx="4754880" cy="777240"/>
          </a:xfrm>
          <a:prstGeom prst="roundRect">
            <a:avLst>
              <a:gd name="adj" fmla="val 14118"/>
            </a:avLst>
          </a:prstGeom>
          <a:solidFill>
            <a:srgbClr val="E6F2F2"/>
          </a:solidFill>
          <a:ln w="12700">
            <a:solidFill>
              <a:srgbClr val="E6F2F2"/>
            </a:solidFill>
            <a:prstDash val="solid"/>
          </a:ln>
        </p:spPr>
      </p:sp>
      <p:sp>
        <p:nvSpPr>
          <p:cNvPr id="4" name="Text 2"/>
          <p:cNvSpPr txBox="1"/>
          <p:nvPr/>
        </p:nvSpPr>
        <p:spPr>
          <a:xfrm>
            <a:off x="640080" y="1188720"/>
            <a:ext cx="4480560" cy="77724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Which Tinkercad tool did you use most?</a:t>
            </a:r>
            <a:endParaRPr lang="en-US" sz="1600" dirty="0"/>
          </a:p>
        </p:txBody>
      </p:sp>
      <p:sp>
        <p:nvSpPr>
          <p:cNvPr id="5" name="ref1"/>
          <p:cNvSpPr/>
          <p:nvPr/>
        </p:nvSpPr>
        <p:spPr>
          <a:xfrm>
            <a:off x="457200" y="2103120"/>
            <a:ext cx="4754880" cy="777240"/>
          </a:xfrm>
          <a:prstGeom prst="roundRect">
            <a:avLst>
              <a:gd name="adj" fmla="val 14118"/>
            </a:avLst>
          </a:prstGeom>
          <a:solidFill>
            <a:srgbClr val="F3F5F6"/>
          </a:solidFill>
          <a:ln w="12700">
            <a:solidFill>
              <a:srgbClr val="F3F5F6"/>
            </a:solidFill>
            <a:prstDash val="solid"/>
          </a:ln>
        </p:spPr>
      </p:sp>
      <p:sp>
        <p:nvSpPr>
          <p:cNvPr id="6" name="Text 4"/>
          <p:cNvSpPr txBox="1"/>
          <p:nvPr/>
        </p:nvSpPr>
        <p:spPr>
          <a:xfrm>
            <a:off x="640080" y="2103120"/>
            <a:ext cx="4480560" cy="77724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What would you add to your design next time?</a:t>
            </a:r>
            <a:endParaRPr lang="en-US" sz="1600" dirty="0"/>
          </a:p>
        </p:txBody>
      </p:sp>
      <p:sp>
        <p:nvSpPr>
          <p:cNvPr id="7" name="Text 5"/>
          <p:cNvSpPr txBox="1"/>
          <p:nvPr/>
        </p:nvSpPr>
        <p:spPr>
          <a:xfrm>
            <a:off x="5577840" y="1188720"/>
            <a:ext cx="3108960" cy="365760"/>
          </a:xfrm>
          <a:prstGeom prst="rect">
            <a:avLst/>
          </a:prstGeom>
          <a:noFill/>
          <a:ln/>
        </p:spPr>
        <p:txBody>
          <a:bodyPr wrap="square" lIns="0" tIns="0" rIns="0" bIns="0" rtlCol="0" anchor="ctr"/>
          <a:lstStyle/>
          <a:p>
            <a:pPr indent="0" marL="0">
              <a:buNone/>
            </a:pPr>
            <a:r>
              <a:rPr lang="en-US" sz="1500" b="1" dirty="0">
                <a:solidFill>
                  <a:schemeClr val="accent2"/>
                </a:solidFill>
                <a:latin typeface="Calibri" pitchFamily="34" charset="0"/>
                <a:ea typeface="Calibri" pitchFamily="34" charset="-122"/>
                <a:cs typeface="Calibri" pitchFamily="34" charset="-120"/>
              </a:rPr>
              <a:t>Check your success criteria</a:t>
            </a:r>
            <a:endParaRPr lang="en-US" sz="1500" dirty="0"/>
          </a:p>
        </p:txBody>
      </p:sp>
      <p:sp>
        <p:nvSpPr>
          <p:cNvPr id="8" name="Text 6"/>
          <p:cNvSpPr txBox="1"/>
          <p:nvPr/>
        </p:nvSpPr>
        <p:spPr>
          <a:xfrm>
            <a:off x="5577840" y="1645920"/>
            <a:ext cx="3108960" cy="27432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drag, resize and rotate shapes using millimetre measurements.</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use a hole shape to cut a ring hole.</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align and group shapes into one object.</a:t>
            </a:r>
            <a:endParaRPr lang="en-US" sz="1300" dirty="0"/>
          </a:p>
          <a:p>
            <a:pPr marL="342900" indent="-342900">
              <a:spcAft>
                <a:spcPts val="600"/>
              </a:spcAft>
              <a:buSzPct val="100000"/>
              <a:buChar char="☐"/>
            </a:pPr>
            <a:r>
              <a:rPr lang="en-US" sz="1300" dirty="0">
                <a:solidFill>
                  <a:schemeClr val="tx1"/>
                </a:solidFill>
                <a:latin typeface="Calibri" pitchFamily="34" charset="0"/>
                <a:ea typeface="Calibri" pitchFamily="34" charset="-122"/>
                <a:cs typeface="Calibri" pitchFamily="34" charset="-120"/>
              </a:rPr>
              <a:t>I can add raised text to my design.</a:t>
            </a:r>
            <a:endParaRPr lang="en-US" sz="1300" dirty="0"/>
          </a:p>
        </p:txBody>
      </p:sp>
      <p:sp>
        <p:nvSpPr>
          <p:cNvPr id="25" name="Slide Number Placeholder 0"/>
          <p:cNvSpPr>
            <a:spLocks noGrp="1"/>
          </p:cNvSpPr>
          <p:nvPr>
            <p:ph type="sldNum" sz="quarter" idx="4294967295"/>
          </p:nvPr>
        </p:nvSpPr>
        <p:spPr>
          <a:xfrm>
            <a:off x="7040880" y="468172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6"/>
                </a:solidFill>
              </a:defRPr>
            </a:lvl1pPr>
          </a:lstStyle>
          <a:p>
            <a:pPr algn="l"/>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TCD Dubai">
  <a:themeElements>
    <a:clrScheme name="TCD Dubai">
      <a:dk1>
        <a:srgbClr val="1F2A33"/>
      </a:dk1>
      <a:lt1>
        <a:srgbClr val="FFFFFF"/>
      </a:lt1>
      <a:dk2>
        <a:srgbClr val="0E7C80"/>
      </a:dk2>
      <a:lt2>
        <a:srgbClr val="E6F2F2"/>
      </a:lt2>
      <a:accent1>
        <a:srgbClr val="0E7C80"/>
      </a:accent1>
      <a:accent2>
        <a:srgbClr val="9E1B4B"/>
      </a:accent2>
      <a:accent3>
        <a:srgbClr val="F2A31B"/>
      </a:accent3>
      <a:accent4>
        <a:srgbClr val="2E8B57"/>
      </a:accent4>
      <a:accent5>
        <a:srgbClr val="3A6EA5"/>
      </a:accent5>
      <a:accent6>
        <a:srgbClr val="5F6B73"/>
      </a:accent6>
      <a:hlink>
        <a:srgbClr val="0E7C80"/>
      </a:hlink>
      <a:folHlink>
        <a:srgbClr val="9E1B4B"/>
      </a:folHlink>
    </a:clrScheme>
    <a:fontScheme name="TCD Dubai">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Emirates National Schools TCD Dubai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Junior Designer Challenge: Tinkercad Basics: Keychain or Name Tag</dc:title>
  <dc:subject>PptxGenJS Presentation</dc:subject>
  <dc:creator>Ms. Lubna Kakkengal and Mr. Dilan Devendra</dc:creator>
  <cp:lastModifiedBy>Ms. Lubna Kakkengal and Mr. Dilan Devendra</cp:lastModifiedBy>
  <cp:revision>1</cp:revision>
  <dcterms:created xsi:type="dcterms:W3CDTF">2026-10-24T13:20:57Z</dcterms:created>
  <dcterms:modified xsi:type="dcterms:W3CDTF">2026-10-24T13:20:57Z</dcterms:modified>
</cp:coreProperties>
</file>