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4794228-2e8f-dad4-08e7-c09ba5ea96be}">
          <p14:sldIdLst>
            <p14:sldId id="256"/>
            <p14:sldId id="257"/>
            <p14:sldId id="258"/>
            <p14:sldId id="259"/>
            <p14:sldId id="260"/>
          </p14:sldIdLst>
        </p14:section>
        <p14:section name="Learn" id="{af5b9fc9-6d5c-02ce-d836-57dccdf6978d}">
          <p14:sldIdLst>
            <p14:sldId id="261"/>
            <p14:sldId id="262"/>
            <p14:sldId id="263"/>
            <p14:sldId id="264"/>
          </p14:sldIdLst>
        </p14:section>
        <p14:section name="Make" id="{a84428b0-28e7-5d87-3245-0e426603a1e6}">
          <p14:sldIdLst>
            <p14:sldId id="265"/>
            <p14:sldId id="266"/>
            <p14:sldId id="267"/>
            <p14:sldId id="268"/>
          </p14:sldIdLst>
        </p14:section>
        <p14:section name="Check" id="{9af096ed-1699-3197-7083-e5790a2f6a75}">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 5 TCD class, Junior Designer Challenge Session 2 of 5 (1 hour 30 minutes). Students study an existing car logo from the teacher's reference sheet, break it into simple shapes and rebuild it as an accurate 3D model in Tinkercad.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hook video on the TCD website (lesson page, Hook Video tab). Then ask: Why can you recognise a car brand from just a few simple shapes?
Video scenes: Look closely: Most car logos are built from circles, rings, stars and letters. | Simple is strong: Simple shapes are easy to remember and easy to make. | Designers rebuild: Engineers model logos in 3D for car badges and wheels. | Your mission: Rebuild a real car logo as a 3D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learning goal together. Students rate themselves now (1 to 3 fingers) for each success criterion and again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(5 min): Show three car logos built from simple shapes, one at a time, for 3 seconds each. Students write down the shapes they saw: circles, rings, stars, triangles, letters. Discuss: why are these logos easy to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Pre-teach vocabulary: logo, symmetry, mirror, duplicate, rotate, scale, ring, reference. Point to the word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it into shapes: Look at the logo and find the outer shape first. Then find the inner shapes and any letters. Ask: which parts are solid and which parts are empty? Empty parts will be holes.
Most car logos are made of simple shapes such as circles, rings, stars, triangles and letters. Simple logos are easy to remember and easy to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Rings and cut-outs: A ring is a solid cylinder with a smaller hole cylinder in the middle. Centre them with the Align tool. Group to cut the hole. Overlapping rings: build one, duplicate it, move it across.
To model a logo, start with the outer shape, then add the inner shapes. Parts that are empty become hole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Symmetry tools: Duplicate (Ctrl+D) makes an exact copy. Rotate turns a shape by a set angle, for example 120 degrees for a three-point star. Mirror flips a shape to make the other half. Symmetry makes logos look balanced.
Symmetry makes a logo look balanced. Use duplicate to copy, rotate to turn by an exact angle and mirror to flip.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and base: Make the whole logo 60 mm wide. Give it a 4 mm thick base or make the parts 4 mm tall. Check that thin parts are at least 2 mm wide so they print well. Group everything into one object.
Symmetry makes a logo look balanced. Use duplicate to copy, rotate to turn by an exact angle and mirror to flip.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each step. 1. Choose a logo from the reference sheet 2. Sketch and label its shapes 3. Build the outer shape 4. Add inner shapes and holes 5. Use duplicate, rotate and mirror 6. Scale to 60 mm and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rule aloud. Students repeat the rule and show the action. Do not continue until every student can say the rules. Keep drinks away from devices. Save your work every 10 minutes. Use only the teacher's reference sheet for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practice. Choose one car logo from the reference sheet. Complete the shape breakdown. Rebuild it in Tinkercad at 60 mm wide and 4 mm thick. Compare your model with the reference and fix differences.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a level. Encourage them to try the next level once they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open this lesson on the TCD website, press Start Live Quiz, and write the code on the board. Questions: 1. What is the first step when modelling a logo? 2. How do you make a ring in Tinkercad? 3. Which tool makes an exact copy of a shape? 4. A logo has three equal points. What angle do you rotate each copy? 5. What does Mirror do? 6. Why should thin parts be at least 2 mm wide? 7. What makes a logo easy to remember? 8. Our logo should be how wide?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Closure: Side-by-side check: model next to the reference. One fix for next week. Exit ticket (slide 15). Save and name the file Grade5_CarLogo_YourName.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CD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94960" y="0"/>
            <a:ext cx="3749040" cy="5143500"/>
          </a:xfrm>
          <a:prstGeom prst="rect">
            <a:avLst/>
          </a:prstGeom>
          <a:solidFill>
            <a:schemeClr val="accent1"/>
          </a:solidFill>
          <a:ln/>
        </p:spPr>
      </p:sp>
      <p:pic>
        <p:nvPicPr>
          <p:cNvPr id="3" name="Image 0" descr="preencoded.png">    </p:cNvPr>
          <p:cNvPicPr>
            <a:picLocks noChangeAspect="1"/>
          </p:cNvPicPr>
          <p:nvPr/>
        </p:nvPicPr>
        <p:blipFill>
          <a:blip r:embed="rId1"/>
          <a:stretch>
            <a:fillRect/>
          </a:stretch>
        </p:blipFill>
        <p:spPr>
          <a:xfrm>
            <a:off x="457200" y="411480"/>
            <a:ext cx="2377440" cy="722376"/>
          </a:xfrm>
          <a:prstGeom prst="rect">
            <a:avLst/>
          </a:prstGeom>
        </p:spPr>
      </p:pic>
      <p:sp>
        <p:nvSpPr>
          <p:cNvPr id="4" name="Text 1"/>
          <p:cNvSpPr/>
          <p:nvPr>
            <p:ph idx="102" type="title" hasCustomPrompt="1"/>
          </p:nvPr>
        </p:nvSpPr>
        <p:spPr>
          <a:xfrm>
            <a:off x="457200" y="1600200"/>
            <a:ext cx="4663440" cy="155448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5" name="Text 1"/>
          <p:cNvSpPr/>
          <p:nvPr>
            <p:ph idx="103" type="body" hasCustomPrompt="1"/>
          </p:nvPr>
        </p:nvSpPr>
        <p:spPr>
          <a:xfrm>
            <a:off x="457200" y="3291840"/>
            <a:ext cx="4663440" cy="1097280"/>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CD_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26680" y="4663440"/>
            <a:ext cx="1051560" cy="320040"/>
          </a:xfrm>
          <a:prstGeom prst="rect">
            <a:avLst/>
          </a:prstGeom>
        </p:spPr>
      </p:pic>
      <p:sp>
        <p:nvSpPr>
          <p:cNvPr id="3" name="Text 0"/>
          <p:cNvSpPr/>
          <p:nvPr/>
        </p:nvSpPr>
        <p:spPr>
          <a:xfrm>
            <a:off x="457200" y="4681728"/>
            <a:ext cx="5943600" cy="274320"/>
          </a:xfrm>
          <a:prstGeom prst="rect">
            <a:avLst/>
          </a:prstGeom>
          <a:noFill/>
          <a:ln/>
        </p:spPr>
        <p:txBody>
          <a:bodyPr wrap="square" lIns="0" tIns="0" rIns="0" bIns="0" rtlCol="0" anchor="ctr"/>
          <a:lstStyle/>
          <a:p>
            <a:pPr indent="0" marL="0">
              <a:buNone/>
            </a:pPr>
            <a:r>
              <a:rPr lang="en-US" sz="900" dirty="0">
                <a:solidFill>
                  <a:schemeClr val="accent6"/>
                </a:solidFill>
              </a:rPr>
              <a:t>Grade 5  |  Term 1, Week 10  |  Junior Designer Challenge</a:t>
            </a:r>
            <a:endParaRPr lang="en-US" sz="900" dirty="0"/>
          </a:p>
        </p:txBody>
      </p:sp>
      <p:sp>
        <p:nvSpPr>
          <p:cNvPr id="4" name="Text 1"/>
          <p:cNvSpPr/>
          <p:nvPr>
            <p:ph idx="102"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CD_DARK">
    <p:bg>
      <p:bgPr>
        <a:solidFill>
          <a:schemeClr val="accent1"/>
        </a:solidFill>
      </p:bgPr>
    </p:bg>
    <p:spTree>
      <p:nvGrpSpPr>
        <p:cNvPr id="1" name=""/>
        <p:cNvGrpSpPr/>
        <p:nvPr/>
      </p:nvGrpSpPr>
      <p:grpSpPr>
        <a:xfrm>
          <a:off x="0" y="0"/>
          <a:ext cx="0" cy="0"/>
          <a:chOff x="0" y="0"/>
          <a:chExt cx="0" cy="0"/>
        </a:xfrm>
      </p:grpSpPr>
      <p:sp>
        <p:nvSpPr>
          <p:cNvPr id="2" name="Shape 0"/>
          <p:cNvSpPr/>
          <p:nvPr/>
        </p:nvSpPr>
        <p:spPr>
          <a:xfrm>
            <a:off x="7589520" y="4553712"/>
            <a:ext cx="1325880" cy="457200"/>
          </a:xfrm>
          <a:prstGeom prst="rect">
            <a:avLst>
              <a:gd name="adj" fmla="val 16000"/>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7680960" y="4617720"/>
            <a:ext cx="1143000" cy="347472"/>
          </a:xfrm>
          <a:prstGeom prst="rect">
            <a:avLst/>
          </a:prstGeom>
        </p:spPr>
      </p:pic>
      <p:sp>
        <p:nvSpPr>
          <p:cNvPr id="4" name="Text 1"/>
          <p:cNvSpPr/>
          <p:nvPr>
            <p:ph idx="102" type="title" hasCustomPrompt="1"/>
          </p:nvPr>
        </p:nvSpPr>
        <p:spPr>
          <a:xfrm>
            <a:off x="457200" y="320040"/>
            <a:ext cx="8229600" cy="68580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457200" y="1600200"/>
            <a:ext cx="4663440" cy="1554480"/>
          </a:xfrm>
          <a:prstGeom prst="rect">
            <a:avLst/>
          </a:prstGeom>
          <a:noFill/>
          <a:ln/>
        </p:spPr>
        <p:txBody>
          <a:bodyPr wrap="square" lIns="0" tIns="0" rIns="0" bIns="0" rtlCol="0" anchor="t"/>
          <a:lstStyle/>
          <a:p>
            <a:pPr indent="0" marL="0">
              <a:buNone/>
            </a:pPr>
            <a:r>
              <a:rPr lang="en-US" sz="3400" b="1" dirty="0">
                <a:solidFill>
                  <a:schemeClr val="tx1"/>
                </a:solidFill>
              </a:rPr>
              <a:t>3D Modelling a Car Logo</a:t>
            </a:r>
            <a:endParaRPr lang="en-US" sz="3400" dirty="0"/>
          </a:p>
        </p:txBody>
      </p:sp>
      <p:sp>
        <p:nvSpPr>
          <p:cNvPr id="3" name="Text 1"/>
          <p:cNvSpPr/>
          <p:nvPr>
            <p:ph idx="103" type="body" hasCustomPrompt="1"/>
          </p:nvPr>
        </p:nvSpPr>
        <p:spPr>
          <a:xfrm>
            <a:off x="457200" y="3291840"/>
            <a:ext cx="4663440" cy="1097280"/>
          </a:xfrm>
          <a:prstGeom prst="rect">
            <a:avLst/>
          </a:prstGeom>
          <a:noFill/>
          <a:ln/>
        </p:spPr>
        <p:txBody>
          <a:bodyPr wrap="square" lIns="0" tIns="0" rIns="0" bIns="0" rtlCol="0" anchor="t"/>
          <a:lstStyle/>
          <a:p>
            <a:pPr indent="0" marL="0">
              <a:buNone/>
            </a:pPr>
            <a:r>
              <a:rPr lang="en-US" sz="1500" dirty="0">
                <a:solidFill>
                  <a:schemeClr val="accent6"/>
                </a:solidFill>
              </a:rPr>
              <a:t>Junior Designer Challenge</a:t>
            </a:r>
            <a:endParaRPr lang="en-US" sz="1500" dirty="0"/>
          </a:p>
          <a:p>
            <a:pPr indent="0" marL="0">
              <a:buNone/>
            </a:pPr>
            <a:r>
              <a:rPr lang="en-US" sz="1500" dirty="0">
                <a:solidFill>
                  <a:schemeClr val="accent6"/>
                </a:solidFill>
              </a:rPr>
              <a:t>Grade 5  |  Term 1  |  Week 10 (2 Nov to 6 Nov)</a:t>
            </a:r>
            <a:endParaRPr lang="en-US" sz="1500" dirty="0"/>
          </a:p>
        </p:txBody>
      </p:sp>
      <p:sp>
        <p:nvSpPr>
          <p:cNvPr id="4" name="Text 2"/>
          <p:cNvSpPr txBox="1"/>
          <p:nvPr/>
        </p:nvSpPr>
        <p:spPr>
          <a:xfrm>
            <a:off x="457200" y="1234440"/>
            <a:ext cx="4663440" cy="274320"/>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JUNIOR DESIGNER CHALLENGE</a:t>
            </a:r>
            <a:endParaRPr lang="en-US" sz="1100" dirty="0"/>
          </a:p>
        </p:txBody>
      </p:sp>
      <p:sp>
        <p:nvSpPr>
          <p:cNvPr id="5" name="Shape 3"/>
          <p:cNvSpPr/>
          <p:nvPr/>
        </p:nvSpPr>
        <p:spPr>
          <a:xfrm>
            <a:off x="6355080" y="914400"/>
            <a:ext cx="1828800" cy="18288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6793992" y="1353312"/>
            <a:ext cx="950976" cy="950976"/>
          </a:xfrm>
          <a:prstGeom prst="rect">
            <a:avLst/>
          </a:prstGeom>
        </p:spPr>
      </p:pic>
      <p:sp>
        <p:nvSpPr>
          <p:cNvPr id="7" name="Text 4"/>
          <p:cNvSpPr txBox="1"/>
          <p:nvPr/>
        </p:nvSpPr>
        <p:spPr>
          <a:xfrm>
            <a:off x="5669280" y="3063240"/>
            <a:ext cx="3200400" cy="32004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Technology and Career Centre, Dubai</a:t>
            </a:r>
            <a:endParaRPr lang="en-US" sz="1300" dirty="0"/>
          </a:p>
        </p:txBody>
      </p:sp>
      <p:sp>
        <p:nvSpPr>
          <p:cNvPr id="8" name="Text 5"/>
          <p:cNvSpPr txBox="1"/>
          <p:nvPr/>
        </p:nvSpPr>
        <p:spPr>
          <a:xfrm>
            <a:off x="5669280" y="3429000"/>
            <a:ext cx="3200400" cy="548640"/>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Ms. Lubna Kakkengal and Mr. Dilan Devendra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Hook</a:t>
            </a:r>
            <a:endParaRPr lang="en-US" sz="3000" dirty="0"/>
          </a:p>
        </p:txBody>
      </p:sp>
      <p:sp>
        <p:nvSpPr>
          <p:cNvPr id="3" name="Text 1"/>
          <p:cNvSpPr txBox="1"/>
          <p:nvPr/>
        </p:nvSpPr>
        <p:spPr>
          <a:xfrm>
            <a:off x="457200" y="1097280"/>
            <a:ext cx="8229600" cy="109728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Why can you recognise a car brand from just a few simple shapes?</a:t>
            </a:r>
            <a:endParaRPr lang="en-US" sz="2400" dirty="0"/>
          </a:p>
        </p:txBody>
      </p:sp>
      <p:sp>
        <p:nvSpPr>
          <p:cNvPr id="4" name="scene0"/>
          <p:cNvSpPr/>
          <p:nvPr/>
        </p:nvSpPr>
        <p:spPr>
          <a:xfrm>
            <a:off x="457200" y="2423160"/>
            <a:ext cx="1885950" cy="1874520"/>
          </a:xfrm>
          <a:prstGeom prst="roundRect">
            <a:avLst>
              <a:gd name="adj" fmla="val 5854"/>
            </a:avLst>
          </a:prstGeom>
          <a:solidFill>
            <a:srgbClr val="0A5C5F"/>
          </a:solidFill>
          <a:ln w="12700">
            <a:solidFill>
              <a:srgbClr val="0A5C5F"/>
            </a:solidFill>
            <a:prstDash val="solid"/>
          </a:ln>
        </p:spPr>
      </p:sp>
      <p:sp>
        <p:nvSpPr>
          <p:cNvPr id="5" name="Text 3"/>
          <p:cNvSpPr txBox="1"/>
          <p:nvPr/>
        </p:nvSpPr>
        <p:spPr>
          <a:xfrm>
            <a:off x="5943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Look closely</a:t>
            </a:r>
            <a:endParaRPr lang="en-US" sz="1400" dirty="0"/>
          </a:p>
        </p:txBody>
      </p:sp>
      <p:sp>
        <p:nvSpPr>
          <p:cNvPr id="6" name="Text 4"/>
          <p:cNvSpPr txBox="1"/>
          <p:nvPr/>
        </p:nvSpPr>
        <p:spPr>
          <a:xfrm>
            <a:off x="5943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Most car logos are built from circles, rings, stars and letters.</a:t>
            </a:r>
            <a:endParaRPr lang="en-US" sz="1300" dirty="0"/>
          </a:p>
        </p:txBody>
      </p:sp>
      <p:sp>
        <p:nvSpPr>
          <p:cNvPr id="7" name="scene1"/>
          <p:cNvSpPr/>
          <p:nvPr/>
        </p:nvSpPr>
        <p:spPr>
          <a:xfrm>
            <a:off x="2571750" y="2423160"/>
            <a:ext cx="1885950" cy="1874520"/>
          </a:xfrm>
          <a:prstGeom prst="roundRect">
            <a:avLst>
              <a:gd name="adj" fmla="val 5854"/>
            </a:avLst>
          </a:prstGeom>
          <a:solidFill>
            <a:srgbClr val="0A5C5F"/>
          </a:solidFill>
          <a:ln w="12700">
            <a:solidFill>
              <a:srgbClr val="0A5C5F"/>
            </a:solidFill>
            <a:prstDash val="solid"/>
          </a:ln>
        </p:spPr>
      </p:sp>
      <p:sp>
        <p:nvSpPr>
          <p:cNvPr id="8" name="Text 6"/>
          <p:cNvSpPr txBox="1"/>
          <p:nvPr/>
        </p:nvSpPr>
        <p:spPr>
          <a:xfrm>
            <a:off x="27089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Simple is strong</a:t>
            </a:r>
            <a:endParaRPr lang="en-US" sz="1400" dirty="0"/>
          </a:p>
        </p:txBody>
      </p:sp>
      <p:sp>
        <p:nvSpPr>
          <p:cNvPr id="9" name="Text 7"/>
          <p:cNvSpPr txBox="1"/>
          <p:nvPr/>
        </p:nvSpPr>
        <p:spPr>
          <a:xfrm>
            <a:off x="27089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Simple shapes are easy to remember and easy to make.</a:t>
            </a:r>
            <a:endParaRPr lang="en-US" sz="1300" dirty="0"/>
          </a:p>
        </p:txBody>
      </p:sp>
      <p:sp>
        <p:nvSpPr>
          <p:cNvPr id="10" name="scene2"/>
          <p:cNvSpPr/>
          <p:nvPr/>
        </p:nvSpPr>
        <p:spPr>
          <a:xfrm>
            <a:off x="4686300" y="2423160"/>
            <a:ext cx="1885950" cy="1874520"/>
          </a:xfrm>
          <a:prstGeom prst="roundRect">
            <a:avLst>
              <a:gd name="adj" fmla="val 5854"/>
            </a:avLst>
          </a:prstGeom>
          <a:solidFill>
            <a:srgbClr val="0A5C5F"/>
          </a:solidFill>
          <a:ln w="12700">
            <a:solidFill>
              <a:srgbClr val="0A5C5F"/>
            </a:solidFill>
            <a:prstDash val="solid"/>
          </a:ln>
        </p:spPr>
      </p:sp>
      <p:sp>
        <p:nvSpPr>
          <p:cNvPr id="11" name="Text 9"/>
          <p:cNvSpPr txBox="1"/>
          <p:nvPr/>
        </p:nvSpPr>
        <p:spPr>
          <a:xfrm>
            <a:off x="48234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Designers rebuild</a:t>
            </a:r>
            <a:endParaRPr lang="en-US" sz="1400" dirty="0"/>
          </a:p>
        </p:txBody>
      </p:sp>
      <p:sp>
        <p:nvSpPr>
          <p:cNvPr id="12" name="Text 10"/>
          <p:cNvSpPr txBox="1"/>
          <p:nvPr/>
        </p:nvSpPr>
        <p:spPr>
          <a:xfrm>
            <a:off x="48234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Engineers model logos in 3D for car badges and wheels.</a:t>
            </a:r>
            <a:endParaRPr lang="en-US" sz="1300" dirty="0"/>
          </a:p>
        </p:txBody>
      </p:sp>
      <p:sp>
        <p:nvSpPr>
          <p:cNvPr id="13" name="scene3"/>
          <p:cNvSpPr/>
          <p:nvPr/>
        </p:nvSpPr>
        <p:spPr>
          <a:xfrm>
            <a:off x="6800850" y="2423160"/>
            <a:ext cx="1885950" cy="1874520"/>
          </a:xfrm>
          <a:prstGeom prst="roundRect">
            <a:avLst>
              <a:gd name="adj" fmla="val 5854"/>
            </a:avLst>
          </a:prstGeom>
          <a:solidFill>
            <a:srgbClr val="0A5C5F"/>
          </a:solidFill>
          <a:ln w="12700">
            <a:solidFill>
              <a:srgbClr val="0A5C5F"/>
            </a:solidFill>
            <a:prstDash val="solid"/>
          </a:ln>
        </p:spPr>
      </p:sp>
      <p:sp>
        <p:nvSpPr>
          <p:cNvPr id="14" name="Text 12"/>
          <p:cNvSpPr txBox="1"/>
          <p:nvPr/>
        </p:nvSpPr>
        <p:spPr>
          <a:xfrm>
            <a:off x="69380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Your mission</a:t>
            </a:r>
            <a:endParaRPr lang="en-US" sz="1400" dirty="0"/>
          </a:p>
        </p:txBody>
      </p:sp>
      <p:sp>
        <p:nvSpPr>
          <p:cNvPr id="15" name="Text 13"/>
          <p:cNvSpPr txBox="1"/>
          <p:nvPr/>
        </p:nvSpPr>
        <p:spPr>
          <a:xfrm>
            <a:off x="69380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Rebuild a real car logo as a 3D model.</a:t>
            </a:r>
            <a:endParaRPr lang="en-US" sz="13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Today's Learning</a:t>
            </a:r>
            <a:endParaRPr lang="en-US" sz="3000" dirty="0"/>
          </a:p>
        </p:txBody>
      </p:sp>
      <p:sp>
        <p:nvSpPr>
          <p:cNvPr id="3" name="walt"/>
          <p:cNvSpPr/>
          <p:nvPr/>
        </p:nvSpPr>
        <p:spPr>
          <a:xfrm>
            <a:off x="457200" y="1143000"/>
            <a:ext cx="3566160" cy="3246120"/>
          </a:xfrm>
          <a:prstGeom prst="roundRect">
            <a:avLst>
              <a:gd name="adj" fmla="val 3380"/>
            </a:avLst>
          </a:prstGeom>
          <a:solidFill>
            <a:srgbClr val="E6F2F2"/>
          </a:solidFill>
          <a:ln w="12700">
            <a:solidFill>
              <a:srgbClr val="E6F2F2"/>
            </a:solidFill>
            <a:prstDash val="solid"/>
          </a:ln>
        </p:spPr>
      </p:sp>
      <p:sp>
        <p:nvSpPr>
          <p:cNvPr id="4" name="Shape 2"/>
          <p:cNvSpPr/>
          <p:nvPr/>
        </p:nvSpPr>
        <p:spPr>
          <a:xfrm>
            <a:off x="685800" y="1371600"/>
            <a:ext cx="640080" cy="64008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39419" y="1525219"/>
            <a:ext cx="332842" cy="332842"/>
          </a:xfrm>
          <a:prstGeom prst="rect">
            <a:avLst/>
          </a:prstGeom>
        </p:spPr>
      </p:pic>
      <p:sp>
        <p:nvSpPr>
          <p:cNvPr id="6" name="Text 3"/>
          <p:cNvSpPr txBox="1"/>
          <p:nvPr/>
        </p:nvSpPr>
        <p:spPr>
          <a:xfrm>
            <a:off x="1463040" y="1417320"/>
            <a:ext cx="2468880" cy="5486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We are learning to (WALT)</a:t>
            </a:r>
            <a:endParaRPr lang="en-US" sz="1500" dirty="0"/>
          </a:p>
        </p:txBody>
      </p:sp>
      <p:sp>
        <p:nvSpPr>
          <p:cNvPr id="7" name="Text 4"/>
          <p:cNvSpPr txBox="1"/>
          <p:nvPr/>
        </p:nvSpPr>
        <p:spPr>
          <a:xfrm>
            <a:off x="685800" y="2194560"/>
            <a:ext cx="3154680" cy="20116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We are learning to break a logo into simple shapes and rebuild it as a 3D model.</a:t>
            </a:r>
            <a:endParaRPr lang="en-US" sz="1800" dirty="0"/>
          </a:p>
        </p:txBody>
      </p:sp>
      <p:sp>
        <p:nvSpPr>
          <p:cNvPr id="8" name="Text 5"/>
          <p:cNvSpPr txBox="1"/>
          <p:nvPr/>
        </p:nvSpPr>
        <p:spPr>
          <a:xfrm>
            <a:off x="4389120" y="1143000"/>
            <a:ext cx="429768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What I am looking for (WILF)</a:t>
            </a:r>
            <a:endParaRPr lang="en-US" sz="1500" dirty="0"/>
          </a:p>
        </p:txBody>
      </p:sp>
      <p:sp>
        <p:nvSpPr>
          <p:cNvPr id="9" name="Text 6"/>
          <p:cNvSpPr txBox="1"/>
          <p:nvPr/>
        </p:nvSpPr>
        <p:spPr>
          <a:xfrm>
            <a:off x="4389120" y="1600200"/>
            <a:ext cx="4297680" cy="2788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find the basic shapes inside a car logo.</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use rotate, duplicate and mirror to build symmetrical parts.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use holes to cut out inner shapes.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scale my model to 60 mm and give it a 4 mm base.</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Warm-up: Logo Detective</a:t>
            </a:r>
            <a:endParaRPr lang="en-US" sz="3000" dirty="0"/>
          </a:p>
        </p:txBody>
      </p:sp>
      <p:sp>
        <p:nvSpPr>
          <p:cNvPr id="3" name="Shape 1"/>
          <p:cNvSpPr/>
          <p:nvPr/>
        </p:nvSpPr>
        <p:spPr>
          <a:xfrm>
            <a:off x="457200" y="1188720"/>
            <a:ext cx="1188720" cy="1188720"/>
          </a:xfrm>
          <a:prstGeom prst="ellipse">
            <a:avLst/>
          </a:prstGeom>
          <a:solidFill>
            <a:srgbClr val="F2A31B"/>
          </a:solidFill>
          <a:ln w="12700">
            <a:solidFill>
              <a:srgbClr val="F2A31B"/>
            </a:solidFill>
            <a:prstDash val="solid"/>
          </a:ln>
        </p:spPr>
      </p:sp>
      <p:pic>
        <p:nvPicPr>
          <p:cNvPr id="4" name="Image 0" descr="preencoded.png">    </p:cNvPr>
          <p:cNvPicPr>
            <a:picLocks noChangeAspect="1"/>
          </p:cNvPicPr>
          <p:nvPr/>
        </p:nvPicPr>
        <p:blipFill>
          <a:blip r:embed="rId1"/>
          <a:stretch>
            <a:fillRect/>
          </a:stretch>
        </p:blipFill>
        <p:spPr>
          <a:xfrm>
            <a:off x="742493" y="1474013"/>
            <a:ext cx="618134" cy="618134"/>
          </a:xfrm>
          <a:prstGeom prst="rect">
            <a:avLst/>
          </a:prstGeom>
        </p:spPr>
      </p:pic>
      <p:sp>
        <p:nvSpPr>
          <p:cNvPr id="5" name="Text 2"/>
          <p:cNvSpPr txBox="1"/>
          <p:nvPr/>
        </p:nvSpPr>
        <p:spPr>
          <a:xfrm>
            <a:off x="320040" y="2468880"/>
            <a:ext cx="1463040" cy="320040"/>
          </a:xfrm>
          <a:prstGeom prst="rect">
            <a:avLst/>
          </a:prstGeom>
          <a:noFill/>
          <a:ln/>
        </p:spPr>
        <p:txBody>
          <a:bodyPr wrap="square" lIns="0" tIns="0" rIns="0" bIns="0" rtlCol="0" anchor="ctr"/>
          <a:lstStyle/>
          <a:p>
            <a:pPr algn="ctr" indent="0" marL="0">
              <a:buNone/>
            </a:pPr>
            <a:r>
              <a:rPr lang="en-US" sz="1300" b="1" dirty="0">
                <a:solidFill>
                  <a:schemeClr val="accent3"/>
                </a:solidFill>
                <a:latin typeface="Calibri" pitchFamily="34" charset="0"/>
                <a:ea typeface="Calibri" pitchFamily="34" charset="-122"/>
                <a:cs typeface="Calibri" pitchFamily="34" charset="-120"/>
              </a:rPr>
              <a:t>5 minutes</a:t>
            </a:r>
            <a:endParaRPr lang="en-US" sz="1300" dirty="0"/>
          </a:p>
        </p:txBody>
      </p:sp>
      <p:sp>
        <p:nvSpPr>
          <p:cNvPr id="6" name="Shape 3"/>
          <p:cNvSpPr/>
          <p:nvPr/>
        </p:nvSpPr>
        <p:spPr>
          <a:xfrm>
            <a:off x="2103120" y="1234440"/>
            <a:ext cx="457200" cy="457200"/>
          </a:xfrm>
          <a:prstGeom prst="ellipse">
            <a:avLst/>
          </a:prstGeom>
          <a:solidFill>
            <a:srgbClr val="0E7C80"/>
          </a:solidFill>
          <a:ln w="12700">
            <a:solidFill>
              <a:srgbClr val="0E7C80"/>
            </a:solidFill>
            <a:prstDash val="solid"/>
          </a:ln>
        </p:spPr>
      </p:sp>
      <p:sp>
        <p:nvSpPr>
          <p:cNvPr id="7" name="Text 4"/>
          <p:cNvSpPr txBox="1"/>
          <p:nvPr/>
        </p:nvSpPr>
        <p:spPr>
          <a:xfrm>
            <a:off x="210312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2743200" y="118872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Show three car logos built from simple shapes, one at a time, for 3 seconds each.</a:t>
            </a:r>
            <a:endParaRPr lang="en-US" sz="1500" dirty="0"/>
          </a:p>
        </p:txBody>
      </p:sp>
      <p:sp>
        <p:nvSpPr>
          <p:cNvPr id="9" name="Shape 6"/>
          <p:cNvSpPr/>
          <p:nvPr/>
        </p:nvSpPr>
        <p:spPr>
          <a:xfrm>
            <a:off x="2103120" y="2286000"/>
            <a:ext cx="457200" cy="457200"/>
          </a:xfrm>
          <a:prstGeom prst="ellipse">
            <a:avLst/>
          </a:prstGeom>
          <a:solidFill>
            <a:srgbClr val="0E7C80"/>
          </a:solidFill>
          <a:ln w="12700">
            <a:solidFill>
              <a:srgbClr val="0E7C80"/>
            </a:solidFill>
            <a:prstDash val="solid"/>
          </a:ln>
        </p:spPr>
      </p:sp>
      <p:sp>
        <p:nvSpPr>
          <p:cNvPr id="10" name="Text 7"/>
          <p:cNvSpPr txBox="1"/>
          <p:nvPr/>
        </p:nvSpPr>
        <p:spPr>
          <a:xfrm>
            <a:off x="2103120" y="2286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2743200" y="224028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Students write down the shapes they saw: circles, rings, stars, triangles, letters.</a:t>
            </a:r>
            <a:endParaRPr lang="en-US" sz="1500" dirty="0"/>
          </a:p>
        </p:txBody>
      </p:sp>
      <p:sp>
        <p:nvSpPr>
          <p:cNvPr id="12" name="Shape 9"/>
          <p:cNvSpPr/>
          <p:nvPr/>
        </p:nvSpPr>
        <p:spPr>
          <a:xfrm>
            <a:off x="2103120" y="3337560"/>
            <a:ext cx="457200" cy="457200"/>
          </a:xfrm>
          <a:prstGeom prst="ellipse">
            <a:avLst/>
          </a:prstGeom>
          <a:solidFill>
            <a:srgbClr val="0E7C80"/>
          </a:solidFill>
          <a:ln w="12700">
            <a:solidFill>
              <a:srgbClr val="0E7C80"/>
            </a:solidFill>
            <a:prstDash val="solid"/>
          </a:ln>
        </p:spPr>
      </p:sp>
      <p:sp>
        <p:nvSpPr>
          <p:cNvPr id="13" name="Text 10"/>
          <p:cNvSpPr txBox="1"/>
          <p:nvPr/>
        </p:nvSpPr>
        <p:spPr>
          <a:xfrm>
            <a:off x="2103120" y="3337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4" name="Text 11"/>
          <p:cNvSpPr txBox="1"/>
          <p:nvPr/>
        </p:nvSpPr>
        <p:spPr>
          <a:xfrm>
            <a:off x="2743200" y="329184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Discuss: why are these logos easy to remember?</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Key Words</a:t>
            </a:r>
            <a:endParaRPr lang="en-US" sz="3000" dirty="0"/>
          </a:p>
        </p:txBody>
      </p:sp>
      <p:sp>
        <p:nvSpPr>
          <p:cNvPr id="3" name="word0"/>
          <p:cNvSpPr/>
          <p:nvPr/>
        </p:nvSpPr>
        <p:spPr>
          <a:xfrm>
            <a:off x="457200" y="1280160"/>
            <a:ext cx="1920240" cy="731520"/>
          </a:xfrm>
          <a:prstGeom prst="roundRect">
            <a:avLst>
              <a:gd name="adj" fmla="val 15000"/>
            </a:avLst>
          </a:prstGeom>
          <a:solidFill>
            <a:srgbClr val="FCEFF3"/>
          </a:solidFill>
          <a:ln w="12700">
            <a:solidFill>
              <a:srgbClr val="FCEFF3"/>
            </a:solidFill>
            <a:prstDash val="solid"/>
          </a:ln>
        </p:spPr>
      </p:sp>
      <p:sp>
        <p:nvSpPr>
          <p:cNvPr id="4" name="Text 2"/>
          <p:cNvSpPr txBox="1"/>
          <p:nvPr/>
        </p:nvSpPr>
        <p:spPr>
          <a:xfrm>
            <a:off x="548640" y="128016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logo</a:t>
            </a:r>
            <a:endParaRPr lang="en-US" sz="1700" dirty="0"/>
          </a:p>
        </p:txBody>
      </p:sp>
      <p:sp>
        <p:nvSpPr>
          <p:cNvPr id="5" name="word1"/>
          <p:cNvSpPr/>
          <p:nvPr/>
        </p:nvSpPr>
        <p:spPr>
          <a:xfrm>
            <a:off x="2560320" y="1280160"/>
            <a:ext cx="1920240" cy="731520"/>
          </a:xfrm>
          <a:prstGeom prst="roundRect">
            <a:avLst>
              <a:gd name="adj" fmla="val 15000"/>
            </a:avLst>
          </a:prstGeom>
          <a:solidFill>
            <a:srgbClr val="E6F2F2"/>
          </a:solidFill>
          <a:ln w="12700">
            <a:solidFill>
              <a:srgbClr val="E6F2F2"/>
            </a:solidFill>
            <a:prstDash val="solid"/>
          </a:ln>
        </p:spPr>
      </p:sp>
      <p:sp>
        <p:nvSpPr>
          <p:cNvPr id="6" name="Text 4"/>
          <p:cNvSpPr txBox="1"/>
          <p:nvPr/>
        </p:nvSpPr>
        <p:spPr>
          <a:xfrm>
            <a:off x="2651760" y="128016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symmetry</a:t>
            </a:r>
            <a:endParaRPr lang="en-US" sz="1700" dirty="0"/>
          </a:p>
        </p:txBody>
      </p:sp>
      <p:sp>
        <p:nvSpPr>
          <p:cNvPr id="7" name="word2"/>
          <p:cNvSpPr/>
          <p:nvPr/>
        </p:nvSpPr>
        <p:spPr>
          <a:xfrm>
            <a:off x="4663440" y="1280160"/>
            <a:ext cx="1920240" cy="731520"/>
          </a:xfrm>
          <a:prstGeom prst="roundRect">
            <a:avLst>
              <a:gd name="adj" fmla="val 15000"/>
            </a:avLst>
          </a:prstGeom>
          <a:solidFill>
            <a:srgbClr val="FCEFF3"/>
          </a:solidFill>
          <a:ln w="12700">
            <a:solidFill>
              <a:srgbClr val="FCEFF3"/>
            </a:solidFill>
            <a:prstDash val="solid"/>
          </a:ln>
        </p:spPr>
      </p:sp>
      <p:sp>
        <p:nvSpPr>
          <p:cNvPr id="8" name="Text 6"/>
          <p:cNvSpPr txBox="1"/>
          <p:nvPr/>
        </p:nvSpPr>
        <p:spPr>
          <a:xfrm>
            <a:off x="4754880" y="128016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mirror</a:t>
            </a:r>
            <a:endParaRPr lang="en-US" sz="1700" dirty="0"/>
          </a:p>
        </p:txBody>
      </p:sp>
      <p:sp>
        <p:nvSpPr>
          <p:cNvPr id="9" name="word3"/>
          <p:cNvSpPr/>
          <p:nvPr/>
        </p:nvSpPr>
        <p:spPr>
          <a:xfrm>
            <a:off x="6766560" y="1280160"/>
            <a:ext cx="1920240" cy="731520"/>
          </a:xfrm>
          <a:prstGeom prst="roundRect">
            <a:avLst>
              <a:gd name="adj" fmla="val 15000"/>
            </a:avLst>
          </a:prstGeom>
          <a:solidFill>
            <a:srgbClr val="E6F2F2"/>
          </a:solidFill>
          <a:ln w="12700">
            <a:solidFill>
              <a:srgbClr val="E6F2F2"/>
            </a:solidFill>
            <a:prstDash val="solid"/>
          </a:ln>
        </p:spPr>
      </p:sp>
      <p:sp>
        <p:nvSpPr>
          <p:cNvPr id="10" name="Text 8"/>
          <p:cNvSpPr txBox="1"/>
          <p:nvPr/>
        </p:nvSpPr>
        <p:spPr>
          <a:xfrm>
            <a:off x="6858000" y="128016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duplicate</a:t>
            </a:r>
            <a:endParaRPr lang="en-US" sz="1700" dirty="0"/>
          </a:p>
        </p:txBody>
      </p:sp>
      <p:sp>
        <p:nvSpPr>
          <p:cNvPr id="11" name="word4"/>
          <p:cNvSpPr/>
          <p:nvPr/>
        </p:nvSpPr>
        <p:spPr>
          <a:xfrm>
            <a:off x="457200" y="2240280"/>
            <a:ext cx="1920240" cy="731520"/>
          </a:xfrm>
          <a:prstGeom prst="roundRect">
            <a:avLst>
              <a:gd name="adj" fmla="val 15000"/>
            </a:avLst>
          </a:prstGeom>
          <a:solidFill>
            <a:srgbClr val="FCEFF3"/>
          </a:solidFill>
          <a:ln w="12700">
            <a:solidFill>
              <a:srgbClr val="FCEFF3"/>
            </a:solidFill>
            <a:prstDash val="solid"/>
          </a:ln>
        </p:spPr>
      </p:sp>
      <p:sp>
        <p:nvSpPr>
          <p:cNvPr id="12" name="Text 10"/>
          <p:cNvSpPr txBox="1"/>
          <p:nvPr/>
        </p:nvSpPr>
        <p:spPr>
          <a:xfrm>
            <a:off x="548640" y="224028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rotate</a:t>
            </a:r>
            <a:endParaRPr lang="en-US" sz="1700" dirty="0"/>
          </a:p>
        </p:txBody>
      </p:sp>
      <p:sp>
        <p:nvSpPr>
          <p:cNvPr id="13" name="word5"/>
          <p:cNvSpPr/>
          <p:nvPr/>
        </p:nvSpPr>
        <p:spPr>
          <a:xfrm>
            <a:off x="2560320" y="2240280"/>
            <a:ext cx="1920240" cy="731520"/>
          </a:xfrm>
          <a:prstGeom prst="roundRect">
            <a:avLst>
              <a:gd name="adj" fmla="val 15000"/>
            </a:avLst>
          </a:prstGeom>
          <a:solidFill>
            <a:srgbClr val="E6F2F2"/>
          </a:solidFill>
          <a:ln w="12700">
            <a:solidFill>
              <a:srgbClr val="E6F2F2"/>
            </a:solidFill>
            <a:prstDash val="solid"/>
          </a:ln>
        </p:spPr>
      </p:sp>
      <p:sp>
        <p:nvSpPr>
          <p:cNvPr id="14" name="Text 12"/>
          <p:cNvSpPr txBox="1"/>
          <p:nvPr/>
        </p:nvSpPr>
        <p:spPr>
          <a:xfrm>
            <a:off x="2651760" y="224028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scale</a:t>
            </a:r>
            <a:endParaRPr lang="en-US" sz="1700" dirty="0"/>
          </a:p>
        </p:txBody>
      </p:sp>
      <p:sp>
        <p:nvSpPr>
          <p:cNvPr id="15" name="word6"/>
          <p:cNvSpPr/>
          <p:nvPr/>
        </p:nvSpPr>
        <p:spPr>
          <a:xfrm>
            <a:off x="4663440" y="2240280"/>
            <a:ext cx="1920240" cy="731520"/>
          </a:xfrm>
          <a:prstGeom prst="roundRect">
            <a:avLst>
              <a:gd name="adj" fmla="val 15000"/>
            </a:avLst>
          </a:prstGeom>
          <a:solidFill>
            <a:srgbClr val="FCEFF3"/>
          </a:solidFill>
          <a:ln w="12700">
            <a:solidFill>
              <a:srgbClr val="FCEFF3"/>
            </a:solidFill>
            <a:prstDash val="solid"/>
          </a:ln>
        </p:spPr>
      </p:sp>
      <p:sp>
        <p:nvSpPr>
          <p:cNvPr id="16" name="Text 14"/>
          <p:cNvSpPr txBox="1"/>
          <p:nvPr/>
        </p:nvSpPr>
        <p:spPr>
          <a:xfrm>
            <a:off x="4754880" y="224028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ring</a:t>
            </a:r>
            <a:endParaRPr lang="en-US" sz="1700" dirty="0"/>
          </a:p>
        </p:txBody>
      </p:sp>
      <p:sp>
        <p:nvSpPr>
          <p:cNvPr id="17" name="word7"/>
          <p:cNvSpPr/>
          <p:nvPr/>
        </p:nvSpPr>
        <p:spPr>
          <a:xfrm>
            <a:off x="6766560" y="2240280"/>
            <a:ext cx="1920240" cy="731520"/>
          </a:xfrm>
          <a:prstGeom prst="roundRect">
            <a:avLst>
              <a:gd name="adj" fmla="val 15000"/>
            </a:avLst>
          </a:prstGeom>
          <a:solidFill>
            <a:srgbClr val="E6F2F2"/>
          </a:solidFill>
          <a:ln w="12700">
            <a:solidFill>
              <a:srgbClr val="E6F2F2"/>
            </a:solidFill>
            <a:prstDash val="solid"/>
          </a:ln>
        </p:spPr>
      </p:sp>
      <p:sp>
        <p:nvSpPr>
          <p:cNvPr id="18" name="Text 16"/>
          <p:cNvSpPr txBox="1"/>
          <p:nvPr/>
        </p:nvSpPr>
        <p:spPr>
          <a:xfrm>
            <a:off x="6858000" y="224028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reference</a:t>
            </a:r>
            <a:endParaRPr lang="en-US" sz="1700" dirty="0"/>
          </a:p>
        </p:txBody>
      </p:sp>
      <p:sp>
        <p:nvSpPr>
          <p:cNvPr id="19" name="Text 17"/>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300" i="1" dirty="0">
                <a:solidFill>
                  <a:schemeClr val="accent6"/>
                </a:solidFill>
                <a:latin typeface="Calibri" pitchFamily="34" charset="0"/>
                <a:ea typeface="Calibri" pitchFamily="34" charset="-122"/>
                <a:cs typeface="Calibri" pitchFamily="34" charset="-120"/>
              </a:rPr>
              <a:t>Say each word with your partner. Which words do you already know?</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Break it into shapes</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Look at the logo and find the outer shape first.</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Then find the inner shapes and any letters.</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Ask: which parts are solid and which parts are empty?</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Empty parts will be holes.</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Rings and cut-outs</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A ring is a solid cylinder with a smaller hole cylinder in the middle.</a:t>
            </a:r>
            <a:endParaRPr lang="en-US" sz="1600" dirty="0"/>
          </a:p>
        </p:txBody>
      </p:sp>
      <p:sp>
        <p:nvSpPr>
          <p:cNvPr id="6" name="Shape 3"/>
          <p:cNvSpPr/>
          <p:nvPr/>
        </p:nvSpPr>
        <p:spPr>
          <a:xfrm>
            <a:off x="457200" y="205740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178101"/>
            <a:ext cx="261518" cy="261518"/>
          </a:xfrm>
          <a:prstGeom prst="rect">
            <a:avLst/>
          </a:prstGeom>
        </p:spPr>
      </p:pic>
      <p:sp>
        <p:nvSpPr>
          <p:cNvPr id="8" name="Text 4"/>
          <p:cNvSpPr txBox="1"/>
          <p:nvPr/>
        </p:nvSpPr>
        <p:spPr>
          <a:xfrm>
            <a:off x="1143000" y="201168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Centre them with the Align tool.</a:t>
            </a:r>
            <a:endParaRPr lang="en-US" sz="1600" dirty="0"/>
          </a:p>
        </p:txBody>
      </p:sp>
      <p:sp>
        <p:nvSpPr>
          <p:cNvPr id="9" name="Shape 5"/>
          <p:cNvSpPr/>
          <p:nvPr/>
        </p:nvSpPr>
        <p:spPr>
          <a:xfrm>
            <a:off x="457200" y="288036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01061"/>
            <a:ext cx="261518" cy="261518"/>
          </a:xfrm>
          <a:prstGeom prst="rect">
            <a:avLst/>
          </a:prstGeom>
        </p:spPr>
      </p:pic>
      <p:sp>
        <p:nvSpPr>
          <p:cNvPr id="11" name="Text 6"/>
          <p:cNvSpPr txBox="1"/>
          <p:nvPr/>
        </p:nvSpPr>
        <p:spPr>
          <a:xfrm>
            <a:off x="1143000" y="283464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Group to cut the hole.</a:t>
            </a:r>
            <a:endParaRPr lang="en-US" sz="1600" dirty="0"/>
          </a:p>
        </p:txBody>
      </p:sp>
      <p:sp>
        <p:nvSpPr>
          <p:cNvPr id="12" name="Shape 7"/>
          <p:cNvSpPr/>
          <p:nvPr/>
        </p:nvSpPr>
        <p:spPr>
          <a:xfrm>
            <a:off x="457200" y="3703320"/>
            <a:ext cx="502920" cy="502920"/>
          </a:xfrm>
          <a:prstGeom prst="ellipse">
            <a:avLst/>
          </a:prstGeom>
          <a:solidFill>
            <a:srgbClr val="9E1B4B"/>
          </a:solidFill>
          <a:ln w="12700">
            <a:solidFill>
              <a:srgbClr val="9E1B4B"/>
            </a:solidFill>
            <a:prstDash val="solid"/>
          </a:ln>
        </p:spPr>
      </p:sp>
      <p:pic>
        <p:nvPicPr>
          <p:cNvPr id="13" name="Image 3" descr="preencoded.png">    </p:cNvPr>
          <p:cNvPicPr>
            <a:picLocks noChangeAspect="1"/>
          </p:cNvPicPr>
          <p:nvPr/>
        </p:nvPicPr>
        <p:blipFill>
          <a:blip r:embed="rId4"/>
          <a:stretch>
            <a:fillRect/>
          </a:stretch>
        </p:blipFill>
        <p:spPr>
          <a:xfrm>
            <a:off x="577901" y="3824021"/>
            <a:ext cx="261518" cy="261518"/>
          </a:xfrm>
          <a:prstGeom prst="rect">
            <a:avLst/>
          </a:prstGeom>
        </p:spPr>
      </p:pic>
      <p:sp>
        <p:nvSpPr>
          <p:cNvPr id="14" name="Text 8"/>
          <p:cNvSpPr txBox="1"/>
          <p:nvPr/>
        </p:nvSpPr>
        <p:spPr>
          <a:xfrm>
            <a:off x="1143000" y="365760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Overlapping rings: build one, duplicate it, move it across.</a:t>
            </a:r>
            <a:endParaRPr lang="en-US" sz="1600" dirty="0"/>
          </a:p>
        </p:txBody>
      </p:sp>
      <p:sp>
        <p:nvSpPr>
          <p:cNvPr id="15"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6" name="Shape 10"/>
          <p:cNvSpPr/>
          <p:nvPr/>
        </p:nvSpPr>
        <p:spPr>
          <a:xfrm>
            <a:off x="6903720" y="1463040"/>
            <a:ext cx="1143000" cy="1143000"/>
          </a:xfrm>
          <a:prstGeom prst="ellipse">
            <a:avLst/>
          </a:prstGeom>
          <a:solidFill>
            <a:srgbClr val="FFFFFF"/>
          </a:solidFill>
          <a:ln w="12700">
            <a:solidFill>
              <a:srgbClr val="FFFFFF"/>
            </a:solidFill>
            <a:prstDash val="solid"/>
          </a:ln>
        </p:spPr>
      </p:sp>
      <p:pic>
        <p:nvPicPr>
          <p:cNvPr id="17" name="Image 4" descr="preencoded.png">    </p:cNvPr>
          <p:cNvPicPr>
            <a:picLocks noChangeAspect="1"/>
          </p:cNvPicPr>
          <p:nvPr/>
        </p:nvPicPr>
        <p:blipFill>
          <a:blip r:embed="rId5"/>
          <a:stretch>
            <a:fillRect/>
          </a:stretch>
        </p:blipFill>
        <p:spPr>
          <a:xfrm>
            <a:off x="7178040" y="1737360"/>
            <a:ext cx="594360" cy="594360"/>
          </a:xfrm>
          <a:prstGeom prst="rect">
            <a:avLst/>
          </a:prstGeom>
        </p:spPr>
      </p:pic>
      <p:sp>
        <p:nvSpPr>
          <p:cNvPr id="18" name="Text 11"/>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9" name="Text 12"/>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Symmetry tools</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Duplicate (Ctrl+D) makes an exact copy.</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Rotate turns a shape by a set angle, for example 120 degrees for a three-point star.</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Mirror flips a shape to make the other half.</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Symmetry makes logos look balanced.</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Scale and base</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Make the whole logo 60 mm wide.</a:t>
            </a:r>
            <a:endParaRPr lang="en-US" sz="1600" dirty="0"/>
          </a:p>
        </p:txBody>
      </p:sp>
      <p:sp>
        <p:nvSpPr>
          <p:cNvPr id="6" name="Shape 3"/>
          <p:cNvSpPr/>
          <p:nvPr/>
        </p:nvSpPr>
        <p:spPr>
          <a:xfrm>
            <a:off x="457200" y="205740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178101"/>
            <a:ext cx="261518" cy="261518"/>
          </a:xfrm>
          <a:prstGeom prst="rect">
            <a:avLst/>
          </a:prstGeom>
        </p:spPr>
      </p:pic>
      <p:sp>
        <p:nvSpPr>
          <p:cNvPr id="8" name="Text 4"/>
          <p:cNvSpPr txBox="1"/>
          <p:nvPr/>
        </p:nvSpPr>
        <p:spPr>
          <a:xfrm>
            <a:off x="1143000" y="201168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Give it a 4 mm thick base or make the parts 4 mm tall.</a:t>
            </a:r>
            <a:endParaRPr lang="en-US" sz="1600" dirty="0"/>
          </a:p>
        </p:txBody>
      </p:sp>
      <p:sp>
        <p:nvSpPr>
          <p:cNvPr id="9" name="Shape 5"/>
          <p:cNvSpPr/>
          <p:nvPr/>
        </p:nvSpPr>
        <p:spPr>
          <a:xfrm>
            <a:off x="457200" y="288036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01061"/>
            <a:ext cx="261518" cy="261518"/>
          </a:xfrm>
          <a:prstGeom prst="rect">
            <a:avLst/>
          </a:prstGeom>
        </p:spPr>
      </p:pic>
      <p:sp>
        <p:nvSpPr>
          <p:cNvPr id="11" name="Text 6"/>
          <p:cNvSpPr txBox="1"/>
          <p:nvPr/>
        </p:nvSpPr>
        <p:spPr>
          <a:xfrm>
            <a:off x="1143000" y="283464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Check that thin parts are at least 2 mm wide so they print well.</a:t>
            </a:r>
            <a:endParaRPr lang="en-US" sz="1600" dirty="0"/>
          </a:p>
        </p:txBody>
      </p:sp>
      <p:sp>
        <p:nvSpPr>
          <p:cNvPr id="12" name="Shape 7"/>
          <p:cNvSpPr/>
          <p:nvPr/>
        </p:nvSpPr>
        <p:spPr>
          <a:xfrm>
            <a:off x="457200" y="3703320"/>
            <a:ext cx="502920" cy="502920"/>
          </a:xfrm>
          <a:prstGeom prst="ellipse">
            <a:avLst/>
          </a:prstGeom>
          <a:solidFill>
            <a:srgbClr val="9E1B4B"/>
          </a:solidFill>
          <a:ln w="12700">
            <a:solidFill>
              <a:srgbClr val="9E1B4B"/>
            </a:solidFill>
            <a:prstDash val="solid"/>
          </a:ln>
        </p:spPr>
      </p:sp>
      <p:pic>
        <p:nvPicPr>
          <p:cNvPr id="13" name="Image 3" descr="preencoded.png">    </p:cNvPr>
          <p:cNvPicPr>
            <a:picLocks noChangeAspect="1"/>
          </p:cNvPicPr>
          <p:nvPr/>
        </p:nvPicPr>
        <p:blipFill>
          <a:blip r:embed="rId4"/>
          <a:stretch>
            <a:fillRect/>
          </a:stretch>
        </p:blipFill>
        <p:spPr>
          <a:xfrm>
            <a:off x="577901" y="3824021"/>
            <a:ext cx="261518" cy="261518"/>
          </a:xfrm>
          <a:prstGeom prst="rect">
            <a:avLst/>
          </a:prstGeom>
        </p:spPr>
      </p:pic>
      <p:sp>
        <p:nvSpPr>
          <p:cNvPr id="14" name="Text 8"/>
          <p:cNvSpPr txBox="1"/>
          <p:nvPr/>
        </p:nvSpPr>
        <p:spPr>
          <a:xfrm>
            <a:off x="1143000" y="365760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Group everything into one object.</a:t>
            </a:r>
            <a:endParaRPr lang="en-US" sz="1600" dirty="0"/>
          </a:p>
        </p:txBody>
      </p:sp>
      <p:sp>
        <p:nvSpPr>
          <p:cNvPr id="15"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6" name="Shape 10"/>
          <p:cNvSpPr/>
          <p:nvPr/>
        </p:nvSpPr>
        <p:spPr>
          <a:xfrm>
            <a:off x="6903720" y="1463040"/>
            <a:ext cx="1143000" cy="1143000"/>
          </a:xfrm>
          <a:prstGeom prst="ellipse">
            <a:avLst/>
          </a:prstGeom>
          <a:solidFill>
            <a:srgbClr val="FFFFFF"/>
          </a:solidFill>
          <a:ln w="12700">
            <a:solidFill>
              <a:srgbClr val="FFFFFF"/>
            </a:solidFill>
            <a:prstDash val="solid"/>
          </a:ln>
        </p:spPr>
      </p:sp>
      <p:pic>
        <p:nvPicPr>
          <p:cNvPr id="17" name="Image 4" descr="preencoded.png">    </p:cNvPr>
          <p:cNvPicPr>
            <a:picLocks noChangeAspect="1"/>
          </p:cNvPicPr>
          <p:nvPr/>
        </p:nvPicPr>
        <p:blipFill>
          <a:blip r:embed="rId5"/>
          <a:stretch>
            <a:fillRect/>
          </a:stretch>
        </p:blipFill>
        <p:spPr>
          <a:xfrm>
            <a:off x="7178040" y="1737360"/>
            <a:ext cx="594360" cy="594360"/>
          </a:xfrm>
          <a:prstGeom prst="rect">
            <a:avLst/>
          </a:prstGeom>
        </p:spPr>
      </p:pic>
      <p:sp>
        <p:nvSpPr>
          <p:cNvPr id="18" name="Text 11"/>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9" name="Text 12"/>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Logo modelling steps</a:t>
            </a:r>
            <a:endParaRPr lang="en-US" sz="3000" dirty="0"/>
          </a:p>
        </p:txBody>
      </p:sp>
      <p:sp>
        <p:nvSpPr>
          <p:cNvPr id="3" name="step0"/>
          <p:cNvSpPr/>
          <p:nvPr/>
        </p:nvSpPr>
        <p:spPr>
          <a:xfrm>
            <a:off x="457200" y="1188720"/>
            <a:ext cx="2590800" cy="1463040"/>
          </a:xfrm>
          <a:prstGeom prst="roundRect">
            <a:avLst>
              <a:gd name="adj" fmla="val 7500"/>
            </a:avLst>
          </a:prstGeom>
          <a:solidFill>
            <a:srgbClr val="E6F2F2"/>
          </a:solidFill>
          <a:ln w="12700">
            <a:solidFill>
              <a:srgbClr val="E6F2F2"/>
            </a:solidFill>
            <a:prstDash val="solid"/>
          </a:ln>
        </p:spPr>
      </p:sp>
      <p:sp>
        <p:nvSpPr>
          <p:cNvPr id="4" name="Shape 2"/>
          <p:cNvSpPr/>
          <p:nvPr/>
        </p:nvSpPr>
        <p:spPr>
          <a:xfrm>
            <a:off x="594360" y="1325880"/>
            <a:ext cx="457200" cy="457200"/>
          </a:xfrm>
          <a:prstGeom prst="ellipse">
            <a:avLst/>
          </a:prstGeom>
          <a:solidFill>
            <a:srgbClr val="0E7C80"/>
          </a:solidFill>
          <a:ln w="12700">
            <a:solidFill>
              <a:srgbClr val="0E7C80"/>
            </a:solidFill>
            <a:prstDash val="solid"/>
          </a:ln>
        </p:spPr>
      </p:sp>
      <p:sp>
        <p:nvSpPr>
          <p:cNvPr id="5" name="Text 3"/>
          <p:cNvSpPr txBox="1"/>
          <p:nvPr/>
        </p:nvSpPr>
        <p:spPr>
          <a:xfrm>
            <a:off x="5943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Choose a logo from the reference sheet</a:t>
            </a:r>
            <a:endParaRPr lang="en-US" sz="1300" dirty="0"/>
          </a:p>
        </p:txBody>
      </p:sp>
      <p:sp>
        <p:nvSpPr>
          <p:cNvPr id="7" name="step1"/>
          <p:cNvSpPr/>
          <p:nvPr/>
        </p:nvSpPr>
        <p:spPr>
          <a:xfrm>
            <a:off x="3276600" y="1188720"/>
            <a:ext cx="2590800" cy="1463040"/>
          </a:xfrm>
          <a:prstGeom prst="roundRect">
            <a:avLst>
              <a:gd name="adj" fmla="val 7500"/>
            </a:avLst>
          </a:prstGeom>
          <a:solidFill>
            <a:srgbClr val="E6F2F2"/>
          </a:solidFill>
          <a:ln w="12700">
            <a:solidFill>
              <a:srgbClr val="E6F2F2"/>
            </a:solidFill>
            <a:prstDash val="solid"/>
          </a:ln>
        </p:spPr>
      </p:sp>
      <p:sp>
        <p:nvSpPr>
          <p:cNvPr id="8" name="Shape 6"/>
          <p:cNvSpPr/>
          <p:nvPr/>
        </p:nvSpPr>
        <p:spPr>
          <a:xfrm>
            <a:off x="3413760" y="1325880"/>
            <a:ext cx="457200" cy="457200"/>
          </a:xfrm>
          <a:prstGeom prst="ellipse">
            <a:avLst/>
          </a:prstGeom>
          <a:solidFill>
            <a:srgbClr val="0E7C80"/>
          </a:solidFill>
          <a:ln w="12700">
            <a:solidFill>
              <a:srgbClr val="0E7C80"/>
            </a:solidFill>
            <a:prstDash val="solid"/>
          </a:ln>
        </p:spPr>
      </p:sp>
      <p:sp>
        <p:nvSpPr>
          <p:cNvPr id="9" name="Text 7"/>
          <p:cNvSpPr txBox="1"/>
          <p:nvPr/>
        </p:nvSpPr>
        <p:spPr>
          <a:xfrm>
            <a:off x="34137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34137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Sketch and label its shapes</a:t>
            </a:r>
            <a:endParaRPr lang="en-US" sz="1300" dirty="0"/>
          </a:p>
        </p:txBody>
      </p:sp>
      <p:sp>
        <p:nvSpPr>
          <p:cNvPr id="11" name="step2"/>
          <p:cNvSpPr/>
          <p:nvPr/>
        </p:nvSpPr>
        <p:spPr>
          <a:xfrm>
            <a:off x="6096000" y="1188720"/>
            <a:ext cx="2590800" cy="1463040"/>
          </a:xfrm>
          <a:prstGeom prst="roundRect">
            <a:avLst>
              <a:gd name="adj" fmla="val 7500"/>
            </a:avLst>
          </a:prstGeom>
          <a:solidFill>
            <a:srgbClr val="E6F2F2"/>
          </a:solidFill>
          <a:ln w="12700">
            <a:solidFill>
              <a:srgbClr val="E6F2F2"/>
            </a:solidFill>
            <a:prstDash val="solid"/>
          </a:ln>
        </p:spPr>
      </p:sp>
      <p:sp>
        <p:nvSpPr>
          <p:cNvPr id="12" name="Shape 10"/>
          <p:cNvSpPr/>
          <p:nvPr/>
        </p:nvSpPr>
        <p:spPr>
          <a:xfrm>
            <a:off x="6233160" y="1325880"/>
            <a:ext cx="457200" cy="457200"/>
          </a:xfrm>
          <a:prstGeom prst="ellipse">
            <a:avLst/>
          </a:prstGeom>
          <a:solidFill>
            <a:srgbClr val="0E7C80"/>
          </a:solidFill>
          <a:ln w="12700">
            <a:solidFill>
              <a:srgbClr val="0E7C80"/>
            </a:solidFill>
            <a:prstDash val="solid"/>
          </a:ln>
        </p:spPr>
      </p:sp>
      <p:sp>
        <p:nvSpPr>
          <p:cNvPr id="13" name="Text 11"/>
          <p:cNvSpPr txBox="1"/>
          <p:nvPr/>
        </p:nvSpPr>
        <p:spPr>
          <a:xfrm>
            <a:off x="62331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62331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Build the outer shape</a:t>
            </a:r>
            <a:endParaRPr lang="en-US" sz="1300" dirty="0"/>
          </a:p>
        </p:txBody>
      </p:sp>
      <p:sp>
        <p:nvSpPr>
          <p:cNvPr id="15" name="step3"/>
          <p:cNvSpPr/>
          <p:nvPr/>
        </p:nvSpPr>
        <p:spPr>
          <a:xfrm>
            <a:off x="457200" y="2880360"/>
            <a:ext cx="2590800" cy="1463040"/>
          </a:xfrm>
          <a:prstGeom prst="roundRect">
            <a:avLst>
              <a:gd name="adj" fmla="val 7500"/>
            </a:avLst>
          </a:prstGeom>
          <a:solidFill>
            <a:srgbClr val="FCEFF3"/>
          </a:solidFill>
          <a:ln w="12700">
            <a:solidFill>
              <a:srgbClr val="FCEFF3"/>
            </a:solidFill>
            <a:prstDash val="solid"/>
          </a:ln>
        </p:spPr>
      </p:sp>
      <p:sp>
        <p:nvSpPr>
          <p:cNvPr id="16" name="Shape 14"/>
          <p:cNvSpPr/>
          <p:nvPr/>
        </p:nvSpPr>
        <p:spPr>
          <a:xfrm>
            <a:off x="594360" y="3017520"/>
            <a:ext cx="457200" cy="457200"/>
          </a:xfrm>
          <a:prstGeom prst="ellipse">
            <a:avLst/>
          </a:prstGeom>
          <a:solidFill>
            <a:srgbClr val="9E1B4B"/>
          </a:solidFill>
          <a:ln w="12700">
            <a:solidFill>
              <a:srgbClr val="9E1B4B"/>
            </a:solidFill>
            <a:prstDash val="solid"/>
          </a:ln>
        </p:spPr>
      </p:sp>
      <p:sp>
        <p:nvSpPr>
          <p:cNvPr id="17" name="Text 15"/>
          <p:cNvSpPr txBox="1"/>
          <p:nvPr/>
        </p:nvSpPr>
        <p:spPr>
          <a:xfrm>
            <a:off x="5943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5943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Add inner shapes and holes</a:t>
            </a:r>
            <a:endParaRPr lang="en-US" sz="1300" dirty="0"/>
          </a:p>
        </p:txBody>
      </p:sp>
      <p:sp>
        <p:nvSpPr>
          <p:cNvPr id="19" name="step4"/>
          <p:cNvSpPr/>
          <p:nvPr/>
        </p:nvSpPr>
        <p:spPr>
          <a:xfrm>
            <a:off x="3276600" y="2880360"/>
            <a:ext cx="2590800" cy="1463040"/>
          </a:xfrm>
          <a:prstGeom prst="roundRect">
            <a:avLst>
              <a:gd name="adj" fmla="val 7500"/>
            </a:avLst>
          </a:prstGeom>
          <a:solidFill>
            <a:srgbClr val="FCEFF3"/>
          </a:solidFill>
          <a:ln w="12700">
            <a:solidFill>
              <a:srgbClr val="FCEFF3"/>
            </a:solidFill>
            <a:prstDash val="solid"/>
          </a:ln>
        </p:spPr>
      </p:sp>
      <p:sp>
        <p:nvSpPr>
          <p:cNvPr id="20" name="Shape 18"/>
          <p:cNvSpPr/>
          <p:nvPr/>
        </p:nvSpPr>
        <p:spPr>
          <a:xfrm>
            <a:off x="3413760" y="3017520"/>
            <a:ext cx="457200" cy="457200"/>
          </a:xfrm>
          <a:prstGeom prst="ellipse">
            <a:avLst/>
          </a:prstGeom>
          <a:solidFill>
            <a:srgbClr val="9E1B4B"/>
          </a:solidFill>
          <a:ln w="12700">
            <a:solidFill>
              <a:srgbClr val="9E1B4B"/>
            </a:solidFill>
            <a:prstDash val="solid"/>
          </a:ln>
        </p:spPr>
      </p:sp>
      <p:sp>
        <p:nvSpPr>
          <p:cNvPr id="21" name="Text 19"/>
          <p:cNvSpPr txBox="1"/>
          <p:nvPr/>
        </p:nvSpPr>
        <p:spPr>
          <a:xfrm>
            <a:off x="34137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34137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Use duplicate, rotate and mirror</a:t>
            </a:r>
            <a:endParaRPr lang="en-US" sz="1300" dirty="0"/>
          </a:p>
        </p:txBody>
      </p:sp>
      <p:sp>
        <p:nvSpPr>
          <p:cNvPr id="23" name="step5"/>
          <p:cNvSpPr/>
          <p:nvPr/>
        </p:nvSpPr>
        <p:spPr>
          <a:xfrm>
            <a:off x="6096000" y="2880360"/>
            <a:ext cx="2590800" cy="1463040"/>
          </a:xfrm>
          <a:prstGeom prst="roundRect">
            <a:avLst>
              <a:gd name="adj" fmla="val 7500"/>
            </a:avLst>
          </a:prstGeom>
          <a:solidFill>
            <a:srgbClr val="FCEFF3"/>
          </a:solidFill>
          <a:ln w="12700">
            <a:solidFill>
              <a:srgbClr val="FCEFF3"/>
            </a:solidFill>
            <a:prstDash val="solid"/>
          </a:ln>
        </p:spPr>
      </p:sp>
      <p:sp>
        <p:nvSpPr>
          <p:cNvPr id="24" name="Shape 22"/>
          <p:cNvSpPr/>
          <p:nvPr/>
        </p:nvSpPr>
        <p:spPr>
          <a:xfrm>
            <a:off x="6233160" y="3017520"/>
            <a:ext cx="457200" cy="457200"/>
          </a:xfrm>
          <a:prstGeom prst="ellipse">
            <a:avLst/>
          </a:prstGeom>
          <a:solidFill>
            <a:srgbClr val="9E1B4B"/>
          </a:solidFill>
          <a:ln w="12700">
            <a:solidFill>
              <a:srgbClr val="9E1B4B"/>
            </a:solidFill>
            <a:prstDash val="solid"/>
          </a:ln>
        </p:spPr>
      </p:sp>
      <p:sp>
        <p:nvSpPr>
          <p:cNvPr id="25" name="Text 23"/>
          <p:cNvSpPr txBox="1"/>
          <p:nvPr/>
        </p:nvSpPr>
        <p:spPr>
          <a:xfrm>
            <a:off x="62331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62331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Scale to 60 mm and group</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Safety First</a:t>
            </a:r>
            <a:endParaRPr lang="en-US" sz="3000" dirty="0"/>
          </a:p>
        </p:txBody>
      </p:sp>
      <p:sp>
        <p:nvSpPr>
          <p:cNvPr id="3" name="Shape 1"/>
          <p:cNvSpPr/>
          <p:nvPr/>
        </p:nvSpPr>
        <p:spPr>
          <a:xfrm>
            <a:off x="457200" y="1234440"/>
            <a:ext cx="1280160" cy="1280160"/>
          </a:xfrm>
          <a:prstGeom prst="ellipse">
            <a:avLst/>
          </a:prstGeom>
          <a:solidFill>
            <a:srgbClr val="9E1B4B"/>
          </a:solidFill>
          <a:ln w="12700">
            <a:solidFill>
              <a:srgbClr val="9E1B4B"/>
            </a:solidFill>
            <a:prstDash val="solid"/>
          </a:ln>
        </p:spPr>
      </p:sp>
      <p:pic>
        <p:nvPicPr>
          <p:cNvPr id="4" name="Image 0" descr="preencoded.png">    </p:cNvPr>
          <p:cNvPicPr>
            <a:picLocks noChangeAspect="1"/>
          </p:cNvPicPr>
          <p:nvPr/>
        </p:nvPicPr>
        <p:blipFill>
          <a:blip r:embed="rId1"/>
          <a:stretch>
            <a:fillRect/>
          </a:stretch>
        </p:blipFill>
        <p:spPr>
          <a:xfrm>
            <a:off x="764438" y="1541678"/>
            <a:ext cx="665683" cy="665683"/>
          </a:xfrm>
          <a:prstGeom prst="rect">
            <a:avLst/>
          </a:prstGeom>
        </p:spPr>
      </p:pic>
      <p:sp>
        <p:nvSpPr>
          <p:cNvPr id="5" name="Text 2"/>
          <p:cNvSpPr txBox="1"/>
          <p:nvPr/>
        </p:nvSpPr>
        <p:spPr>
          <a:xfrm>
            <a:off x="274320" y="2651760"/>
            <a:ext cx="1645920" cy="548640"/>
          </a:xfrm>
          <a:prstGeom prst="rect">
            <a:avLst/>
          </a:prstGeom>
          <a:noFill/>
          <a:ln/>
        </p:spPr>
        <p:txBody>
          <a:bodyPr wrap="square" lIns="0" tIns="0" rIns="0" bIns="0" rtlCol="0" anchor="ctr"/>
          <a:lstStyle/>
          <a:p>
            <a:pPr algn="ctr" indent="0" marL="0">
              <a:buNone/>
            </a:pPr>
            <a:r>
              <a:rPr lang="en-US" sz="1200" b="1" dirty="0">
                <a:solidFill>
                  <a:schemeClr val="accent2"/>
                </a:solidFill>
                <a:latin typeface="Calibri" pitchFamily="34" charset="0"/>
                <a:ea typeface="Calibri" pitchFamily="34" charset="-122"/>
                <a:cs typeface="Calibri" pitchFamily="34" charset="-120"/>
              </a:rPr>
              <a:t>Every time. No exceptions.</a:t>
            </a:r>
            <a:endParaRPr lang="en-US" sz="1200" dirty="0"/>
          </a:p>
        </p:txBody>
      </p:sp>
      <p:sp>
        <p:nvSpPr>
          <p:cNvPr id="6" name="safe0"/>
          <p:cNvSpPr/>
          <p:nvPr/>
        </p:nvSpPr>
        <p:spPr>
          <a:xfrm>
            <a:off x="2194560" y="1188720"/>
            <a:ext cx="6492240" cy="566928"/>
          </a:xfrm>
          <a:prstGeom prst="roundRect">
            <a:avLst>
              <a:gd name="adj" fmla="val 19355"/>
            </a:avLst>
          </a:prstGeom>
          <a:solidFill>
            <a:srgbClr val="FCEFF3"/>
          </a:solidFill>
          <a:ln w="12700">
            <a:solidFill>
              <a:srgbClr val="FCEFF3"/>
            </a:solidFill>
            <a:prstDash val="solid"/>
          </a:ln>
        </p:spPr>
      </p:sp>
      <p:sp>
        <p:nvSpPr>
          <p:cNvPr id="7" name="Text 4"/>
          <p:cNvSpPr txBox="1"/>
          <p:nvPr/>
        </p:nvSpPr>
        <p:spPr>
          <a:xfrm>
            <a:off x="2377440" y="1188720"/>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Keep drinks away from devices.</a:t>
            </a:r>
            <a:endParaRPr lang="en-US" sz="1500" dirty="0"/>
          </a:p>
        </p:txBody>
      </p:sp>
      <p:sp>
        <p:nvSpPr>
          <p:cNvPr id="8" name="safe1"/>
          <p:cNvSpPr/>
          <p:nvPr/>
        </p:nvSpPr>
        <p:spPr>
          <a:xfrm>
            <a:off x="2194560" y="1847088"/>
            <a:ext cx="6492240" cy="566928"/>
          </a:xfrm>
          <a:prstGeom prst="roundRect">
            <a:avLst>
              <a:gd name="adj" fmla="val 19355"/>
            </a:avLst>
          </a:prstGeom>
          <a:solidFill>
            <a:srgbClr val="FFFFFF"/>
          </a:solidFill>
          <a:ln w="12700">
            <a:solidFill>
              <a:srgbClr val="FFFFFF"/>
            </a:solidFill>
            <a:prstDash val="solid"/>
          </a:ln>
        </p:spPr>
      </p:sp>
      <p:sp>
        <p:nvSpPr>
          <p:cNvPr id="9" name="Text 6"/>
          <p:cNvSpPr txBox="1"/>
          <p:nvPr/>
        </p:nvSpPr>
        <p:spPr>
          <a:xfrm>
            <a:off x="2377440" y="1847088"/>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Save your work every 10 minutes.</a:t>
            </a:r>
            <a:endParaRPr lang="en-US" sz="1500" dirty="0"/>
          </a:p>
        </p:txBody>
      </p:sp>
      <p:sp>
        <p:nvSpPr>
          <p:cNvPr id="10" name="safe2"/>
          <p:cNvSpPr/>
          <p:nvPr/>
        </p:nvSpPr>
        <p:spPr>
          <a:xfrm>
            <a:off x="2194560" y="2505456"/>
            <a:ext cx="6492240" cy="566928"/>
          </a:xfrm>
          <a:prstGeom prst="roundRect">
            <a:avLst>
              <a:gd name="adj" fmla="val 19355"/>
            </a:avLst>
          </a:prstGeom>
          <a:solidFill>
            <a:srgbClr val="FCEFF3"/>
          </a:solidFill>
          <a:ln w="12700">
            <a:solidFill>
              <a:srgbClr val="FCEFF3"/>
            </a:solidFill>
            <a:prstDash val="solid"/>
          </a:ln>
        </p:spPr>
      </p:sp>
      <p:sp>
        <p:nvSpPr>
          <p:cNvPr id="11" name="Text 8"/>
          <p:cNvSpPr txBox="1"/>
          <p:nvPr/>
        </p:nvSpPr>
        <p:spPr>
          <a:xfrm>
            <a:off x="2377440" y="2505456"/>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Use only the teacher's reference sheet for logos.</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Your task today</a:t>
            </a:r>
            <a:endParaRPr lang="en-US" sz="3000" dirty="0"/>
          </a:p>
        </p:txBody>
      </p:sp>
      <p:sp>
        <p:nvSpPr>
          <p:cNvPr id="3" name="Shape 1"/>
          <p:cNvSpPr/>
          <p:nvPr/>
        </p:nvSpPr>
        <p:spPr>
          <a:xfrm>
            <a:off x="457200" y="1261872"/>
            <a:ext cx="411480" cy="411480"/>
          </a:xfrm>
          <a:prstGeom prst="roundRect">
            <a:avLst>
              <a:gd name="adj" fmla="val 13333"/>
            </a:avLst>
          </a:prstGeom>
          <a:solidFill>
            <a:srgbClr val="FFFFFF"/>
          </a:solidFill>
          <a:ln w="25400">
            <a:solidFill>
              <a:srgbClr val="0E7C80"/>
            </a:solidFill>
            <a:prstDash val="solid"/>
          </a:ln>
        </p:spPr>
      </p:sp>
      <p:sp>
        <p:nvSpPr>
          <p:cNvPr id="4" name="Text 2"/>
          <p:cNvSpPr txBox="1"/>
          <p:nvPr/>
        </p:nvSpPr>
        <p:spPr>
          <a:xfrm>
            <a:off x="1051560" y="11887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Choose one car logo from the reference sheet.</a:t>
            </a:r>
            <a:endParaRPr lang="en-US" sz="1600" dirty="0"/>
          </a:p>
        </p:txBody>
      </p:sp>
      <p:sp>
        <p:nvSpPr>
          <p:cNvPr id="5" name="Shape 3"/>
          <p:cNvSpPr/>
          <p:nvPr/>
        </p:nvSpPr>
        <p:spPr>
          <a:xfrm>
            <a:off x="457200" y="1947672"/>
            <a:ext cx="411480" cy="411480"/>
          </a:xfrm>
          <a:prstGeom prst="roundRect">
            <a:avLst>
              <a:gd name="adj" fmla="val 13333"/>
            </a:avLst>
          </a:prstGeom>
          <a:solidFill>
            <a:srgbClr val="FFFFFF"/>
          </a:solidFill>
          <a:ln w="25400">
            <a:solidFill>
              <a:srgbClr val="0E7C80"/>
            </a:solidFill>
            <a:prstDash val="solid"/>
          </a:ln>
        </p:spPr>
      </p:sp>
      <p:sp>
        <p:nvSpPr>
          <p:cNvPr id="6" name="Text 4"/>
          <p:cNvSpPr txBox="1"/>
          <p:nvPr/>
        </p:nvSpPr>
        <p:spPr>
          <a:xfrm>
            <a:off x="1051560" y="18745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Complete the shape breakdown.</a:t>
            </a:r>
            <a:endParaRPr lang="en-US" sz="1600" dirty="0"/>
          </a:p>
        </p:txBody>
      </p:sp>
      <p:sp>
        <p:nvSpPr>
          <p:cNvPr id="7" name="Shape 5"/>
          <p:cNvSpPr/>
          <p:nvPr/>
        </p:nvSpPr>
        <p:spPr>
          <a:xfrm>
            <a:off x="457200" y="2633472"/>
            <a:ext cx="411480" cy="411480"/>
          </a:xfrm>
          <a:prstGeom prst="roundRect">
            <a:avLst>
              <a:gd name="adj" fmla="val 13333"/>
            </a:avLst>
          </a:prstGeom>
          <a:solidFill>
            <a:srgbClr val="FFFFFF"/>
          </a:solidFill>
          <a:ln w="25400">
            <a:solidFill>
              <a:srgbClr val="0E7C80"/>
            </a:solidFill>
            <a:prstDash val="solid"/>
          </a:ln>
        </p:spPr>
      </p:sp>
      <p:sp>
        <p:nvSpPr>
          <p:cNvPr id="8" name="Text 6"/>
          <p:cNvSpPr txBox="1"/>
          <p:nvPr/>
        </p:nvSpPr>
        <p:spPr>
          <a:xfrm>
            <a:off x="1051560" y="25603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Rebuild it in Tinkercad at 60 mm wide and 4 mm thick.</a:t>
            </a:r>
            <a:endParaRPr lang="en-US" sz="1600" dirty="0"/>
          </a:p>
        </p:txBody>
      </p:sp>
      <p:sp>
        <p:nvSpPr>
          <p:cNvPr id="9" name="Shape 7"/>
          <p:cNvSpPr/>
          <p:nvPr/>
        </p:nvSpPr>
        <p:spPr>
          <a:xfrm>
            <a:off x="457200" y="3319272"/>
            <a:ext cx="411480" cy="411480"/>
          </a:xfrm>
          <a:prstGeom prst="roundRect">
            <a:avLst>
              <a:gd name="adj" fmla="val 13333"/>
            </a:avLst>
          </a:prstGeom>
          <a:solidFill>
            <a:srgbClr val="FFFFFF"/>
          </a:solidFill>
          <a:ln w="25400">
            <a:solidFill>
              <a:srgbClr val="0E7C80"/>
            </a:solidFill>
            <a:prstDash val="solid"/>
          </a:ln>
        </p:spPr>
      </p:sp>
      <p:sp>
        <p:nvSpPr>
          <p:cNvPr id="10" name="Text 8"/>
          <p:cNvSpPr txBox="1"/>
          <p:nvPr/>
        </p:nvSpPr>
        <p:spPr>
          <a:xfrm>
            <a:off x="1051560" y="32461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Compare your model with the reference and fix differences.</a:t>
            </a:r>
            <a:endParaRPr lang="en-US" sz="1600" dirty="0"/>
          </a:p>
        </p:txBody>
      </p:sp>
      <p:sp>
        <p:nvSpPr>
          <p:cNvPr id="11" name="wsCard"/>
          <p:cNvSpPr/>
          <p:nvPr/>
        </p:nvSpPr>
        <p:spPr>
          <a:xfrm>
            <a:off x="6263640" y="1188720"/>
            <a:ext cx="2423160" cy="3246120"/>
          </a:xfrm>
          <a:prstGeom prst="roundRect">
            <a:avLst>
              <a:gd name="adj" fmla="val 4528"/>
            </a:avLst>
          </a:prstGeom>
          <a:solidFill>
            <a:srgbClr val="E6F2F2"/>
          </a:solidFill>
          <a:ln w="12700">
            <a:solidFill>
              <a:srgbClr val="E6F2F2"/>
            </a:solidFill>
            <a:prstDash val="solid"/>
          </a:ln>
        </p:spPr>
      </p:sp>
      <p:sp>
        <p:nvSpPr>
          <p:cNvPr id="12" name="Shape 10"/>
          <p:cNvSpPr/>
          <p:nvPr/>
        </p:nvSpPr>
        <p:spPr>
          <a:xfrm>
            <a:off x="6949440" y="1417320"/>
            <a:ext cx="1051560" cy="1051560"/>
          </a:xfrm>
          <a:prstGeom prst="ellipse">
            <a:avLst/>
          </a:prstGeom>
          <a:solidFill>
            <a:srgbClr val="0E7C80"/>
          </a:solidFill>
          <a:ln w="12700">
            <a:solidFill>
              <a:srgbClr val="0E7C80"/>
            </a:solidFill>
            <a:prstDash val="solid"/>
          </a:ln>
        </p:spPr>
      </p:sp>
      <p:pic>
        <p:nvPicPr>
          <p:cNvPr id="13" name="Image 0" descr="preencoded.png">    </p:cNvPr>
          <p:cNvPicPr>
            <a:picLocks noChangeAspect="1"/>
          </p:cNvPicPr>
          <p:nvPr/>
        </p:nvPicPr>
        <p:blipFill>
          <a:blip r:embed="rId1"/>
          <a:stretch>
            <a:fillRect/>
          </a:stretch>
        </p:blipFill>
        <p:spPr>
          <a:xfrm>
            <a:off x="7201814" y="1669694"/>
            <a:ext cx="546811" cy="546811"/>
          </a:xfrm>
          <a:prstGeom prst="rect">
            <a:avLst/>
          </a:prstGeom>
        </p:spPr>
      </p:pic>
      <p:sp>
        <p:nvSpPr>
          <p:cNvPr id="14" name="Text 11"/>
          <p:cNvSpPr txBox="1"/>
          <p:nvPr/>
        </p:nvSpPr>
        <p:spPr>
          <a:xfrm>
            <a:off x="6400800" y="2606040"/>
            <a:ext cx="2148840" cy="365760"/>
          </a:xfrm>
          <a:prstGeom prst="rect">
            <a:avLst/>
          </a:prstGeom>
          <a:noFill/>
          <a:ln/>
        </p:spPr>
        <p:txBody>
          <a:bodyPr wrap="square" lIns="0" tIns="0" rIns="0" bIns="0" rtlCol="0" anchor="ctr"/>
          <a:lstStyle/>
          <a:p>
            <a:pPr algn="ctr" indent="0" marL="0">
              <a:buNone/>
            </a:pPr>
            <a:r>
              <a:rPr lang="en-US" sz="1600" b="1" dirty="0">
                <a:solidFill>
                  <a:schemeClr val="tx2"/>
                </a:solidFill>
                <a:latin typeface="Calibri" pitchFamily="34" charset="0"/>
                <a:ea typeface="Calibri" pitchFamily="34" charset="-122"/>
                <a:cs typeface="Calibri" pitchFamily="34" charset="-120"/>
              </a:rPr>
              <a:t>Worksheet</a:t>
            </a:r>
            <a:endParaRPr lang="en-US" sz="1600" dirty="0"/>
          </a:p>
        </p:txBody>
      </p:sp>
      <p:sp>
        <p:nvSpPr>
          <p:cNvPr id="15" name="Text 12"/>
          <p:cNvSpPr txBox="1"/>
          <p:nvPr/>
        </p:nvSpPr>
        <p:spPr>
          <a:xfrm>
            <a:off x="6400800" y="3017520"/>
            <a:ext cx="2148840" cy="82296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Car Logo Breakdown</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Choose Your Challenge</a:t>
            </a:r>
            <a:endParaRPr lang="en-US" sz="3000" dirty="0"/>
          </a:p>
        </p:txBody>
      </p:sp>
      <p:sp>
        <p:nvSpPr>
          <p:cNvPr id="3" name="lvl0"/>
          <p:cNvSpPr/>
          <p:nvPr/>
        </p:nvSpPr>
        <p:spPr>
          <a:xfrm>
            <a:off x="457200" y="1188720"/>
            <a:ext cx="2596896" cy="3246120"/>
          </a:xfrm>
          <a:prstGeom prst="roundRect">
            <a:avLst>
              <a:gd name="adj" fmla="val 4225"/>
            </a:avLst>
          </a:prstGeom>
          <a:solidFill>
            <a:srgbClr val="F3F5F6"/>
          </a:solidFill>
          <a:ln w="12700">
            <a:solidFill>
              <a:srgbClr val="F3F5F6"/>
            </a:solidFill>
            <a:prstDash val="solid"/>
          </a:ln>
        </p:spPr>
      </p:sp>
      <p:sp>
        <p:nvSpPr>
          <p:cNvPr id="4" name="Shape 2"/>
          <p:cNvSpPr/>
          <p:nvPr/>
        </p:nvSpPr>
        <p:spPr>
          <a:xfrm>
            <a:off x="640080" y="1371600"/>
            <a:ext cx="640080" cy="640080"/>
          </a:xfrm>
          <a:prstGeom prst="ellipse">
            <a:avLst/>
          </a:prstGeom>
          <a:solidFill>
            <a:srgbClr val="2E8B57"/>
          </a:solidFill>
          <a:ln w="12700">
            <a:solidFill>
              <a:srgbClr val="2E8B57"/>
            </a:solidFill>
            <a:prstDash val="solid"/>
          </a:ln>
        </p:spPr>
      </p:sp>
      <p:pic>
        <p:nvPicPr>
          <p:cNvPr id="5" name="Image 0" descr="preencoded.png">    </p:cNvPr>
          <p:cNvPicPr>
            <a:picLocks noChangeAspect="1"/>
          </p:cNvPicPr>
          <p:nvPr/>
        </p:nvPicPr>
        <p:blipFill>
          <a:blip r:embed="rId1"/>
          <a:stretch>
            <a:fillRect/>
          </a:stretch>
        </p:blipFill>
        <p:spPr>
          <a:xfrm>
            <a:off x="793699" y="1525219"/>
            <a:ext cx="332842" cy="332842"/>
          </a:xfrm>
          <a:prstGeom prst="rect">
            <a:avLst/>
          </a:prstGeom>
        </p:spPr>
      </p:pic>
      <p:sp>
        <p:nvSpPr>
          <p:cNvPr id="6" name="Text 3"/>
          <p:cNvSpPr txBox="1"/>
          <p:nvPr/>
        </p:nvSpPr>
        <p:spPr>
          <a:xfrm>
            <a:off x="1417320" y="1417320"/>
            <a:ext cx="1554480" cy="548640"/>
          </a:xfrm>
          <a:prstGeom prst="rect">
            <a:avLst/>
          </a:prstGeom>
          <a:noFill/>
          <a:ln/>
        </p:spPr>
        <p:txBody>
          <a:bodyPr wrap="square" lIns="0" tIns="0" rIns="0" bIns="0" rtlCol="0" anchor="ctr"/>
          <a:lstStyle/>
          <a:p>
            <a:pPr indent="0" marL="0">
              <a:buNone/>
            </a:pPr>
            <a:r>
              <a:rPr lang="en-US" sz="2000" b="1" dirty="0">
                <a:solidFill>
                  <a:srgbClr val="2E8B57"/>
                </a:solidFill>
                <a:latin typeface="Calibri" pitchFamily="34" charset="0"/>
                <a:ea typeface="Calibri" pitchFamily="34" charset="-122"/>
                <a:cs typeface="Calibri" pitchFamily="34" charset="-120"/>
              </a:rPr>
              <a:t>Beginning</a:t>
            </a:r>
            <a:endParaRPr lang="en-US" sz="2000" dirty="0"/>
          </a:p>
        </p:txBody>
      </p:sp>
      <p:sp>
        <p:nvSpPr>
          <p:cNvPr id="7" name="Text 4"/>
          <p:cNvSpPr txBox="1"/>
          <p:nvPr/>
        </p:nvSpPr>
        <p:spPr>
          <a:xfrm>
            <a:off x="640080"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Choose a logo made of rings or circles and follow the ring step card.</a:t>
            </a:r>
            <a:endParaRPr lang="en-US" sz="1400" dirty="0"/>
          </a:p>
        </p:txBody>
      </p:sp>
      <p:sp>
        <p:nvSpPr>
          <p:cNvPr id="8" name="lvl1"/>
          <p:cNvSpPr/>
          <p:nvPr/>
        </p:nvSpPr>
        <p:spPr>
          <a:xfrm>
            <a:off x="3273552" y="1188720"/>
            <a:ext cx="2596896" cy="3246120"/>
          </a:xfrm>
          <a:prstGeom prst="roundRect">
            <a:avLst>
              <a:gd name="adj" fmla="val 4225"/>
            </a:avLst>
          </a:prstGeom>
          <a:solidFill>
            <a:srgbClr val="F3F5F6"/>
          </a:solidFill>
          <a:ln w="12700">
            <a:solidFill>
              <a:srgbClr val="F3F5F6"/>
            </a:solidFill>
            <a:prstDash val="solid"/>
          </a:ln>
        </p:spPr>
      </p:sp>
      <p:sp>
        <p:nvSpPr>
          <p:cNvPr id="9" name="Shape 6"/>
          <p:cNvSpPr/>
          <p:nvPr/>
        </p:nvSpPr>
        <p:spPr>
          <a:xfrm>
            <a:off x="3456432" y="1371600"/>
            <a:ext cx="640080" cy="640080"/>
          </a:xfrm>
          <a:prstGeom prst="ellipse">
            <a:avLst/>
          </a:prstGeom>
          <a:solidFill>
            <a:srgbClr val="0E7C80"/>
          </a:solidFill>
          <a:ln w="12700">
            <a:solidFill>
              <a:srgbClr val="0E7C80"/>
            </a:solidFill>
            <a:prstDash val="solid"/>
          </a:ln>
        </p:spPr>
      </p:sp>
      <p:pic>
        <p:nvPicPr>
          <p:cNvPr id="10" name="Image 1" descr="preencoded.png">    </p:cNvPr>
          <p:cNvPicPr>
            <a:picLocks noChangeAspect="1"/>
          </p:cNvPicPr>
          <p:nvPr/>
        </p:nvPicPr>
        <p:blipFill>
          <a:blip r:embed="rId2"/>
          <a:stretch>
            <a:fillRect/>
          </a:stretch>
        </p:blipFill>
        <p:spPr>
          <a:xfrm>
            <a:off x="3610051" y="1525219"/>
            <a:ext cx="332842" cy="332842"/>
          </a:xfrm>
          <a:prstGeom prst="rect">
            <a:avLst/>
          </a:prstGeom>
        </p:spPr>
      </p:pic>
      <p:sp>
        <p:nvSpPr>
          <p:cNvPr id="11" name="Text 7"/>
          <p:cNvSpPr txBox="1"/>
          <p:nvPr/>
        </p:nvSpPr>
        <p:spPr>
          <a:xfrm>
            <a:off x="4233672" y="1417320"/>
            <a:ext cx="1554480" cy="548640"/>
          </a:xfrm>
          <a:prstGeom prst="rect">
            <a:avLst/>
          </a:prstGeom>
          <a:noFill/>
          <a:ln/>
        </p:spPr>
        <p:txBody>
          <a:bodyPr wrap="square" lIns="0" tIns="0" rIns="0" bIns="0" rtlCol="0" anchor="ctr"/>
          <a:lstStyle/>
          <a:p>
            <a:pPr indent="0" marL="0">
              <a:buNone/>
            </a:pPr>
            <a:r>
              <a:rPr lang="en-US" sz="2000" b="1" dirty="0">
                <a:solidFill>
                  <a:srgbClr val="0E7C80"/>
                </a:solidFill>
                <a:latin typeface="Calibri" pitchFamily="34" charset="0"/>
                <a:ea typeface="Calibri" pitchFamily="34" charset="-122"/>
                <a:cs typeface="Calibri" pitchFamily="34" charset="-120"/>
              </a:rPr>
              <a:t>On</a:t>
            </a:r>
            <a:endParaRPr lang="en-US" sz="2000" dirty="0"/>
          </a:p>
        </p:txBody>
      </p:sp>
      <p:sp>
        <p:nvSpPr>
          <p:cNvPr id="12" name="Text 8"/>
          <p:cNvSpPr txBox="1"/>
          <p:nvPr/>
        </p:nvSpPr>
        <p:spPr>
          <a:xfrm>
            <a:off x="3456432"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Choose a logo with a star, triangle or letter and use rotate or mirror.</a:t>
            </a:r>
            <a:endParaRPr lang="en-US" sz="1400" dirty="0"/>
          </a:p>
        </p:txBody>
      </p:sp>
      <p:sp>
        <p:nvSpPr>
          <p:cNvPr id="13" name="lvl2"/>
          <p:cNvSpPr/>
          <p:nvPr/>
        </p:nvSpPr>
        <p:spPr>
          <a:xfrm>
            <a:off x="6089904" y="1188720"/>
            <a:ext cx="2596896" cy="3246120"/>
          </a:xfrm>
          <a:prstGeom prst="roundRect">
            <a:avLst>
              <a:gd name="adj" fmla="val 4225"/>
            </a:avLst>
          </a:prstGeom>
          <a:solidFill>
            <a:srgbClr val="F3F5F6"/>
          </a:solidFill>
          <a:ln w="12700">
            <a:solidFill>
              <a:srgbClr val="F3F5F6"/>
            </a:solidFill>
            <a:prstDash val="solid"/>
          </a:ln>
        </p:spPr>
      </p:sp>
      <p:sp>
        <p:nvSpPr>
          <p:cNvPr id="14" name="Shape 10"/>
          <p:cNvSpPr/>
          <p:nvPr/>
        </p:nvSpPr>
        <p:spPr>
          <a:xfrm>
            <a:off x="6272784" y="1371600"/>
            <a:ext cx="640080" cy="640080"/>
          </a:xfrm>
          <a:prstGeom prst="ellipse">
            <a:avLst/>
          </a:prstGeom>
          <a:solidFill>
            <a:srgbClr val="9E1B4B"/>
          </a:solidFill>
          <a:ln w="12700">
            <a:solidFill>
              <a:srgbClr val="9E1B4B"/>
            </a:solidFill>
            <a:prstDash val="solid"/>
          </a:ln>
        </p:spPr>
      </p:sp>
      <p:pic>
        <p:nvPicPr>
          <p:cNvPr id="15" name="Image 2" descr="preencoded.png">    </p:cNvPr>
          <p:cNvPicPr>
            <a:picLocks noChangeAspect="1"/>
          </p:cNvPicPr>
          <p:nvPr/>
        </p:nvPicPr>
        <p:blipFill>
          <a:blip r:embed="rId3"/>
          <a:stretch>
            <a:fillRect/>
          </a:stretch>
        </p:blipFill>
        <p:spPr>
          <a:xfrm>
            <a:off x="6426403" y="1525219"/>
            <a:ext cx="332842" cy="332842"/>
          </a:xfrm>
          <a:prstGeom prst="rect">
            <a:avLst/>
          </a:prstGeom>
        </p:spPr>
      </p:pic>
      <p:sp>
        <p:nvSpPr>
          <p:cNvPr id="16" name="Text 11"/>
          <p:cNvSpPr txBox="1"/>
          <p:nvPr/>
        </p:nvSpPr>
        <p:spPr>
          <a:xfrm>
            <a:off x="7050024" y="1417320"/>
            <a:ext cx="1554480" cy="548640"/>
          </a:xfrm>
          <a:prstGeom prst="rect">
            <a:avLst/>
          </a:prstGeom>
          <a:noFill/>
          <a:ln/>
        </p:spPr>
        <p:txBody>
          <a:bodyPr wrap="square" lIns="0" tIns="0" rIns="0" bIns="0" rtlCol="0" anchor="ctr"/>
          <a:lstStyle/>
          <a:p>
            <a:pPr indent="0" marL="0">
              <a:buNone/>
            </a:pPr>
            <a:r>
              <a:rPr lang="en-US" sz="2000" b="1" dirty="0">
                <a:solidFill>
                  <a:srgbClr val="9E1B4B"/>
                </a:solidFill>
                <a:latin typeface="Calibri" pitchFamily="34" charset="0"/>
                <a:ea typeface="Calibri" pitchFamily="34" charset="-122"/>
                <a:cs typeface="Calibri" pitchFamily="34" charset="-120"/>
              </a:rPr>
              <a:t>Above</a:t>
            </a:r>
            <a:endParaRPr lang="en-US" sz="2000" dirty="0"/>
          </a:p>
        </p:txBody>
      </p:sp>
      <p:sp>
        <p:nvSpPr>
          <p:cNvPr id="17" name="Text 12"/>
          <p:cNvSpPr txBox="1"/>
          <p:nvPr/>
        </p:nvSpPr>
        <p:spPr>
          <a:xfrm>
            <a:off x="6272784"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Choose a complex logo, add a raised border and explain how you used symmetry.</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Live Quiz Time</a:t>
            </a:r>
            <a:endParaRPr lang="en-US" sz="3000" dirty="0"/>
          </a:p>
        </p:txBody>
      </p:sp>
      <p:sp>
        <p:nvSpPr>
          <p:cNvPr id="3" name="Shape 1"/>
          <p:cNvSpPr/>
          <p:nvPr/>
        </p:nvSpPr>
        <p:spPr>
          <a:xfrm>
            <a:off x="457200" y="1234440"/>
            <a:ext cx="1463040" cy="146304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808330" y="1585570"/>
            <a:ext cx="760781" cy="760781"/>
          </a:xfrm>
          <a:prstGeom prst="rect">
            <a:avLst/>
          </a:prstGeom>
        </p:spPr>
      </p:pic>
      <p:sp>
        <p:nvSpPr>
          <p:cNvPr id="5" name="Text 2"/>
          <p:cNvSpPr txBox="1"/>
          <p:nvPr/>
        </p:nvSpPr>
        <p:spPr>
          <a:xfrm>
            <a:off x="2286000" y="1234440"/>
            <a:ext cx="6400800" cy="2194560"/>
          </a:xfrm>
          <a:prstGeom prst="rect">
            <a:avLst/>
          </a:prstGeom>
          <a:noFill/>
          <a:ln/>
        </p:spPr>
        <p:txBody>
          <a:bodyPr wrap="square" lIns="0" tIns="0" rIns="0" bIns="0" rtlCol="0" anchor="t"/>
          <a:lstStyle/>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1. Open the TCD website and tap Join a Quiz.</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2. Enter the quiz code on the board.</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3. Type your Student ID, first name and last name.</a:t>
            </a:r>
            <a:endParaRPr lang="en-US" sz="1800" dirty="0"/>
          </a:p>
          <a:p>
            <a:pPr indent="0" marL="0">
              <a:buNone/>
            </a:pPr>
            <a:r>
              <a:rPr lang="en-US" sz="1800" dirty="0">
                <a:solidFill>
                  <a:schemeClr val="bg1"/>
                </a:solidFill>
                <a:latin typeface="Calibri" pitchFamily="34" charset="0"/>
                <a:ea typeface="Calibri" pitchFamily="34" charset="-122"/>
                <a:cs typeface="Calibri" pitchFamily="34" charset="-120"/>
              </a:rPr>
              <a:t>4. Answer 8 questions. Fast and correct answers score more points!</a:t>
            </a:r>
            <a:endParaRPr lang="en-US" sz="1800" dirty="0"/>
          </a:p>
        </p:txBody>
      </p:sp>
      <p:sp>
        <p:nvSpPr>
          <p:cNvPr id="6" name="codeBox"/>
          <p:cNvSpPr/>
          <p:nvPr/>
        </p:nvSpPr>
        <p:spPr>
          <a:xfrm>
            <a:off x="2286000" y="3611880"/>
            <a:ext cx="3840480" cy="777240"/>
          </a:xfrm>
          <a:prstGeom prst="roundRect">
            <a:avLst>
              <a:gd name="adj" fmla="val 14118"/>
            </a:avLst>
          </a:prstGeom>
          <a:solidFill>
            <a:srgbClr val="FFFFFF"/>
          </a:solidFill>
          <a:ln w="12700">
            <a:solidFill>
              <a:srgbClr val="FFFFFF"/>
            </a:solidFill>
            <a:prstDash val="solid"/>
          </a:ln>
        </p:spPr>
      </p:sp>
      <p:sp>
        <p:nvSpPr>
          <p:cNvPr id="7" name="Text 4"/>
          <p:cNvSpPr txBox="1"/>
          <p:nvPr/>
        </p:nvSpPr>
        <p:spPr>
          <a:xfrm>
            <a:off x="2286000" y="3611880"/>
            <a:ext cx="3840480" cy="777240"/>
          </a:xfrm>
          <a:prstGeom prst="rect">
            <a:avLst/>
          </a:prstGeom>
          <a:noFill/>
          <a:ln/>
        </p:spPr>
        <p:txBody>
          <a:bodyPr wrap="square" lIns="0" tIns="0" rIns="0" bIns="0" rtlCol="0" anchor="ctr"/>
          <a:lstStyle/>
          <a:p>
            <a:pPr algn="ctr" indent="0" marL="0">
              <a:buNone/>
            </a:pPr>
            <a:r>
              <a:rPr lang="en-US" sz="2200" b="1" dirty="0">
                <a:solidFill>
                  <a:srgbClr val="0E7C80"/>
                </a:solidFill>
                <a:latin typeface="Calibri" pitchFamily="34" charset="0"/>
                <a:ea typeface="Calibri" pitchFamily="34" charset="-122"/>
                <a:cs typeface="Calibri" pitchFamily="34" charset="-120"/>
              </a:rPr>
              <a:t>Quiz code:  _ _ _ _ _ _</a:t>
            </a:r>
            <a:endParaRPr lang="en-US" sz="22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Reflect: Exit Ticket</a:t>
            </a:r>
            <a:endParaRPr lang="en-US" sz="3000" dirty="0"/>
          </a:p>
        </p:txBody>
      </p:sp>
      <p:sp>
        <p:nvSpPr>
          <p:cNvPr id="3" name="ref0"/>
          <p:cNvSpPr/>
          <p:nvPr/>
        </p:nvSpPr>
        <p:spPr>
          <a:xfrm>
            <a:off x="457200" y="1188720"/>
            <a:ext cx="4754880" cy="777240"/>
          </a:xfrm>
          <a:prstGeom prst="roundRect">
            <a:avLst>
              <a:gd name="adj" fmla="val 14118"/>
            </a:avLst>
          </a:prstGeom>
          <a:solidFill>
            <a:srgbClr val="E6F2F2"/>
          </a:solidFill>
          <a:ln w="12700">
            <a:solidFill>
              <a:srgbClr val="E6F2F2"/>
            </a:solidFill>
            <a:prstDash val="solid"/>
          </a:ln>
        </p:spPr>
      </p:sp>
      <p:sp>
        <p:nvSpPr>
          <p:cNvPr id="4" name="Text 2"/>
          <p:cNvSpPr txBox="1"/>
          <p:nvPr/>
        </p:nvSpPr>
        <p:spPr>
          <a:xfrm>
            <a:off x="640080" y="11887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Which shapes was your logo made of?</a:t>
            </a:r>
            <a:endParaRPr lang="en-US" sz="1600" dirty="0"/>
          </a:p>
        </p:txBody>
      </p:sp>
      <p:sp>
        <p:nvSpPr>
          <p:cNvPr id="5" name="ref1"/>
          <p:cNvSpPr/>
          <p:nvPr/>
        </p:nvSpPr>
        <p:spPr>
          <a:xfrm>
            <a:off x="457200" y="2103120"/>
            <a:ext cx="4754880" cy="777240"/>
          </a:xfrm>
          <a:prstGeom prst="roundRect">
            <a:avLst>
              <a:gd name="adj" fmla="val 14118"/>
            </a:avLst>
          </a:prstGeom>
          <a:solidFill>
            <a:srgbClr val="F3F5F6"/>
          </a:solidFill>
          <a:ln w="12700">
            <a:solidFill>
              <a:srgbClr val="F3F5F6"/>
            </a:solidFill>
            <a:prstDash val="solid"/>
          </a:ln>
        </p:spPr>
      </p:sp>
      <p:sp>
        <p:nvSpPr>
          <p:cNvPr id="6" name="Text 4"/>
          <p:cNvSpPr txBox="1"/>
          <p:nvPr/>
        </p:nvSpPr>
        <p:spPr>
          <a:xfrm>
            <a:off x="640080" y="21031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Which tool helped you most today?</a:t>
            </a:r>
            <a:endParaRPr lang="en-US" sz="1600" dirty="0"/>
          </a:p>
        </p:txBody>
      </p:sp>
      <p:sp>
        <p:nvSpPr>
          <p:cNvPr id="7" name="Text 5"/>
          <p:cNvSpPr txBox="1"/>
          <p:nvPr/>
        </p:nvSpPr>
        <p:spPr>
          <a:xfrm>
            <a:off x="5577840" y="1188720"/>
            <a:ext cx="310896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Check your success criteria</a:t>
            </a:r>
            <a:endParaRPr lang="en-US" sz="1500" dirty="0"/>
          </a:p>
        </p:txBody>
      </p:sp>
      <p:sp>
        <p:nvSpPr>
          <p:cNvPr id="8" name="Text 6"/>
          <p:cNvSpPr txBox="1"/>
          <p:nvPr/>
        </p:nvSpPr>
        <p:spPr>
          <a:xfrm>
            <a:off x="5577840" y="1645920"/>
            <a:ext cx="310896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find the basic shapes inside a car logo.</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use rotate, duplicate and mirror to build symmetrical parts.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use holes to cut out inner shapes.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scale my model to 60 mm and give it a 4 mm base.</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TCD Dubai">
  <a:themeElements>
    <a:clrScheme name="TCD Dubai">
      <a:dk1>
        <a:srgbClr val="1F2A33"/>
      </a:dk1>
      <a:lt1>
        <a:srgbClr val="FFFFFF"/>
      </a:lt1>
      <a:dk2>
        <a:srgbClr val="0E7C80"/>
      </a:dk2>
      <a:lt2>
        <a:srgbClr val="E6F2F2"/>
      </a:lt2>
      <a:accent1>
        <a:srgbClr val="0E7C80"/>
      </a:accent1>
      <a:accent2>
        <a:srgbClr val="9E1B4B"/>
      </a:accent2>
      <a:accent3>
        <a:srgbClr val="F2A31B"/>
      </a:accent3>
      <a:accent4>
        <a:srgbClr val="2E8B57"/>
      </a:accent4>
      <a:accent5>
        <a:srgbClr val="3A6EA5"/>
      </a:accent5>
      <a:accent6>
        <a:srgbClr val="5F6B73"/>
      </a:accent6>
      <a:hlink>
        <a:srgbClr val="0E7C80"/>
      </a:hlink>
      <a:folHlink>
        <a:srgbClr val="9E1B4B"/>
      </a:folHlink>
    </a:clrScheme>
    <a:fontScheme name="TCD Duba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Emirates National Schools TCD Dubai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Junior Designer Challenge: 3D Modelling a Car Logo</dc:title>
  <dc:subject>PptxGenJS Presentation</dc:subject>
  <dc:creator>Ms. Lubna Kakkengal and Mr. Dilan Devendra</dc:creator>
  <cp:lastModifiedBy>Ms. Lubna Kakkengal and Mr. Dilan Devendra</cp:lastModifiedBy>
  <cp:revision>1</cp:revision>
  <dcterms:created xsi:type="dcterms:W3CDTF">2026-10-24T13:20:58Z</dcterms:created>
  <dcterms:modified xsi:type="dcterms:W3CDTF">2026-10-24T13:20:58Z</dcterms:modified>
</cp:coreProperties>
</file>