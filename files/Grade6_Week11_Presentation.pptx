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ea01859-e24b-e95a-d4dd-6ce0d86dc776}">
          <p14:sldIdLst>
            <p14:sldId id="256"/>
            <p14:sldId id="257"/>
            <p14:sldId id="258"/>
            <p14:sldId id="259"/>
            <p14:sldId id="260"/>
          </p14:sldIdLst>
        </p14:section>
        <p14:section name="Learn" id="{74a3a7d3-b690-911d-8c1c-5eae5ea23b8c}">
          <p14:sldIdLst>
            <p14:sldId id="261"/>
            <p14:sldId id="262"/>
            <p14:sldId id="263"/>
            <p14:sldId id="264"/>
          </p14:sldIdLst>
        </p14:section>
        <p14:section name="Make" id="{7b3de759-a201-57d6-474c-c68c0430e0f8}">
          <p14:sldIdLst>
            <p14:sldId id="265"/>
            <p14:sldId id="266"/>
            <p14:sldId id="267"/>
            <p14:sldId id="268"/>
          </p14:sldIdLst>
        </p14:section>
        <p14:section name="Check" id="{9cb9eca8-d222-8250-ce4d-297c1986a473}">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Grade 6 TCD class, My Maker Mark Session 3 of 3 (2 hours). Students finish their laser-cut maker mark using the Unimat Cool Tools sanding machine and drill, then check and export their Junior Engineer product from Week 4 so it can be 3D printed, completing both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hook video on the TCD website (lesson page, Hook Video tab). Then ask: What turns a good product into a great one?
Video scenes: The finish: Smooth edges, clean holes and no burn marks. | Unimat Cool Tools: Small machine tools built for young makers. | Sand, drill, shape: Each machine has one job and one set of safety rules. | Today: Finish your maker mark and send your product to 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learning goal together. Students rate themselves now (1 to 3 fingers) for each success criterion and again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(5 min): Pass around two pieces of wood: one rough and one sanded smooth. Students describe how each feels and looks. Ask: why do professional makers spend so much time on finishing?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Pre-teach vocabulary: Unimat, sanding machine, jigsaw, lathe, drill, finish, grit, STL, quality. Point to the word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the Unimat Cool Tools: Sanding machine: smooths edges and removes burn marks. Hand drill: makes clean holes from 1 to 6 mm. Jigsaw: cuts curves in thin wood and plastic. Lathe: turns round shapes (not used today).
The Unimat Cool Tools are small machine tools designed for young makers. The sanding machine smooths edges, the hand drill makes clean holes and the jigsaw cuts curves.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Machine tool safety: Goggles on before the machine is switched on. Sleeves rolled up, hair tied back, no loose items. One person per machine, with the teacher's permission. Switch off and wait for it to stop before you touch or move anything.
Machine safety rules: goggles on first, hair tied back, sleeves up, one person per machine and switch off before touching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Finishing your maker mark: Light sanding of edges with 120 grit, then 240 grit. Gently remove laser burn marks from the surface. Clean the keyring hole with the hand drill if needed. Fit the keyring with pliers.
Finishing makes a big difference to quality. Sand first with coarse paper (120 grit) and then fine paper (240 grit).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Junior Engineer product: ready to print: Open your Week 4 Tinkercad design. Group it, set it flat and scale it to fit within 80 mm. Check for floating parts and thin walls under 2 mm. Export as STL: Grade6_JE_YourName.
Finishing makes a big difference to quality. Sand first with coarse paper (120 grit) and then fine paper (240 grit).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each step. 1. Safety pledge and goggles on 2. Sand edges at the sanding machine 3. Clean the hole and fit the keyring 4. Quality check your maker mark 5. Check your Junior Engineer model 6. Export STL for printing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rule aloud. Students repeat the rule and show the action. Do not continue until every student can say the rules. Goggles on before the machine is switched on. Hair tied back, sleeves rolled up, no loose items. Only one person at a machine, with the teacher watching. Switch off and wait for the machine to stop before touching it. Never touch the 3D printer nozzle or bed.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practice. Take the machine safety pledge. Finish your maker mark at the sanding machine and fit the keyring. Complete the quality checklist. Check, fix and export your Junior Engineer model as STL.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a level. Encourage them to try the next level once they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open this lesson on the TCD website, press Start Live Quiz, and write the code on the board. Questions: 1. What does the sanding machine do? 2. What must you put on before switching on a machine? 3. Before touching a machine part, you must ... 4. Which grit is finer? 5. How many people should use a machine at once? 6. Which Unimat machine makes clean holes? 7. Which file type do we export for 3D printing? 8. Why do we tie back long hair near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Closure: Maker mark showcase: each student shows one detail they finished. Exit ticket (slide 15). The teacher prints Junior Engineer models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CD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94960" y="0"/>
            <a:ext cx="3749040" cy="5143500"/>
          </a:xfrm>
          <a:prstGeom prst="rect">
            <a:avLst/>
          </a:prstGeom>
          <a:solidFill>
            <a:schemeClr val="accent1"/>
          </a:solidFill>
          <a:ln/>
        </p:spPr>
      </p:sp>
      <p:pic>
        <p:nvPicPr>
          <p:cNvPr id="3" name="Image 0" descr="preencoded.png">    </p:cNvPr>
          <p:cNvPicPr>
            <a:picLocks noChangeAspect="1"/>
          </p:cNvPicPr>
          <p:nvPr/>
        </p:nvPicPr>
        <p:blipFill>
          <a:blip r:embed="rId1"/>
          <a:stretch>
            <a:fillRect/>
          </a:stretch>
        </p:blipFill>
        <p:spPr>
          <a:xfrm>
            <a:off x="457200" y="411480"/>
            <a:ext cx="2377440" cy="722376"/>
          </a:xfrm>
          <a:prstGeom prst="rect">
            <a:avLst/>
          </a:prstGeom>
        </p:spPr>
      </p:pic>
      <p:sp>
        <p:nvSpPr>
          <p:cNvPr id="4" name="Text 1"/>
          <p:cNvSpPr/>
          <p:nvPr>
            <p:ph idx="102" type="title" hasCustomPrompt="1"/>
          </p:nvPr>
        </p:nvSpPr>
        <p:spPr>
          <a:xfrm>
            <a:off x="457200" y="1600200"/>
            <a:ext cx="4663440" cy="155448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5" name="Text 1"/>
          <p:cNvSpPr/>
          <p:nvPr>
            <p:ph idx="103" type="body" hasCustomPrompt="1"/>
          </p:nvPr>
        </p:nvSpPr>
        <p:spPr>
          <a:xfrm>
            <a:off x="457200" y="3291840"/>
            <a:ext cx="4663440" cy="1097280"/>
          </a:xfrm>
          <a:prstGeom prst="rect">
            <a:avLst/>
          </a:prstGeom>
          <a:noFill/>
          <a:ln/>
        </p:spPr>
        <p:txBody>
          <a:bodyPr wrap="square" rtlCol="0"/>
          <a:lstStyle>
            <a:lvl1pPr indent="0" marL="0">
              <a:buNone/>
              <a:defRPr lang="en-US" sz="1500" dirty="0">
                <a:solidFill>
                  <a:schemeClr val="accent6"/>
                </a:solidFill>
              </a:defRPr>
            </a:lvl1pPr>
          </a:lstStyle>
          <a:p>
            <a:pPr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CD_CONTENT">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26680" y="4663440"/>
            <a:ext cx="1051560" cy="320040"/>
          </a:xfrm>
          <a:prstGeom prst="rect">
            <a:avLst/>
          </a:prstGeom>
        </p:spPr>
      </p:pic>
      <p:sp>
        <p:nvSpPr>
          <p:cNvPr id="3" name="Text 0"/>
          <p:cNvSpPr/>
          <p:nvPr/>
        </p:nvSpPr>
        <p:spPr>
          <a:xfrm>
            <a:off x="457200" y="4681728"/>
            <a:ext cx="5943600" cy="274320"/>
          </a:xfrm>
          <a:prstGeom prst="rect">
            <a:avLst/>
          </a:prstGeom>
          <a:noFill/>
          <a:ln/>
        </p:spPr>
        <p:txBody>
          <a:bodyPr wrap="square" lIns="0" tIns="0" rIns="0" bIns="0" rtlCol="0" anchor="ctr"/>
          <a:lstStyle/>
          <a:p>
            <a:pPr indent="0" marL="0">
              <a:buNone/>
            </a:pPr>
            <a:r>
              <a:rPr lang="en-US" sz="900" dirty="0">
                <a:solidFill>
                  <a:schemeClr val="accent6"/>
                </a:solidFill>
              </a:rPr>
              <a:t>Grade 6  |  Term 1, Week 11  |  My Maker Mark</a:t>
            </a:r>
            <a:endParaRPr lang="en-US" sz="900" dirty="0"/>
          </a:p>
        </p:txBody>
      </p:sp>
      <p:sp>
        <p:nvSpPr>
          <p:cNvPr id="4" name="Text 1"/>
          <p:cNvSpPr/>
          <p:nvPr>
            <p:ph idx="102"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CD_DARK">
    <p:bg>
      <p:bgPr>
        <a:solidFill>
          <a:schemeClr val="accent1"/>
        </a:solidFill>
      </p:bgPr>
    </p:bg>
    <p:spTree>
      <p:nvGrpSpPr>
        <p:cNvPr id="1" name=""/>
        <p:cNvGrpSpPr/>
        <p:nvPr/>
      </p:nvGrpSpPr>
      <p:grpSpPr>
        <a:xfrm>
          <a:off x="0" y="0"/>
          <a:ext cx="0" cy="0"/>
          <a:chOff x="0" y="0"/>
          <a:chExt cx="0" cy="0"/>
        </a:xfrm>
      </p:grpSpPr>
      <p:sp>
        <p:nvSpPr>
          <p:cNvPr id="2" name="Shape 0"/>
          <p:cNvSpPr/>
          <p:nvPr/>
        </p:nvSpPr>
        <p:spPr>
          <a:xfrm>
            <a:off x="7589520" y="4553712"/>
            <a:ext cx="1325880" cy="457200"/>
          </a:xfrm>
          <a:prstGeom prst="rect">
            <a:avLst>
              <a:gd name="adj" fmla="val 16000"/>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7680960" y="4617720"/>
            <a:ext cx="1143000" cy="347472"/>
          </a:xfrm>
          <a:prstGeom prst="rect">
            <a:avLst/>
          </a:prstGeom>
        </p:spPr>
      </p:pic>
      <p:sp>
        <p:nvSpPr>
          <p:cNvPr id="4" name="Text 1"/>
          <p:cNvSpPr/>
          <p:nvPr>
            <p:ph idx="102" type="title" hasCustomPrompt="1"/>
          </p:nvPr>
        </p:nvSpPr>
        <p:spPr>
          <a:xfrm>
            <a:off x="457200" y="320040"/>
            <a:ext cx="8229600" cy="685800"/>
          </a:xfrm>
          <a:prstGeom prst="rect">
            <a:avLst/>
          </a:prstGeom>
          <a:noFill/>
          <a:ln/>
        </p:spPr>
        <p:txBody>
          <a:bodyPr wrap="square" rtlCol="0"/>
          <a:lstStyle>
            <a:lvl1pPr indent="0" marL="0">
              <a:buNone/>
              <a:defRPr lang="en-US" sz="3000" b="1" dirty="0">
                <a:solidFill>
                  <a:schemeClr val="bg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457200" y="1600200"/>
            <a:ext cx="4663440" cy="1554480"/>
          </a:xfrm>
          <a:prstGeom prst="rect">
            <a:avLst/>
          </a:prstGeom>
          <a:noFill/>
          <a:ln/>
        </p:spPr>
        <p:txBody>
          <a:bodyPr wrap="square" lIns="0" tIns="0" rIns="0" bIns="0" rtlCol="0" anchor="t"/>
          <a:lstStyle/>
          <a:p>
            <a:pPr indent="0" marL="0">
              <a:buNone/>
            </a:pPr>
            <a:r>
              <a:rPr lang="en-US" sz="3400" b="1" dirty="0">
                <a:solidFill>
                  <a:schemeClr val="tx1"/>
                </a:solidFill>
              </a:rPr>
              <a:t>Unimat Cool Tools and 3D Print</a:t>
            </a:r>
            <a:endParaRPr lang="en-US" sz="3400" dirty="0"/>
          </a:p>
        </p:txBody>
      </p:sp>
      <p:sp>
        <p:nvSpPr>
          <p:cNvPr id="3" name="Text 1"/>
          <p:cNvSpPr/>
          <p:nvPr>
            <p:ph idx="103" type="body" hasCustomPrompt="1"/>
          </p:nvPr>
        </p:nvSpPr>
        <p:spPr>
          <a:xfrm>
            <a:off x="457200" y="3291840"/>
            <a:ext cx="4663440" cy="1097280"/>
          </a:xfrm>
          <a:prstGeom prst="rect">
            <a:avLst/>
          </a:prstGeom>
          <a:noFill/>
          <a:ln/>
        </p:spPr>
        <p:txBody>
          <a:bodyPr wrap="square" lIns="0" tIns="0" rIns="0" bIns="0" rtlCol="0" anchor="t"/>
          <a:lstStyle/>
          <a:p>
            <a:pPr indent="0" marL="0">
              <a:buNone/>
            </a:pPr>
            <a:r>
              <a:rPr lang="en-US" sz="1500" dirty="0">
                <a:solidFill>
                  <a:schemeClr val="accent6"/>
                </a:solidFill>
              </a:rPr>
              <a:t>My Maker Mark</a:t>
            </a:r>
            <a:endParaRPr lang="en-US" sz="1500" dirty="0"/>
          </a:p>
          <a:p>
            <a:pPr indent="0" marL="0">
              <a:buNone/>
            </a:pPr>
            <a:r>
              <a:rPr lang="en-US" sz="1500" dirty="0">
                <a:solidFill>
                  <a:schemeClr val="accent6"/>
                </a:solidFill>
              </a:rPr>
              <a:t>Grade 6  |  Term 1  |  Week 11 (9 Nov to 13 Nov)</a:t>
            </a:r>
            <a:endParaRPr lang="en-US" sz="1500" dirty="0"/>
          </a:p>
        </p:txBody>
      </p:sp>
      <p:sp>
        <p:nvSpPr>
          <p:cNvPr id="4" name="Text 2"/>
          <p:cNvSpPr txBox="1"/>
          <p:nvPr/>
        </p:nvSpPr>
        <p:spPr>
          <a:xfrm>
            <a:off x="457200" y="1234440"/>
            <a:ext cx="4663440" cy="274320"/>
          </a:xfrm>
          <a:prstGeom prst="rect">
            <a:avLst/>
          </a:prstGeom>
          <a:noFill/>
          <a:ln/>
        </p:spPr>
        <p:txBody>
          <a:bodyPr wrap="square" lIns="0" tIns="0" rIns="0" bIns="0" rtlCol="0" anchor="ctr"/>
          <a:lstStyle/>
          <a:p>
            <a:pPr indent="0" marL="0">
              <a:buNone/>
            </a:pPr>
            <a:r>
              <a:rPr lang="en-US" sz="1100" b="1" spc="100" kern="0" dirty="0">
                <a:solidFill>
                  <a:schemeClr val="accent2"/>
                </a:solidFill>
                <a:latin typeface="Calibri" pitchFamily="34" charset="0"/>
                <a:ea typeface="Calibri" pitchFamily="34" charset="-122"/>
                <a:cs typeface="Calibri" pitchFamily="34" charset="-120"/>
              </a:rPr>
              <a:t>MY MAKER MARK</a:t>
            </a:r>
            <a:endParaRPr lang="en-US" sz="1100" dirty="0"/>
          </a:p>
        </p:txBody>
      </p:sp>
      <p:sp>
        <p:nvSpPr>
          <p:cNvPr id="5" name="Shape 3"/>
          <p:cNvSpPr/>
          <p:nvPr/>
        </p:nvSpPr>
        <p:spPr>
          <a:xfrm>
            <a:off x="6355080" y="914400"/>
            <a:ext cx="1828800" cy="18288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6793992" y="1353312"/>
            <a:ext cx="950976" cy="950976"/>
          </a:xfrm>
          <a:prstGeom prst="rect">
            <a:avLst/>
          </a:prstGeom>
        </p:spPr>
      </p:pic>
      <p:sp>
        <p:nvSpPr>
          <p:cNvPr id="7" name="Text 4"/>
          <p:cNvSpPr txBox="1"/>
          <p:nvPr/>
        </p:nvSpPr>
        <p:spPr>
          <a:xfrm>
            <a:off x="5669280" y="3063240"/>
            <a:ext cx="3200400" cy="32004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Technology and Career Centre, Dubai</a:t>
            </a:r>
            <a:endParaRPr lang="en-US" sz="1300" dirty="0"/>
          </a:p>
        </p:txBody>
      </p:sp>
      <p:sp>
        <p:nvSpPr>
          <p:cNvPr id="8" name="Text 5"/>
          <p:cNvSpPr txBox="1"/>
          <p:nvPr/>
        </p:nvSpPr>
        <p:spPr>
          <a:xfrm>
            <a:off x="5669280" y="3429000"/>
            <a:ext cx="3200400" cy="548640"/>
          </a:xfrm>
          <a:prstGeom prst="rect">
            <a:avLst/>
          </a:prstGeom>
          <a:noFill/>
          <a:ln/>
        </p:spPr>
        <p:txBody>
          <a:bodyPr wrap="square" lIns="0" tIns="0" rIns="0" bIns="0" rtlCol="0" anchor="ctr"/>
          <a:lstStyle/>
          <a:p>
            <a:pPr algn="ctr" indent="0" marL="0">
              <a:buNone/>
            </a:pPr>
            <a:r>
              <a:rPr lang="en-US" sz="1200" dirty="0">
                <a:solidFill>
                  <a:schemeClr val="bg1"/>
                </a:solidFill>
                <a:latin typeface="Calibri" pitchFamily="34" charset="0"/>
                <a:ea typeface="Calibri" pitchFamily="34" charset="-122"/>
                <a:cs typeface="Calibri" pitchFamily="34" charset="-120"/>
              </a:rPr>
              <a:t>Ms. Lubna Kakkengal and Mr. Dilan Devendra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Hook</a:t>
            </a:r>
            <a:endParaRPr lang="en-US" sz="3000" dirty="0"/>
          </a:p>
        </p:txBody>
      </p:sp>
      <p:sp>
        <p:nvSpPr>
          <p:cNvPr id="3" name="Text 1"/>
          <p:cNvSpPr txBox="1"/>
          <p:nvPr/>
        </p:nvSpPr>
        <p:spPr>
          <a:xfrm>
            <a:off x="457200" y="1097280"/>
            <a:ext cx="8229600" cy="1097280"/>
          </a:xfrm>
          <a:prstGeom prst="rect">
            <a:avLst/>
          </a:prstGeom>
          <a:noFill/>
          <a:ln/>
        </p:spPr>
        <p:txBody>
          <a:bodyPr wrap="square" lIns="0" tIns="0" rIns="0" bIns="0" rtlCol="0" anchor="t"/>
          <a:lstStyle/>
          <a:p>
            <a:pPr indent="0" marL="0">
              <a:buNone/>
            </a:pPr>
            <a:r>
              <a:rPr lang="en-US" sz="2400" b="1" dirty="0">
                <a:solidFill>
                  <a:schemeClr val="bg1"/>
                </a:solidFill>
                <a:latin typeface="Calibri" pitchFamily="34" charset="0"/>
                <a:ea typeface="Calibri" pitchFamily="34" charset="-122"/>
                <a:cs typeface="Calibri" pitchFamily="34" charset="-120"/>
              </a:rPr>
              <a:t>What turns a good product into a great one?</a:t>
            </a:r>
            <a:endParaRPr lang="en-US" sz="2400" dirty="0"/>
          </a:p>
        </p:txBody>
      </p:sp>
      <p:sp>
        <p:nvSpPr>
          <p:cNvPr id="4" name="scene0"/>
          <p:cNvSpPr/>
          <p:nvPr/>
        </p:nvSpPr>
        <p:spPr>
          <a:xfrm>
            <a:off x="457200" y="2423160"/>
            <a:ext cx="1885950" cy="1874520"/>
          </a:xfrm>
          <a:prstGeom prst="roundRect">
            <a:avLst>
              <a:gd name="adj" fmla="val 5854"/>
            </a:avLst>
          </a:prstGeom>
          <a:solidFill>
            <a:srgbClr val="0A5C5F"/>
          </a:solidFill>
          <a:ln w="12700">
            <a:solidFill>
              <a:srgbClr val="0A5C5F"/>
            </a:solidFill>
            <a:prstDash val="solid"/>
          </a:ln>
        </p:spPr>
      </p:sp>
      <p:sp>
        <p:nvSpPr>
          <p:cNvPr id="5" name="Text 3"/>
          <p:cNvSpPr txBox="1"/>
          <p:nvPr/>
        </p:nvSpPr>
        <p:spPr>
          <a:xfrm>
            <a:off x="59436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The finish</a:t>
            </a:r>
            <a:endParaRPr lang="en-US" sz="1400" dirty="0"/>
          </a:p>
        </p:txBody>
      </p:sp>
      <p:sp>
        <p:nvSpPr>
          <p:cNvPr id="6" name="Text 4"/>
          <p:cNvSpPr txBox="1"/>
          <p:nvPr/>
        </p:nvSpPr>
        <p:spPr>
          <a:xfrm>
            <a:off x="59436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Smooth edges, clean holes and no burn marks.</a:t>
            </a:r>
            <a:endParaRPr lang="en-US" sz="1300" dirty="0"/>
          </a:p>
        </p:txBody>
      </p:sp>
      <p:sp>
        <p:nvSpPr>
          <p:cNvPr id="7" name="scene1"/>
          <p:cNvSpPr/>
          <p:nvPr/>
        </p:nvSpPr>
        <p:spPr>
          <a:xfrm>
            <a:off x="2571750" y="2423160"/>
            <a:ext cx="1885950" cy="1874520"/>
          </a:xfrm>
          <a:prstGeom prst="roundRect">
            <a:avLst>
              <a:gd name="adj" fmla="val 5854"/>
            </a:avLst>
          </a:prstGeom>
          <a:solidFill>
            <a:srgbClr val="0A5C5F"/>
          </a:solidFill>
          <a:ln w="12700">
            <a:solidFill>
              <a:srgbClr val="0A5C5F"/>
            </a:solidFill>
            <a:prstDash val="solid"/>
          </a:ln>
        </p:spPr>
      </p:sp>
      <p:sp>
        <p:nvSpPr>
          <p:cNvPr id="8" name="Text 6"/>
          <p:cNvSpPr txBox="1"/>
          <p:nvPr/>
        </p:nvSpPr>
        <p:spPr>
          <a:xfrm>
            <a:off x="270891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Unimat Cool Tools</a:t>
            </a:r>
            <a:endParaRPr lang="en-US" sz="1400" dirty="0"/>
          </a:p>
        </p:txBody>
      </p:sp>
      <p:sp>
        <p:nvSpPr>
          <p:cNvPr id="9" name="Text 7"/>
          <p:cNvSpPr txBox="1"/>
          <p:nvPr/>
        </p:nvSpPr>
        <p:spPr>
          <a:xfrm>
            <a:off x="270891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Small machine tools built for young makers.</a:t>
            </a:r>
            <a:endParaRPr lang="en-US" sz="1300" dirty="0"/>
          </a:p>
        </p:txBody>
      </p:sp>
      <p:sp>
        <p:nvSpPr>
          <p:cNvPr id="10" name="scene2"/>
          <p:cNvSpPr/>
          <p:nvPr/>
        </p:nvSpPr>
        <p:spPr>
          <a:xfrm>
            <a:off x="4686300" y="2423160"/>
            <a:ext cx="1885950" cy="1874520"/>
          </a:xfrm>
          <a:prstGeom prst="roundRect">
            <a:avLst>
              <a:gd name="adj" fmla="val 5854"/>
            </a:avLst>
          </a:prstGeom>
          <a:solidFill>
            <a:srgbClr val="0A5C5F"/>
          </a:solidFill>
          <a:ln w="12700">
            <a:solidFill>
              <a:srgbClr val="0A5C5F"/>
            </a:solidFill>
            <a:prstDash val="solid"/>
          </a:ln>
        </p:spPr>
      </p:sp>
      <p:sp>
        <p:nvSpPr>
          <p:cNvPr id="11" name="Text 9"/>
          <p:cNvSpPr txBox="1"/>
          <p:nvPr/>
        </p:nvSpPr>
        <p:spPr>
          <a:xfrm>
            <a:off x="482346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Sand, drill, shape</a:t>
            </a:r>
            <a:endParaRPr lang="en-US" sz="1400" dirty="0"/>
          </a:p>
        </p:txBody>
      </p:sp>
      <p:sp>
        <p:nvSpPr>
          <p:cNvPr id="12" name="Text 10"/>
          <p:cNvSpPr txBox="1"/>
          <p:nvPr/>
        </p:nvSpPr>
        <p:spPr>
          <a:xfrm>
            <a:off x="482346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Each machine has one job and one set of safety rules.</a:t>
            </a:r>
            <a:endParaRPr lang="en-US" sz="1300" dirty="0"/>
          </a:p>
        </p:txBody>
      </p:sp>
      <p:sp>
        <p:nvSpPr>
          <p:cNvPr id="13" name="scene3"/>
          <p:cNvSpPr/>
          <p:nvPr/>
        </p:nvSpPr>
        <p:spPr>
          <a:xfrm>
            <a:off x="6800850" y="2423160"/>
            <a:ext cx="1885950" cy="1874520"/>
          </a:xfrm>
          <a:prstGeom prst="roundRect">
            <a:avLst>
              <a:gd name="adj" fmla="val 5854"/>
            </a:avLst>
          </a:prstGeom>
          <a:solidFill>
            <a:srgbClr val="0A5C5F"/>
          </a:solidFill>
          <a:ln w="12700">
            <a:solidFill>
              <a:srgbClr val="0A5C5F"/>
            </a:solidFill>
            <a:prstDash val="solid"/>
          </a:ln>
        </p:spPr>
      </p:sp>
      <p:sp>
        <p:nvSpPr>
          <p:cNvPr id="14" name="Text 12"/>
          <p:cNvSpPr txBox="1"/>
          <p:nvPr/>
        </p:nvSpPr>
        <p:spPr>
          <a:xfrm>
            <a:off x="693801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Today</a:t>
            </a:r>
            <a:endParaRPr lang="en-US" sz="1400" dirty="0"/>
          </a:p>
        </p:txBody>
      </p:sp>
      <p:sp>
        <p:nvSpPr>
          <p:cNvPr id="15" name="Text 13"/>
          <p:cNvSpPr txBox="1"/>
          <p:nvPr/>
        </p:nvSpPr>
        <p:spPr>
          <a:xfrm>
            <a:off x="693801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Finish your maker mark and send your product to print.</a:t>
            </a:r>
            <a:endParaRPr lang="en-US" sz="13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Today's Learning</a:t>
            </a:r>
            <a:endParaRPr lang="en-US" sz="3000" dirty="0"/>
          </a:p>
        </p:txBody>
      </p:sp>
      <p:sp>
        <p:nvSpPr>
          <p:cNvPr id="3" name="walt"/>
          <p:cNvSpPr/>
          <p:nvPr/>
        </p:nvSpPr>
        <p:spPr>
          <a:xfrm>
            <a:off x="457200" y="1143000"/>
            <a:ext cx="3566160" cy="3246120"/>
          </a:xfrm>
          <a:prstGeom prst="roundRect">
            <a:avLst>
              <a:gd name="adj" fmla="val 3380"/>
            </a:avLst>
          </a:prstGeom>
          <a:solidFill>
            <a:srgbClr val="E6F2F2"/>
          </a:solidFill>
          <a:ln w="12700">
            <a:solidFill>
              <a:srgbClr val="E6F2F2"/>
            </a:solidFill>
            <a:prstDash val="solid"/>
          </a:ln>
        </p:spPr>
      </p:sp>
      <p:sp>
        <p:nvSpPr>
          <p:cNvPr id="4" name="Shape 2"/>
          <p:cNvSpPr/>
          <p:nvPr/>
        </p:nvSpPr>
        <p:spPr>
          <a:xfrm>
            <a:off x="685800" y="1371600"/>
            <a:ext cx="640080" cy="64008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39419" y="1525219"/>
            <a:ext cx="332842" cy="332842"/>
          </a:xfrm>
          <a:prstGeom prst="rect">
            <a:avLst/>
          </a:prstGeom>
        </p:spPr>
      </p:pic>
      <p:sp>
        <p:nvSpPr>
          <p:cNvPr id="6" name="Text 3"/>
          <p:cNvSpPr txBox="1"/>
          <p:nvPr/>
        </p:nvSpPr>
        <p:spPr>
          <a:xfrm>
            <a:off x="1463040" y="1417320"/>
            <a:ext cx="2468880" cy="5486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We are learning to (WALT)</a:t>
            </a:r>
            <a:endParaRPr lang="en-US" sz="1500" dirty="0"/>
          </a:p>
        </p:txBody>
      </p:sp>
      <p:sp>
        <p:nvSpPr>
          <p:cNvPr id="7" name="Text 4"/>
          <p:cNvSpPr txBox="1"/>
          <p:nvPr/>
        </p:nvSpPr>
        <p:spPr>
          <a:xfrm>
            <a:off x="685800" y="2194560"/>
            <a:ext cx="3154680" cy="201168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We are learning to use small machine tools safely to finish a product to a high quality, and to prepare a model for 3D printing.</a:t>
            </a:r>
            <a:endParaRPr lang="en-US" sz="1800" dirty="0"/>
          </a:p>
        </p:txBody>
      </p:sp>
      <p:sp>
        <p:nvSpPr>
          <p:cNvPr id="8" name="Text 5"/>
          <p:cNvSpPr txBox="1"/>
          <p:nvPr/>
        </p:nvSpPr>
        <p:spPr>
          <a:xfrm>
            <a:off x="4389120" y="1143000"/>
            <a:ext cx="4297680" cy="3657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What I am looking for (WILF)</a:t>
            </a:r>
            <a:endParaRPr lang="en-US" sz="1500" dirty="0"/>
          </a:p>
        </p:txBody>
      </p:sp>
      <p:sp>
        <p:nvSpPr>
          <p:cNvPr id="9" name="Text 6"/>
          <p:cNvSpPr txBox="1"/>
          <p:nvPr/>
        </p:nvSpPr>
        <p:spPr>
          <a:xfrm>
            <a:off x="4389120" y="1600200"/>
            <a:ext cx="4297680" cy="27889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name the Unimat Cool Tools machines and what each one does.</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sand and finish my maker mark safely using the sanding machine.</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follow the safety rules for machine tools every time.</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check and export my Junior Engineer model for printing.</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Warm-up: Rough or Smooth?</a:t>
            </a:r>
            <a:endParaRPr lang="en-US" sz="3000" dirty="0"/>
          </a:p>
        </p:txBody>
      </p:sp>
      <p:sp>
        <p:nvSpPr>
          <p:cNvPr id="3" name="Shape 1"/>
          <p:cNvSpPr/>
          <p:nvPr/>
        </p:nvSpPr>
        <p:spPr>
          <a:xfrm>
            <a:off x="457200" y="1188720"/>
            <a:ext cx="1188720" cy="1188720"/>
          </a:xfrm>
          <a:prstGeom prst="ellipse">
            <a:avLst/>
          </a:prstGeom>
          <a:solidFill>
            <a:srgbClr val="F2A31B"/>
          </a:solidFill>
          <a:ln w="12700">
            <a:solidFill>
              <a:srgbClr val="F2A31B"/>
            </a:solidFill>
            <a:prstDash val="solid"/>
          </a:ln>
        </p:spPr>
      </p:sp>
      <p:pic>
        <p:nvPicPr>
          <p:cNvPr id="4" name="Image 0" descr="preencoded.png">    </p:cNvPr>
          <p:cNvPicPr>
            <a:picLocks noChangeAspect="1"/>
          </p:cNvPicPr>
          <p:nvPr/>
        </p:nvPicPr>
        <p:blipFill>
          <a:blip r:embed="rId1"/>
          <a:stretch>
            <a:fillRect/>
          </a:stretch>
        </p:blipFill>
        <p:spPr>
          <a:xfrm>
            <a:off x="742493" y="1474013"/>
            <a:ext cx="618134" cy="618134"/>
          </a:xfrm>
          <a:prstGeom prst="rect">
            <a:avLst/>
          </a:prstGeom>
        </p:spPr>
      </p:pic>
      <p:sp>
        <p:nvSpPr>
          <p:cNvPr id="5" name="Text 2"/>
          <p:cNvSpPr txBox="1"/>
          <p:nvPr/>
        </p:nvSpPr>
        <p:spPr>
          <a:xfrm>
            <a:off x="320040" y="2468880"/>
            <a:ext cx="1463040" cy="320040"/>
          </a:xfrm>
          <a:prstGeom prst="rect">
            <a:avLst/>
          </a:prstGeom>
          <a:noFill/>
          <a:ln/>
        </p:spPr>
        <p:txBody>
          <a:bodyPr wrap="square" lIns="0" tIns="0" rIns="0" bIns="0" rtlCol="0" anchor="ctr"/>
          <a:lstStyle/>
          <a:p>
            <a:pPr algn="ctr" indent="0" marL="0">
              <a:buNone/>
            </a:pPr>
            <a:r>
              <a:rPr lang="en-US" sz="1300" b="1" dirty="0">
                <a:solidFill>
                  <a:schemeClr val="accent3"/>
                </a:solidFill>
                <a:latin typeface="Calibri" pitchFamily="34" charset="0"/>
                <a:ea typeface="Calibri" pitchFamily="34" charset="-122"/>
                <a:cs typeface="Calibri" pitchFamily="34" charset="-120"/>
              </a:rPr>
              <a:t>5 minutes</a:t>
            </a:r>
            <a:endParaRPr lang="en-US" sz="1300" dirty="0"/>
          </a:p>
        </p:txBody>
      </p:sp>
      <p:sp>
        <p:nvSpPr>
          <p:cNvPr id="6" name="Shape 3"/>
          <p:cNvSpPr/>
          <p:nvPr/>
        </p:nvSpPr>
        <p:spPr>
          <a:xfrm>
            <a:off x="2103120" y="1234440"/>
            <a:ext cx="457200" cy="457200"/>
          </a:xfrm>
          <a:prstGeom prst="ellipse">
            <a:avLst/>
          </a:prstGeom>
          <a:solidFill>
            <a:srgbClr val="0E7C80"/>
          </a:solidFill>
          <a:ln w="12700">
            <a:solidFill>
              <a:srgbClr val="0E7C80"/>
            </a:solidFill>
            <a:prstDash val="solid"/>
          </a:ln>
        </p:spPr>
      </p:sp>
      <p:sp>
        <p:nvSpPr>
          <p:cNvPr id="7" name="Text 4"/>
          <p:cNvSpPr txBox="1"/>
          <p:nvPr/>
        </p:nvSpPr>
        <p:spPr>
          <a:xfrm>
            <a:off x="2103120" y="1234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8" name="Text 5"/>
          <p:cNvSpPr txBox="1"/>
          <p:nvPr/>
        </p:nvSpPr>
        <p:spPr>
          <a:xfrm>
            <a:off x="2743200" y="118872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Pass around two pieces of wood: one rough and one sanded smooth.</a:t>
            </a:r>
            <a:endParaRPr lang="en-US" sz="1500" dirty="0"/>
          </a:p>
        </p:txBody>
      </p:sp>
      <p:sp>
        <p:nvSpPr>
          <p:cNvPr id="9" name="Shape 6"/>
          <p:cNvSpPr/>
          <p:nvPr/>
        </p:nvSpPr>
        <p:spPr>
          <a:xfrm>
            <a:off x="2103120" y="2286000"/>
            <a:ext cx="457200" cy="457200"/>
          </a:xfrm>
          <a:prstGeom prst="ellipse">
            <a:avLst/>
          </a:prstGeom>
          <a:solidFill>
            <a:srgbClr val="0E7C80"/>
          </a:solidFill>
          <a:ln w="12700">
            <a:solidFill>
              <a:srgbClr val="0E7C80"/>
            </a:solidFill>
            <a:prstDash val="solid"/>
          </a:ln>
        </p:spPr>
      </p:sp>
      <p:sp>
        <p:nvSpPr>
          <p:cNvPr id="10" name="Text 7"/>
          <p:cNvSpPr txBox="1"/>
          <p:nvPr/>
        </p:nvSpPr>
        <p:spPr>
          <a:xfrm>
            <a:off x="2103120" y="2286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1" name="Text 8"/>
          <p:cNvSpPr txBox="1"/>
          <p:nvPr/>
        </p:nvSpPr>
        <p:spPr>
          <a:xfrm>
            <a:off x="2743200" y="224028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Students describe how each feels and looks.</a:t>
            </a:r>
            <a:endParaRPr lang="en-US" sz="1500" dirty="0"/>
          </a:p>
        </p:txBody>
      </p:sp>
      <p:sp>
        <p:nvSpPr>
          <p:cNvPr id="12" name="Shape 9"/>
          <p:cNvSpPr/>
          <p:nvPr/>
        </p:nvSpPr>
        <p:spPr>
          <a:xfrm>
            <a:off x="2103120" y="3337560"/>
            <a:ext cx="457200" cy="457200"/>
          </a:xfrm>
          <a:prstGeom prst="ellipse">
            <a:avLst/>
          </a:prstGeom>
          <a:solidFill>
            <a:srgbClr val="0E7C80"/>
          </a:solidFill>
          <a:ln w="12700">
            <a:solidFill>
              <a:srgbClr val="0E7C80"/>
            </a:solidFill>
            <a:prstDash val="solid"/>
          </a:ln>
        </p:spPr>
      </p:sp>
      <p:sp>
        <p:nvSpPr>
          <p:cNvPr id="13" name="Text 10"/>
          <p:cNvSpPr txBox="1"/>
          <p:nvPr/>
        </p:nvSpPr>
        <p:spPr>
          <a:xfrm>
            <a:off x="2103120" y="3337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4" name="Text 11"/>
          <p:cNvSpPr txBox="1"/>
          <p:nvPr/>
        </p:nvSpPr>
        <p:spPr>
          <a:xfrm>
            <a:off x="2743200" y="329184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Ask: why do professional makers spend so much time on finishing?</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Key Words</a:t>
            </a:r>
            <a:endParaRPr lang="en-US" sz="3000" dirty="0"/>
          </a:p>
        </p:txBody>
      </p:sp>
      <p:sp>
        <p:nvSpPr>
          <p:cNvPr id="3" name="word0"/>
          <p:cNvSpPr/>
          <p:nvPr/>
        </p:nvSpPr>
        <p:spPr>
          <a:xfrm>
            <a:off x="457200" y="1280160"/>
            <a:ext cx="1499616" cy="731520"/>
          </a:xfrm>
          <a:prstGeom prst="roundRect">
            <a:avLst>
              <a:gd name="adj" fmla="val 15000"/>
            </a:avLst>
          </a:prstGeom>
          <a:solidFill>
            <a:srgbClr val="FCEFF3"/>
          </a:solidFill>
          <a:ln w="12700">
            <a:solidFill>
              <a:srgbClr val="FCEFF3"/>
            </a:solidFill>
            <a:prstDash val="solid"/>
          </a:ln>
        </p:spPr>
      </p:sp>
      <p:sp>
        <p:nvSpPr>
          <p:cNvPr id="4" name="Text 2"/>
          <p:cNvSpPr txBox="1"/>
          <p:nvPr/>
        </p:nvSpPr>
        <p:spPr>
          <a:xfrm>
            <a:off x="548640" y="1280160"/>
            <a:ext cx="1316736"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Unimat</a:t>
            </a:r>
            <a:endParaRPr lang="en-US" sz="1700" dirty="0"/>
          </a:p>
        </p:txBody>
      </p:sp>
      <p:sp>
        <p:nvSpPr>
          <p:cNvPr id="5" name="word1"/>
          <p:cNvSpPr/>
          <p:nvPr/>
        </p:nvSpPr>
        <p:spPr>
          <a:xfrm>
            <a:off x="2139696" y="1280160"/>
            <a:ext cx="1499616" cy="731520"/>
          </a:xfrm>
          <a:prstGeom prst="roundRect">
            <a:avLst>
              <a:gd name="adj" fmla="val 15000"/>
            </a:avLst>
          </a:prstGeom>
          <a:solidFill>
            <a:srgbClr val="E6F2F2"/>
          </a:solidFill>
          <a:ln w="12700">
            <a:solidFill>
              <a:srgbClr val="E6F2F2"/>
            </a:solidFill>
            <a:prstDash val="solid"/>
          </a:ln>
        </p:spPr>
      </p:sp>
      <p:sp>
        <p:nvSpPr>
          <p:cNvPr id="6" name="Text 4"/>
          <p:cNvSpPr txBox="1"/>
          <p:nvPr/>
        </p:nvSpPr>
        <p:spPr>
          <a:xfrm>
            <a:off x="2231136" y="1280160"/>
            <a:ext cx="1316736"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sanding machine</a:t>
            </a:r>
            <a:endParaRPr lang="en-US" sz="1700" dirty="0"/>
          </a:p>
        </p:txBody>
      </p:sp>
      <p:sp>
        <p:nvSpPr>
          <p:cNvPr id="7" name="word2"/>
          <p:cNvSpPr/>
          <p:nvPr/>
        </p:nvSpPr>
        <p:spPr>
          <a:xfrm>
            <a:off x="3822192" y="1280160"/>
            <a:ext cx="1499616" cy="731520"/>
          </a:xfrm>
          <a:prstGeom prst="roundRect">
            <a:avLst>
              <a:gd name="adj" fmla="val 15000"/>
            </a:avLst>
          </a:prstGeom>
          <a:solidFill>
            <a:srgbClr val="FCEFF3"/>
          </a:solidFill>
          <a:ln w="12700">
            <a:solidFill>
              <a:srgbClr val="FCEFF3"/>
            </a:solidFill>
            <a:prstDash val="solid"/>
          </a:ln>
        </p:spPr>
      </p:sp>
      <p:sp>
        <p:nvSpPr>
          <p:cNvPr id="8" name="Text 6"/>
          <p:cNvSpPr txBox="1"/>
          <p:nvPr/>
        </p:nvSpPr>
        <p:spPr>
          <a:xfrm>
            <a:off x="3913632" y="1280160"/>
            <a:ext cx="1316736"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jigsaw</a:t>
            </a:r>
            <a:endParaRPr lang="en-US" sz="1700" dirty="0"/>
          </a:p>
        </p:txBody>
      </p:sp>
      <p:sp>
        <p:nvSpPr>
          <p:cNvPr id="9" name="word3"/>
          <p:cNvSpPr/>
          <p:nvPr/>
        </p:nvSpPr>
        <p:spPr>
          <a:xfrm>
            <a:off x="5504688" y="1280160"/>
            <a:ext cx="1499616" cy="731520"/>
          </a:xfrm>
          <a:prstGeom prst="roundRect">
            <a:avLst>
              <a:gd name="adj" fmla="val 15000"/>
            </a:avLst>
          </a:prstGeom>
          <a:solidFill>
            <a:srgbClr val="E6F2F2"/>
          </a:solidFill>
          <a:ln w="12700">
            <a:solidFill>
              <a:srgbClr val="E6F2F2"/>
            </a:solidFill>
            <a:prstDash val="solid"/>
          </a:ln>
        </p:spPr>
      </p:sp>
      <p:sp>
        <p:nvSpPr>
          <p:cNvPr id="10" name="Text 8"/>
          <p:cNvSpPr txBox="1"/>
          <p:nvPr/>
        </p:nvSpPr>
        <p:spPr>
          <a:xfrm>
            <a:off x="5596128" y="1280160"/>
            <a:ext cx="1316736"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lathe</a:t>
            </a:r>
            <a:endParaRPr lang="en-US" sz="1700" dirty="0"/>
          </a:p>
        </p:txBody>
      </p:sp>
      <p:sp>
        <p:nvSpPr>
          <p:cNvPr id="11" name="word4"/>
          <p:cNvSpPr/>
          <p:nvPr/>
        </p:nvSpPr>
        <p:spPr>
          <a:xfrm>
            <a:off x="7187184" y="1280160"/>
            <a:ext cx="1499616" cy="731520"/>
          </a:xfrm>
          <a:prstGeom prst="roundRect">
            <a:avLst>
              <a:gd name="adj" fmla="val 15000"/>
            </a:avLst>
          </a:prstGeom>
          <a:solidFill>
            <a:srgbClr val="FCEFF3"/>
          </a:solidFill>
          <a:ln w="12700">
            <a:solidFill>
              <a:srgbClr val="FCEFF3"/>
            </a:solidFill>
            <a:prstDash val="solid"/>
          </a:ln>
        </p:spPr>
      </p:sp>
      <p:sp>
        <p:nvSpPr>
          <p:cNvPr id="12" name="Text 10"/>
          <p:cNvSpPr txBox="1"/>
          <p:nvPr/>
        </p:nvSpPr>
        <p:spPr>
          <a:xfrm>
            <a:off x="7278624" y="1280160"/>
            <a:ext cx="1316736"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drill</a:t>
            </a:r>
            <a:endParaRPr lang="en-US" sz="1700" dirty="0"/>
          </a:p>
        </p:txBody>
      </p:sp>
      <p:sp>
        <p:nvSpPr>
          <p:cNvPr id="13" name="word5"/>
          <p:cNvSpPr/>
          <p:nvPr/>
        </p:nvSpPr>
        <p:spPr>
          <a:xfrm>
            <a:off x="457200" y="2240280"/>
            <a:ext cx="1499616" cy="731520"/>
          </a:xfrm>
          <a:prstGeom prst="roundRect">
            <a:avLst>
              <a:gd name="adj" fmla="val 15000"/>
            </a:avLst>
          </a:prstGeom>
          <a:solidFill>
            <a:srgbClr val="E6F2F2"/>
          </a:solidFill>
          <a:ln w="12700">
            <a:solidFill>
              <a:srgbClr val="E6F2F2"/>
            </a:solidFill>
            <a:prstDash val="solid"/>
          </a:ln>
        </p:spPr>
      </p:sp>
      <p:sp>
        <p:nvSpPr>
          <p:cNvPr id="14" name="Text 12"/>
          <p:cNvSpPr txBox="1"/>
          <p:nvPr/>
        </p:nvSpPr>
        <p:spPr>
          <a:xfrm>
            <a:off x="548640" y="2240280"/>
            <a:ext cx="1316736"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finish</a:t>
            </a:r>
            <a:endParaRPr lang="en-US" sz="1700" dirty="0"/>
          </a:p>
        </p:txBody>
      </p:sp>
      <p:sp>
        <p:nvSpPr>
          <p:cNvPr id="15" name="word6"/>
          <p:cNvSpPr/>
          <p:nvPr/>
        </p:nvSpPr>
        <p:spPr>
          <a:xfrm>
            <a:off x="2139696" y="2240280"/>
            <a:ext cx="1499616" cy="731520"/>
          </a:xfrm>
          <a:prstGeom prst="roundRect">
            <a:avLst>
              <a:gd name="adj" fmla="val 15000"/>
            </a:avLst>
          </a:prstGeom>
          <a:solidFill>
            <a:srgbClr val="FCEFF3"/>
          </a:solidFill>
          <a:ln w="12700">
            <a:solidFill>
              <a:srgbClr val="FCEFF3"/>
            </a:solidFill>
            <a:prstDash val="solid"/>
          </a:ln>
        </p:spPr>
      </p:sp>
      <p:sp>
        <p:nvSpPr>
          <p:cNvPr id="16" name="Text 14"/>
          <p:cNvSpPr txBox="1"/>
          <p:nvPr/>
        </p:nvSpPr>
        <p:spPr>
          <a:xfrm>
            <a:off x="2231136" y="2240280"/>
            <a:ext cx="1316736"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grit</a:t>
            </a:r>
            <a:endParaRPr lang="en-US" sz="1700" dirty="0"/>
          </a:p>
        </p:txBody>
      </p:sp>
      <p:sp>
        <p:nvSpPr>
          <p:cNvPr id="17" name="word7"/>
          <p:cNvSpPr/>
          <p:nvPr/>
        </p:nvSpPr>
        <p:spPr>
          <a:xfrm>
            <a:off x="3822192" y="2240280"/>
            <a:ext cx="1499616" cy="731520"/>
          </a:xfrm>
          <a:prstGeom prst="roundRect">
            <a:avLst>
              <a:gd name="adj" fmla="val 15000"/>
            </a:avLst>
          </a:prstGeom>
          <a:solidFill>
            <a:srgbClr val="E6F2F2"/>
          </a:solidFill>
          <a:ln w="12700">
            <a:solidFill>
              <a:srgbClr val="E6F2F2"/>
            </a:solidFill>
            <a:prstDash val="solid"/>
          </a:ln>
        </p:spPr>
      </p:sp>
      <p:sp>
        <p:nvSpPr>
          <p:cNvPr id="18" name="Text 16"/>
          <p:cNvSpPr txBox="1"/>
          <p:nvPr/>
        </p:nvSpPr>
        <p:spPr>
          <a:xfrm>
            <a:off x="3913632" y="2240280"/>
            <a:ext cx="1316736"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STL</a:t>
            </a:r>
            <a:endParaRPr lang="en-US" sz="1700" dirty="0"/>
          </a:p>
        </p:txBody>
      </p:sp>
      <p:sp>
        <p:nvSpPr>
          <p:cNvPr id="19" name="word8"/>
          <p:cNvSpPr/>
          <p:nvPr/>
        </p:nvSpPr>
        <p:spPr>
          <a:xfrm>
            <a:off x="5504688" y="2240280"/>
            <a:ext cx="1499616" cy="731520"/>
          </a:xfrm>
          <a:prstGeom prst="roundRect">
            <a:avLst>
              <a:gd name="adj" fmla="val 15000"/>
            </a:avLst>
          </a:prstGeom>
          <a:solidFill>
            <a:srgbClr val="FCEFF3"/>
          </a:solidFill>
          <a:ln w="12700">
            <a:solidFill>
              <a:srgbClr val="FCEFF3"/>
            </a:solidFill>
            <a:prstDash val="solid"/>
          </a:ln>
        </p:spPr>
      </p:sp>
      <p:sp>
        <p:nvSpPr>
          <p:cNvPr id="20" name="Text 18"/>
          <p:cNvSpPr txBox="1"/>
          <p:nvPr/>
        </p:nvSpPr>
        <p:spPr>
          <a:xfrm>
            <a:off x="5596128" y="2240280"/>
            <a:ext cx="1316736"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quality</a:t>
            </a:r>
            <a:endParaRPr lang="en-US" sz="1700" dirty="0"/>
          </a:p>
        </p:txBody>
      </p:sp>
      <p:sp>
        <p:nvSpPr>
          <p:cNvPr id="21" name="Text 19"/>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300" i="1" dirty="0">
                <a:solidFill>
                  <a:schemeClr val="accent6"/>
                </a:solidFill>
                <a:latin typeface="Calibri" pitchFamily="34" charset="0"/>
                <a:ea typeface="Calibri" pitchFamily="34" charset="-122"/>
                <a:cs typeface="Calibri" pitchFamily="34" charset="-120"/>
              </a:rPr>
              <a:t>Say each word with your partner. Which words do you already know?</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Meet the Unimat Cool Tools</a:t>
            </a:r>
            <a:endParaRPr lang="en-US" sz="3000" dirty="0"/>
          </a:p>
        </p:txBody>
      </p:sp>
      <p:sp>
        <p:nvSpPr>
          <p:cNvPr id="3" name="pt0"/>
          <p:cNvSpPr/>
          <p:nvPr/>
        </p:nvSpPr>
        <p:spPr>
          <a:xfrm>
            <a:off x="457200" y="1188720"/>
            <a:ext cx="4023360" cy="1508760"/>
          </a:xfrm>
          <a:prstGeom prst="roundRect">
            <a:avLst>
              <a:gd name="adj" fmla="val 7273"/>
            </a:avLst>
          </a:prstGeom>
          <a:solidFill>
            <a:srgbClr val="E6F2F2"/>
          </a:solidFill>
          <a:ln w="12700">
            <a:solidFill>
              <a:srgbClr val="E6F2F2"/>
            </a:solidFill>
            <a:prstDash val="solid"/>
          </a:ln>
        </p:spPr>
      </p:sp>
      <p:sp>
        <p:nvSpPr>
          <p:cNvPr id="4" name="Shape 2"/>
          <p:cNvSpPr/>
          <p:nvPr/>
        </p:nvSpPr>
        <p:spPr>
          <a:xfrm>
            <a:off x="640080" y="1600200"/>
            <a:ext cx="685800" cy="68580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04672" y="1764792"/>
            <a:ext cx="356616" cy="356616"/>
          </a:xfrm>
          <a:prstGeom prst="rect">
            <a:avLst/>
          </a:prstGeom>
        </p:spPr>
      </p:pic>
      <p:sp>
        <p:nvSpPr>
          <p:cNvPr id="6" name="Text 3"/>
          <p:cNvSpPr txBox="1"/>
          <p:nvPr/>
        </p:nvSpPr>
        <p:spPr>
          <a:xfrm>
            <a:off x="150876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Sanding machine: smooths edges and removes burn marks.</a:t>
            </a:r>
            <a:endParaRPr lang="en-US" sz="1500" dirty="0"/>
          </a:p>
        </p:txBody>
      </p:sp>
      <p:sp>
        <p:nvSpPr>
          <p:cNvPr id="7" name="pt1"/>
          <p:cNvSpPr/>
          <p:nvPr/>
        </p:nvSpPr>
        <p:spPr>
          <a:xfrm>
            <a:off x="4663440" y="1188720"/>
            <a:ext cx="4023360" cy="1508760"/>
          </a:xfrm>
          <a:prstGeom prst="roundRect">
            <a:avLst>
              <a:gd name="adj" fmla="val 7273"/>
            </a:avLst>
          </a:prstGeom>
          <a:solidFill>
            <a:srgbClr val="F3F5F6"/>
          </a:solidFill>
          <a:ln w="12700">
            <a:solidFill>
              <a:srgbClr val="F3F5F6"/>
            </a:solidFill>
            <a:prstDash val="solid"/>
          </a:ln>
        </p:spPr>
      </p:sp>
      <p:sp>
        <p:nvSpPr>
          <p:cNvPr id="8" name="Shape 5"/>
          <p:cNvSpPr/>
          <p:nvPr/>
        </p:nvSpPr>
        <p:spPr>
          <a:xfrm>
            <a:off x="4846320" y="1600200"/>
            <a:ext cx="685800" cy="685800"/>
          </a:xfrm>
          <a:prstGeom prst="ellipse">
            <a:avLst/>
          </a:prstGeom>
          <a:solidFill>
            <a:srgbClr val="0E7C80"/>
          </a:solidFill>
          <a:ln w="12700">
            <a:solidFill>
              <a:srgbClr val="0E7C80"/>
            </a:solidFill>
            <a:prstDash val="solid"/>
          </a:ln>
        </p:spPr>
      </p:sp>
      <p:pic>
        <p:nvPicPr>
          <p:cNvPr id="9" name="Image 1" descr="preencoded.png">    </p:cNvPr>
          <p:cNvPicPr>
            <a:picLocks noChangeAspect="1"/>
          </p:cNvPicPr>
          <p:nvPr/>
        </p:nvPicPr>
        <p:blipFill>
          <a:blip r:embed="rId2"/>
          <a:stretch>
            <a:fillRect/>
          </a:stretch>
        </p:blipFill>
        <p:spPr>
          <a:xfrm>
            <a:off x="5010912" y="1764792"/>
            <a:ext cx="356616" cy="356616"/>
          </a:xfrm>
          <a:prstGeom prst="rect">
            <a:avLst/>
          </a:prstGeom>
        </p:spPr>
      </p:pic>
      <p:sp>
        <p:nvSpPr>
          <p:cNvPr id="10" name="Text 6"/>
          <p:cNvSpPr txBox="1"/>
          <p:nvPr/>
        </p:nvSpPr>
        <p:spPr>
          <a:xfrm>
            <a:off x="571500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Hand drill: makes clean holes from 1 to 6 mm.</a:t>
            </a:r>
            <a:endParaRPr lang="en-US" sz="1500" dirty="0"/>
          </a:p>
        </p:txBody>
      </p:sp>
      <p:sp>
        <p:nvSpPr>
          <p:cNvPr id="11" name="pt2"/>
          <p:cNvSpPr/>
          <p:nvPr/>
        </p:nvSpPr>
        <p:spPr>
          <a:xfrm>
            <a:off x="457200" y="2880360"/>
            <a:ext cx="4023360" cy="1508760"/>
          </a:xfrm>
          <a:prstGeom prst="roundRect">
            <a:avLst>
              <a:gd name="adj" fmla="val 7273"/>
            </a:avLst>
          </a:prstGeom>
          <a:solidFill>
            <a:srgbClr val="F3F5F6"/>
          </a:solidFill>
          <a:ln w="12700">
            <a:solidFill>
              <a:srgbClr val="F3F5F6"/>
            </a:solidFill>
            <a:prstDash val="solid"/>
          </a:ln>
        </p:spPr>
      </p:sp>
      <p:sp>
        <p:nvSpPr>
          <p:cNvPr id="12" name="Shape 8"/>
          <p:cNvSpPr/>
          <p:nvPr/>
        </p:nvSpPr>
        <p:spPr>
          <a:xfrm>
            <a:off x="640080" y="3291840"/>
            <a:ext cx="685800" cy="685800"/>
          </a:xfrm>
          <a:prstGeom prst="ellipse">
            <a:avLst/>
          </a:prstGeom>
          <a:solidFill>
            <a:srgbClr val="0E7C80"/>
          </a:solidFill>
          <a:ln w="12700">
            <a:solidFill>
              <a:srgbClr val="0E7C80"/>
            </a:solidFill>
            <a:prstDash val="solid"/>
          </a:ln>
        </p:spPr>
      </p:sp>
      <p:pic>
        <p:nvPicPr>
          <p:cNvPr id="13" name="Image 2" descr="preencoded.png">    </p:cNvPr>
          <p:cNvPicPr>
            <a:picLocks noChangeAspect="1"/>
          </p:cNvPicPr>
          <p:nvPr/>
        </p:nvPicPr>
        <p:blipFill>
          <a:blip r:embed="rId3"/>
          <a:stretch>
            <a:fillRect/>
          </a:stretch>
        </p:blipFill>
        <p:spPr>
          <a:xfrm>
            <a:off x="804672" y="3456432"/>
            <a:ext cx="356616" cy="356616"/>
          </a:xfrm>
          <a:prstGeom prst="rect">
            <a:avLst/>
          </a:prstGeom>
        </p:spPr>
      </p:pic>
      <p:sp>
        <p:nvSpPr>
          <p:cNvPr id="14" name="Text 9"/>
          <p:cNvSpPr txBox="1"/>
          <p:nvPr/>
        </p:nvSpPr>
        <p:spPr>
          <a:xfrm>
            <a:off x="150876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Jigsaw: cuts curves in thin wood and plastic.</a:t>
            </a:r>
            <a:endParaRPr lang="en-US" sz="1500" dirty="0"/>
          </a:p>
        </p:txBody>
      </p:sp>
      <p:sp>
        <p:nvSpPr>
          <p:cNvPr id="15" name="pt3"/>
          <p:cNvSpPr/>
          <p:nvPr/>
        </p:nvSpPr>
        <p:spPr>
          <a:xfrm>
            <a:off x="4663440" y="2880360"/>
            <a:ext cx="4023360" cy="1508760"/>
          </a:xfrm>
          <a:prstGeom prst="roundRect">
            <a:avLst>
              <a:gd name="adj" fmla="val 7273"/>
            </a:avLst>
          </a:prstGeom>
          <a:solidFill>
            <a:srgbClr val="E6F2F2"/>
          </a:solidFill>
          <a:ln w="12700">
            <a:solidFill>
              <a:srgbClr val="E6F2F2"/>
            </a:solidFill>
            <a:prstDash val="solid"/>
          </a:ln>
        </p:spPr>
      </p:sp>
      <p:sp>
        <p:nvSpPr>
          <p:cNvPr id="16" name="Shape 11"/>
          <p:cNvSpPr/>
          <p:nvPr/>
        </p:nvSpPr>
        <p:spPr>
          <a:xfrm>
            <a:off x="4846320" y="3291840"/>
            <a:ext cx="685800" cy="685800"/>
          </a:xfrm>
          <a:prstGeom prst="ellipse">
            <a:avLst/>
          </a:prstGeom>
          <a:solidFill>
            <a:srgbClr val="0E7C80"/>
          </a:solidFill>
          <a:ln w="12700">
            <a:solidFill>
              <a:srgbClr val="0E7C80"/>
            </a:solidFill>
            <a:prstDash val="solid"/>
          </a:ln>
        </p:spPr>
      </p:sp>
      <p:pic>
        <p:nvPicPr>
          <p:cNvPr id="17" name="Image 3" descr="preencoded.png">    </p:cNvPr>
          <p:cNvPicPr>
            <a:picLocks noChangeAspect="1"/>
          </p:cNvPicPr>
          <p:nvPr/>
        </p:nvPicPr>
        <p:blipFill>
          <a:blip r:embed="rId4"/>
          <a:stretch>
            <a:fillRect/>
          </a:stretch>
        </p:blipFill>
        <p:spPr>
          <a:xfrm>
            <a:off x="5010912" y="3456432"/>
            <a:ext cx="356616" cy="356616"/>
          </a:xfrm>
          <a:prstGeom prst="rect">
            <a:avLst/>
          </a:prstGeom>
        </p:spPr>
      </p:pic>
      <p:sp>
        <p:nvSpPr>
          <p:cNvPr id="18" name="Text 12"/>
          <p:cNvSpPr txBox="1"/>
          <p:nvPr/>
        </p:nvSpPr>
        <p:spPr>
          <a:xfrm>
            <a:off x="571500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Lathe: turns round shapes (not used today).</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Machine tool safety</a:t>
            </a:r>
            <a:endParaRPr lang="en-US" sz="3000" dirty="0"/>
          </a:p>
        </p:txBody>
      </p:sp>
      <p:sp>
        <p:nvSpPr>
          <p:cNvPr id="3" name="Shape 1"/>
          <p:cNvSpPr/>
          <p:nvPr/>
        </p:nvSpPr>
        <p:spPr>
          <a:xfrm>
            <a:off x="457200" y="1234440"/>
            <a:ext cx="502920" cy="502920"/>
          </a:xfrm>
          <a:prstGeom prst="ellipse">
            <a:avLst/>
          </a:prstGeom>
          <a:solidFill>
            <a:srgbClr val="0E7C80"/>
          </a:solidFill>
          <a:ln w="12700">
            <a:solidFill>
              <a:srgbClr val="0E7C80"/>
            </a:solidFill>
            <a:prstDash val="solid"/>
          </a:ln>
        </p:spPr>
      </p:sp>
      <p:pic>
        <p:nvPicPr>
          <p:cNvPr id="4" name="Image 0" descr="preencoded.png">    </p:cNvPr>
          <p:cNvPicPr>
            <a:picLocks noChangeAspect="1"/>
          </p:cNvPicPr>
          <p:nvPr/>
        </p:nvPicPr>
        <p:blipFill>
          <a:blip r:embed="rId1"/>
          <a:stretch>
            <a:fillRect/>
          </a:stretch>
        </p:blipFill>
        <p:spPr>
          <a:xfrm>
            <a:off x="577901" y="1355141"/>
            <a:ext cx="261518" cy="261518"/>
          </a:xfrm>
          <a:prstGeom prst="rect">
            <a:avLst/>
          </a:prstGeom>
        </p:spPr>
      </p:pic>
      <p:sp>
        <p:nvSpPr>
          <p:cNvPr id="5" name="Text 2"/>
          <p:cNvSpPr txBox="1"/>
          <p:nvPr/>
        </p:nvSpPr>
        <p:spPr>
          <a:xfrm>
            <a:off x="1143000" y="118872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Goggles on before the machine is switched on.</a:t>
            </a:r>
            <a:endParaRPr lang="en-US" sz="1600" dirty="0"/>
          </a:p>
        </p:txBody>
      </p:sp>
      <p:sp>
        <p:nvSpPr>
          <p:cNvPr id="6" name="Shape 3"/>
          <p:cNvSpPr/>
          <p:nvPr/>
        </p:nvSpPr>
        <p:spPr>
          <a:xfrm>
            <a:off x="457200" y="2057400"/>
            <a:ext cx="502920" cy="502920"/>
          </a:xfrm>
          <a:prstGeom prst="ellipse">
            <a:avLst/>
          </a:prstGeom>
          <a:solidFill>
            <a:srgbClr val="9E1B4B"/>
          </a:solidFill>
          <a:ln w="12700">
            <a:solidFill>
              <a:srgbClr val="9E1B4B"/>
            </a:solidFill>
            <a:prstDash val="solid"/>
          </a:ln>
        </p:spPr>
      </p:sp>
      <p:pic>
        <p:nvPicPr>
          <p:cNvPr id="7" name="Image 1" descr="preencoded.png">    </p:cNvPr>
          <p:cNvPicPr>
            <a:picLocks noChangeAspect="1"/>
          </p:cNvPicPr>
          <p:nvPr/>
        </p:nvPicPr>
        <p:blipFill>
          <a:blip r:embed="rId2"/>
          <a:stretch>
            <a:fillRect/>
          </a:stretch>
        </p:blipFill>
        <p:spPr>
          <a:xfrm>
            <a:off x="577901" y="2178101"/>
            <a:ext cx="261518" cy="261518"/>
          </a:xfrm>
          <a:prstGeom prst="rect">
            <a:avLst/>
          </a:prstGeom>
        </p:spPr>
      </p:pic>
      <p:sp>
        <p:nvSpPr>
          <p:cNvPr id="8" name="Text 4"/>
          <p:cNvSpPr txBox="1"/>
          <p:nvPr/>
        </p:nvSpPr>
        <p:spPr>
          <a:xfrm>
            <a:off x="1143000" y="201168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Sleeves rolled up, hair tied back, no loose items.</a:t>
            </a:r>
            <a:endParaRPr lang="en-US" sz="1600" dirty="0"/>
          </a:p>
        </p:txBody>
      </p:sp>
      <p:sp>
        <p:nvSpPr>
          <p:cNvPr id="9" name="Shape 5"/>
          <p:cNvSpPr/>
          <p:nvPr/>
        </p:nvSpPr>
        <p:spPr>
          <a:xfrm>
            <a:off x="457200" y="2880360"/>
            <a:ext cx="502920" cy="502920"/>
          </a:xfrm>
          <a:prstGeom prst="ellipse">
            <a:avLst/>
          </a:prstGeom>
          <a:solidFill>
            <a:srgbClr val="0E7C80"/>
          </a:solidFill>
          <a:ln w="12700">
            <a:solidFill>
              <a:srgbClr val="0E7C80"/>
            </a:solidFill>
            <a:prstDash val="solid"/>
          </a:ln>
        </p:spPr>
      </p:sp>
      <p:pic>
        <p:nvPicPr>
          <p:cNvPr id="10" name="Image 2" descr="preencoded.png">    </p:cNvPr>
          <p:cNvPicPr>
            <a:picLocks noChangeAspect="1"/>
          </p:cNvPicPr>
          <p:nvPr/>
        </p:nvPicPr>
        <p:blipFill>
          <a:blip r:embed="rId3"/>
          <a:stretch>
            <a:fillRect/>
          </a:stretch>
        </p:blipFill>
        <p:spPr>
          <a:xfrm>
            <a:off x="577901" y="3001061"/>
            <a:ext cx="261518" cy="261518"/>
          </a:xfrm>
          <a:prstGeom prst="rect">
            <a:avLst/>
          </a:prstGeom>
        </p:spPr>
      </p:pic>
      <p:sp>
        <p:nvSpPr>
          <p:cNvPr id="11" name="Text 6"/>
          <p:cNvSpPr txBox="1"/>
          <p:nvPr/>
        </p:nvSpPr>
        <p:spPr>
          <a:xfrm>
            <a:off x="1143000" y="283464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One person per machine, with the teacher's permission.</a:t>
            </a:r>
            <a:endParaRPr lang="en-US" sz="1600" dirty="0"/>
          </a:p>
        </p:txBody>
      </p:sp>
      <p:sp>
        <p:nvSpPr>
          <p:cNvPr id="12" name="Shape 7"/>
          <p:cNvSpPr/>
          <p:nvPr/>
        </p:nvSpPr>
        <p:spPr>
          <a:xfrm>
            <a:off x="457200" y="3703320"/>
            <a:ext cx="502920" cy="502920"/>
          </a:xfrm>
          <a:prstGeom prst="ellipse">
            <a:avLst/>
          </a:prstGeom>
          <a:solidFill>
            <a:srgbClr val="9E1B4B"/>
          </a:solidFill>
          <a:ln w="12700">
            <a:solidFill>
              <a:srgbClr val="9E1B4B"/>
            </a:solidFill>
            <a:prstDash val="solid"/>
          </a:ln>
        </p:spPr>
      </p:sp>
      <p:pic>
        <p:nvPicPr>
          <p:cNvPr id="13" name="Image 3" descr="preencoded.png">    </p:cNvPr>
          <p:cNvPicPr>
            <a:picLocks noChangeAspect="1"/>
          </p:cNvPicPr>
          <p:nvPr/>
        </p:nvPicPr>
        <p:blipFill>
          <a:blip r:embed="rId4"/>
          <a:stretch>
            <a:fillRect/>
          </a:stretch>
        </p:blipFill>
        <p:spPr>
          <a:xfrm>
            <a:off x="577901" y="3824021"/>
            <a:ext cx="261518" cy="261518"/>
          </a:xfrm>
          <a:prstGeom prst="rect">
            <a:avLst/>
          </a:prstGeom>
        </p:spPr>
      </p:pic>
      <p:sp>
        <p:nvSpPr>
          <p:cNvPr id="14" name="Text 8"/>
          <p:cNvSpPr txBox="1"/>
          <p:nvPr/>
        </p:nvSpPr>
        <p:spPr>
          <a:xfrm>
            <a:off x="1143000" y="365760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Switch off and wait for it to stop before you touch or move anything.</a:t>
            </a:r>
            <a:endParaRPr lang="en-US" sz="1600" dirty="0"/>
          </a:p>
        </p:txBody>
      </p:sp>
      <p:sp>
        <p:nvSpPr>
          <p:cNvPr id="15" name="panel"/>
          <p:cNvSpPr/>
          <p:nvPr/>
        </p:nvSpPr>
        <p:spPr>
          <a:xfrm>
            <a:off x="6263640" y="1188720"/>
            <a:ext cx="2423160" cy="3246120"/>
          </a:xfrm>
          <a:prstGeom prst="roundRect">
            <a:avLst>
              <a:gd name="adj" fmla="val 4528"/>
            </a:avLst>
          </a:prstGeom>
          <a:solidFill>
            <a:srgbClr val="0E7C80"/>
          </a:solidFill>
          <a:ln w="12700">
            <a:solidFill>
              <a:srgbClr val="0E7C80"/>
            </a:solidFill>
            <a:prstDash val="solid"/>
          </a:ln>
        </p:spPr>
      </p:sp>
      <p:sp>
        <p:nvSpPr>
          <p:cNvPr id="16" name="Shape 10"/>
          <p:cNvSpPr/>
          <p:nvPr/>
        </p:nvSpPr>
        <p:spPr>
          <a:xfrm>
            <a:off x="6903720" y="1463040"/>
            <a:ext cx="1143000" cy="1143000"/>
          </a:xfrm>
          <a:prstGeom prst="ellipse">
            <a:avLst/>
          </a:prstGeom>
          <a:solidFill>
            <a:srgbClr val="FFFFFF"/>
          </a:solidFill>
          <a:ln w="12700">
            <a:solidFill>
              <a:srgbClr val="FFFFFF"/>
            </a:solidFill>
            <a:prstDash val="solid"/>
          </a:ln>
        </p:spPr>
      </p:sp>
      <p:pic>
        <p:nvPicPr>
          <p:cNvPr id="17" name="Image 4" descr="preencoded.png">    </p:cNvPr>
          <p:cNvPicPr>
            <a:picLocks noChangeAspect="1"/>
          </p:cNvPicPr>
          <p:nvPr/>
        </p:nvPicPr>
        <p:blipFill>
          <a:blip r:embed="rId5"/>
          <a:stretch>
            <a:fillRect/>
          </a:stretch>
        </p:blipFill>
        <p:spPr>
          <a:xfrm>
            <a:off x="7178040" y="1737360"/>
            <a:ext cx="594360" cy="594360"/>
          </a:xfrm>
          <a:prstGeom prst="rect">
            <a:avLst/>
          </a:prstGeom>
        </p:spPr>
      </p:pic>
      <p:sp>
        <p:nvSpPr>
          <p:cNvPr id="18" name="Text 11"/>
          <p:cNvSpPr txBox="1"/>
          <p:nvPr/>
        </p:nvSpPr>
        <p:spPr>
          <a:xfrm>
            <a:off x="6400800" y="2788920"/>
            <a:ext cx="2148840" cy="320040"/>
          </a:xfrm>
          <a:prstGeom prst="rect">
            <a:avLst/>
          </a:prstGeom>
          <a:noFill/>
          <a:ln/>
        </p:spPr>
        <p:txBody>
          <a:bodyPr wrap="square" lIns="0" tIns="0" rIns="0" bIns="0" rtlCol="0" anchor="ctr"/>
          <a:lstStyle/>
          <a:p>
            <a:pPr algn="ctr" indent="0" marL="0">
              <a:buNone/>
            </a:pPr>
            <a:r>
              <a:rPr lang="en-US" sz="1400" b="1" dirty="0">
                <a:solidFill>
                  <a:srgbClr val="F2A31B"/>
                </a:solidFill>
                <a:latin typeface="Calibri" pitchFamily="34" charset="0"/>
                <a:ea typeface="Calibri" pitchFamily="34" charset="-122"/>
                <a:cs typeface="Calibri" pitchFamily="34" charset="-120"/>
              </a:rPr>
              <a:t>Think</a:t>
            </a:r>
            <a:endParaRPr lang="en-US" sz="1400" dirty="0"/>
          </a:p>
        </p:txBody>
      </p:sp>
      <p:sp>
        <p:nvSpPr>
          <p:cNvPr id="19" name="Text 12"/>
          <p:cNvSpPr txBox="1"/>
          <p:nvPr/>
        </p:nvSpPr>
        <p:spPr>
          <a:xfrm>
            <a:off x="6446520" y="3154680"/>
            <a:ext cx="2057400" cy="11430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Explain one of these points to your partner in your own words.</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Finishing your maker mark</a:t>
            </a:r>
            <a:endParaRPr lang="en-US" sz="3000" dirty="0"/>
          </a:p>
        </p:txBody>
      </p:sp>
      <p:sp>
        <p:nvSpPr>
          <p:cNvPr id="3" name="pt0"/>
          <p:cNvSpPr/>
          <p:nvPr/>
        </p:nvSpPr>
        <p:spPr>
          <a:xfrm>
            <a:off x="457200" y="1188720"/>
            <a:ext cx="4023360" cy="1508760"/>
          </a:xfrm>
          <a:prstGeom prst="roundRect">
            <a:avLst>
              <a:gd name="adj" fmla="val 7273"/>
            </a:avLst>
          </a:prstGeom>
          <a:solidFill>
            <a:srgbClr val="E6F2F2"/>
          </a:solidFill>
          <a:ln w="12700">
            <a:solidFill>
              <a:srgbClr val="E6F2F2"/>
            </a:solidFill>
            <a:prstDash val="solid"/>
          </a:ln>
        </p:spPr>
      </p:sp>
      <p:sp>
        <p:nvSpPr>
          <p:cNvPr id="4" name="Shape 2"/>
          <p:cNvSpPr/>
          <p:nvPr/>
        </p:nvSpPr>
        <p:spPr>
          <a:xfrm>
            <a:off x="640080" y="1600200"/>
            <a:ext cx="685800" cy="68580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04672" y="1764792"/>
            <a:ext cx="356616" cy="356616"/>
          </a:xfrm>
          <a:prstGeom prst="rect">
            <a:avLst/>
          </a:prstGeom>
        </p:spPr>
      </p:pic>
      <p:sp>
        <p:nvSpPr>
          <p:cNvPr id="6" name="Text 3"/>
          <p:cNvSpPr txBox="1"/>
          <p:nvPr/>
        </p:nvSpPr>
        <p:spPr>
          <a:xfrm>
            <a:off x="150876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Light sanding of edges with 120 grit, then 240 grit.</a:t>
            </a:r>
            <a:endParaRPr lang="en-US" sz="1500" dirty="0"/>
          </a:p>
        </p:txBody>
      </p:sp>
      <p:sp>
        <p:nvSpPr>
          <p:cNvPr id="7" name="pt1"/>
          <p:cNvSpPr/>
          <p:nvPr/>
        </p:nvSpPr>
        <p:spPr>
          <a:xfrm>
            <a:off x="4663440" y="1188720"/>
            <a:ext cx="4023360" cy="1508760"/>
          </a:xfrm>
          <a:prstGeom prst="roundRect">
            <a:avLst>
              <a:gd name="adj" fmla="val 7273"/>
            </a:avLst>
          </a:prstGeom>
          <a:solidFill>
            <a:srgbClr val="F3F5F6"/>
          </a:solidFill>
          <a:ln w="12700">
            <a:solidFill>
              <a:srgbClr val="F3F5F6"/>
            </a:solidFill>
            <a:prstDash val="solid"/>
          </a:ln>
        </p:spPr>
      </p:sp>
      <p:sp>
        <p:nvSpPr>
          <p:cNvPr id="8" name="Shape 5"/>
          <p:cNvSpPr/>
          <p:nvPr/>
        </p:nvSpPr>
        <p:spPr>
          <a:xfrm>
            <a:off x="4846320" y="1600200"/>
            <a:ext cx="685800" cy="685800"/>
          </a:xfrm>
          <a:prstGeom prst="ellipse">
            <a:avLst/>
          </a:prstGeom>
          <a:solidFill>
            <a:srgbClr val="0E7C80"/>
          </a:solidFill>
          <a:ln w="12700">
            <a:solidFill>
              <a:srgbClr val="0E7C80"/>
            </a:solidFill>
            <a:prstDash val="solid"/>
          </a:ln>
        </p:spPr>
      </p:sp>
      <p:pic>
        <p:nvPicPr>
          <p:cNvPr id="9" name="Image 1" descr="preencoded.png">    </p:cNvPr>
          <p:cNvPicPr>
            <a:picLocks noChangeAspect="1"/>
          </p:cNvPicPr>
          <p:nvPr/>
        </p:nvPicPr>
        <p:blipFill>
          <a:blip r:embed="rId2"/>
          <a:stretch>
            <a:fillRect/>
          </a:stretch>
        </p:blipFill>
        <p:spPr>
          <a:xfrm>
            <a:off x="5010912" y="1764792"/>
            <a:ext cx="356616" cy="356616"/>
          </a:xfrm>
          <a:prstGeom prst="rect">
            <a:avLst/>
          </a:prstGeom>
        </p:spPr>
      </p:pic>
      <p:sp>
        <p:nvSpPr>
          <p:cNvPr id="10" name="Text 6"/>
          <p:cNvSpPr txBox="1"/>
          <p:nvPr/>
        </p:nvSpPr>
        <p:spPr>
          <a:xfrm>
            <a:off x="571500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Gently remove laser burn marks from the surface.</a:t>
            </a:r>
            <a:endParaRPr lang="en-US" sz="1500" dirty="0"/>
          </a:p>
        </p:txBody>
      </p:sp>
      <p:sp>
        <p:nvSpPr>
          <p:cNvPr id="11" name="pt2"/>
          <p:cNvSpPr/>
          <p:nvPr/>
        </p:nvSpPr>
        <p:spPr>
          <a:xfrm>
            <a:off x="457200" y="2880360"/>
            <a:ext cx="4023360" cy="1508760"/>
          </a:xfrm>
          <a:prstGeom prst="roundRect">
            <a:avLst>
              <a:gd name="adj" fmla="val 7273"/>
            </a:avLst>
          </a:prstGeom>
          <a:solidFill>
            <a:srgbClr val="F3F5F6"/>
          </a:solidFill>
          <a:ln w="12700">
            <a:solidFill>
              <a:srgbClr val="F3F5F6"/>
            </a:solidFill>
            <a:prstDash val="solid"/>
          </a:ln>
        </p:spPr>
      </p:sp>
      <p:sp>
        <p:nvSpPr>
          <p:cNvPr id="12" name="Shape 8"/>
          <p:cNvSpPr/>
          <p:nvPr/>
        </p:nvSpPr>
        <p:spPr>
          <a:xfrm>
            <a:off x="640080" y="3291840"/>
            <a:ext cx="685800" cy="685800"/>
          </a:xfrm>
          <a:prstGeom prst="ellipse">
            <a:avLst/>
          </a:prstGeom>
          <a:solidFill>
            <a:srgbClr val="0E7C80"/>
          </a:solidFill>
          <a:ln w="12700">
            <a:solidFill>
              <a:srgbClr val="0E7C80"/>
            </a:solidFill>
            <a:prstDash val="solid"/>
          </a:ln>
        </p:spPr>
      </p:sp>
      <p:pic>
        <p:nvPicPr>
          <p:cNvPr id="13" name="Image 2" descr="preencoded.png">    </p:cNvPr>
          <p:cNvPicPr>
            <a:picLocks noChangeAspect="1"/>
          </p:cNvPicPr>
          <p:nvPr/>
        </p:nvPicPr>
        <p:blipFill>
          <a:blip r:embed="rId3"/>
          <a:stretch>
            <a:fillRect/>
          </a:stretch>
        </p:blipFill>
        <p:spPr>
          <a:xfrm>
            <a:off x="804672" y="3456432"/>
            <a:ext cx="356616" cy="356616"/>
          </a:xfrm>
          <a:prstGeom prst="rect">
            <a:avLst/>
          </a:prstGeom>
        </p:spPr>
      </p:pic>
      <p:sp>
        <p:nvSpPr>
          <p:cNvPr id="14" name="Text 9"/>
          <p:cNvSpPr txBox="1"/>
          <p:nvPr/>
        </p:nvSpPr>
        <p:spPr>
          <a:xfrm>
            <a:off x="150876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Clean the keyring hole with the hand drill if needed.</a:t>
            </a:r>
            <a:endParaRPr lang="en-US" sz="1500" dirty="0"/>
          </a:p>
        </p:txBody>
      </p:sp>
      <p:sp>
        <p:nvSpPr>
          <p:cNvPr id="15" name="pt3"/>
          <p:cNvSpPr/>
          <p:nvPr/>
        </p:nvSpPr>
        <p:spPr>
          <a:xfrm>
            <a:off x="4663440" y="2880360"/>
            <a:ext cx="4023360" cy="1508760"/>
          </a:xfrm>
          <a:prstGeom prst="roundRect">
            <a:avLst>
              <a:gd name="adj" fmla="val 7273"/>
            </a:avLst>
          </a:prstGeom>
          <a:solidFill>
            <a:srgbClr val="E6F2F2"/>
          </a:solidFill>
          <a:ln w="12700">
            <a:solidFill>
              <a:srgbClr val="E6F2F2"/>
            </a:solidFill>
            <a:prstDash val="solid"/>
          </a:ln>
        </p:spPr>
      </p:sp>
      <p:sp>
        <p:nvSpPr>
          <p:cNvPr id="16" name="Shape 11"/>
          <p:cNvSpPr/>
          <p:nvPr/>
        </p:nvSpPr>
        <p:spPr>
          <a:xfrm>
            <a:off x="4846320" y="3291840"/>
            <a:ext cx="685800" cy="685800"/>
          </a:xfrm>
          <a:prstGeom prst="ellipse">
            <a:avLst/>
          </a:prstGeom>
          <a:solidFill>
            <a:srgbClr val="0E7C80"/>
          </a:solidFill>
          <a:ln w="12700">
            <a:solidFill>
              <a:srgbClr val="0E7C80"/>
            </a:solidFill>
            <a:prstDash val="solid"/>
          </a:ln>
        </p:spPr>
      </p:sp>
      <p:pic>
        <p:nvPicPr>
          <p:cNvPr id="17" name="Image 3" descr="preencoded.png">    </p:cNvPr>
          <p:cNvPicPr>
            <a:picLocks noChangeAspect="1"/>
          </p:cNvPicPr>
          <p:nvPr/>
        </p:nvPicPr>
        <p:blipFill>
          <a:blip r:embed="rId4"/>
          <a:stretch>
            <a:fillRect/>
          </a:stretch>
        </p:blipFill>
        <p:spPr>
          <a:xfrm>
            <a:off x="5010912" y="3456432"/>
            <a:ext cx="356616" cy="356616"/>
          </a:xfrm>
          <a:prstGeom prst="rect">
            <a:avLst/>
          </a:prstGeom>
        </p:spPr>
      </p:pic>
      <p:sp>
        <p:nvSpPr>
          <p:cNvPr id="18" name="Text 12"/>
          <p:cNvSpPr txBox="1"/>
          <p:nvPr/>
        </p:nvSpPr>
        <p:spPr>
          <a:xfrm>
            <a:off x="571500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Fit the keyring with pliers.</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Your Junior Engineer product: ready to print</a:t>
            </a:r>
            <a:endParaRPr lang="en-US" sz="3000" dirty="0"/>
          </a:p>
        </p:txBody>
      </p:sp>
      <p:sp>
        <p:nvSpPr>
          <p:cNvPr id="3" name="Shape 1"/>
          <p:cNvSpPr/>
          <p:nvPr/>
        </p:nvSpPr>
        <p:spPr>
          <a:xfrm>
            <a:off x="457200" y="1234440"/>
            <a:ext cx="502920" cy="502920"/>
          </a:xfrm>
          <a:prstGeom prst="ellipse">
            <a:avLst/>
          </a:prstGeom>
          <a:solidFill>
            <a:srgbClr val="0E7C80"/>
          </a:solidFill>
          <a:ln w="12700">
            <a:solidFill>
              <a:srgbClr val="0E7C80"/>
            </a:solidFill>
            <a:prstDash val="solid"/>
          </a:ln>
        </p:spPr>
      </p:sp>
      <p:pic>
        <p:nvPicPr>
          <p:cNvPr id="4" name="Image 0" descr="preencoded.png">    </p:cNvPr>
          <p:cNvPicPr>
            <a:picLocks noChangeAspect="1"/>
          </p:cNvPicPr>
          <p:nvPr/>
        </p:nvPicPr>
        <p:blipFill>
          <a:blip r:embed="rId1"/>
          <a:stretch>
            <a:fillRect/>
          </a:stretch>
        </p:blipFill>
        <p:spPr>
          <a:xfrm>
            <a:off x="577901" y="1355141"/>
            <a:ext cx="261518" cy="261518"/>
          </a:xfrm>
          <a:prstGeom prst="rect">
            <a:avLst/>
          </a:prstGeom>
        </p:spPr>
      </p:pic>
      <p:sp>
        <p:nvSpPr>
          <p:cNvPr id="5" name="Text 2"/>
          <p:cNvSpPr txBox="1"/>
          <p:nvPr/>
        </p:nvSpPr>
        <p:spPr>
          <a:xfrm>
            <a:off x="1143000" y="118872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Open your Week 4 Tinkercad design.</a:t>
            </a:r>
            <a:endParaRPr lang="en-US" sz="1600" dirty="0"/>
          </a:p>
        </p:txBody>
      </p:sp>
      <p:sp>
        <p:nvSpPr>
          <p:cNvPr id="6" name="Shape 3"/>
          <p:cNvSpPr/>
          <p:nvPr/>
        </p:nvSpPr>
        <p:spPr>
          <a:xfrm>
            <a:off x="457200" y="2057400"/>
            <a:ext cx="502920" cy="502920"/>
          </a:xfrm>
          <a:prstGeom prst="ellipse">
            <a:avLst/>
          </a:prstGeom>
          <a:solidFill>
            <a:srgbClr val="9E1B4B"/>
          </a:solidFill>
          <a:ln w="12700">
            <a:solidFill>
              <a:srgbClr val="9E1B4B"/>
            </a:solidFill>
            <a:prstDash val="solid"/>
          </a:ln>
        </p:spPr>
      </p:sp>
      <p:pic>
        <p:nvPicPr>
          <p:cNvPr id="7" name="Image 1" descr="preencoded.png">    </p:cNvPr>
          <p:cNvPicPr>
            <a:picLocks noChangeAspect="1"/>
          </p:cNvPicPr>
          <p:nvPr/>
        </p:nvPicPr>
        <p:blipFill>
          <a:blip r:embed="rId2"/>
          <a:stretch>
            <a:fillRect/>
          </a:stretch>
        </p:blipFill>
        <p:spPr>
          <a:xfrm>
            <a:off x="577901" y="2178101"/>
            <a:ext cx="261518" cy="261518"/>
          </a:xfrm>
          <a:prstGeom prst="rect">
            <a:avLst/>
          </a:prstGeom>
        </p:spPr>
      </p:pic>
      <p:sp>
        <p:nvSpPr>
          <p:cNvPr id="8" name="Text 4"/>
          <p:cNvSpPr txBox="1"/>
          <p:nvPr/>
        </p:nvSpPr>
        <p:spPr>
          <a:xfrm>
            <a:off x="1143000" y="201168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Group it, set it flat and scale it to fit within 80 mm.</a:t>
            </a:r>
            <a:endParaRPr lang="en-US" sz="1600" dirty="0"/>
          </a:p>
        </p:txBody>
      </p:sp>
      <p:sp>
        <p:nvSpPr>
          <p:cNvPr id="9" name="Shape 5"/>
          <p:cNvSpPr/>
          <p:nvPr/>
        </p:nvSpPr>
        <p:spPr>
          <a:xfrm>
            <a:off x="457200" y="2880360"/>
            <a:ext cx="502920" cy="502920"/>
          </a:xfrm>
          <a:prstGeom prst="ellipse">
            <a:avLst/>
          </a:prstGeom>
          <a:solidFill>
            <a:srgbClr val="0E7C80"/>
          </a:solidFill>
          <a:ln w="12700">
            <a:solidFill>
              <a:srgbClr val="0E7C80"/>
            </a:solidFill>
            <a:prstDash val="solid"/>
          </a:ln>
        </p:spPr>
      </p:sp>
      <p:pic>
        <p:nvPicPr>
          <p:cNvPr id="10" name="Image 2" descr="preencoded.png">    </p:cNvPr>
          <p:cNvPicPr>
            <a:picLocks noChangeAspect="1"/>
          </p:cNvPicPr>
          <p:nvPr/>
        </p:nvPicPr>
        <p:blipFill>
          <a:blip r:embed="rId3"/>
          <a:stretch>
            <a:fillRect/>
          </a:stretch>
        </p:blipFill>
        <p:spPr>
          <a:xfrm>
            <a:off x="577901" y="3001061"/>
            <a:ext cx="261518" cy="261518"/>
          </a:xfrm>
          <a:prstGeom prst="rect">
            <a:avLst/>
          </a:prstGeom>
        </p:spPr>
      </p:pic>
      <p:sp>
        <p:nvSpPr>
          <p:cNvPr id="11" name="Text 6"/>
          <p:cNvSpPr txBox="1"/>
          <p:nvPr/>
        </p:nvSpPr>
        <p:spPr>
          <a:xfrm>
            <a:off x="1143000" y="283464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Check for floating parts and thin walls under 2 mm.</a:t>
            </a:r>
            <a:endParaRPr lang="en-US" sz="1600" dirty="0"/>
          </a:p>
        </p:txBody>
      </p:sp>
      <p:sp>
        <p:nvSpPr>
          <p:cNvPr id="12" name="Shape 7"/>
          <p:cNvSpPr/>
          <p:nvPr/>
        </p:nvSpPr>
        <p:spPr>
          <a:xfrm>
            <a:off x="457200" y="3703320"/>
            <a:ext cx="502920" cy="502920"/>
          </a:xfrm>
          <a:prstGeom prst="ellipse">
            <a:avLst/>
          </a:prstGeom>
          <a:solidFill>
            <a:srgbClr val="9E1B4B"/>
          </a:solidFill>
          <a:ln w="12700">
            <a:solidFill>
              <a:srgbClr val="9E1B4B"/>
            </a:solidFill>
            <a:prstDash val="solid"/>
          </a:ln>
        </p:spPr>
      </p:sp>
      <p:pic>
        <p:nvPicPr>
          <p:cNvPr id="13" name="Image 3" descr="preencoded.png">    </p:cNvPr>
          <p:cNvPicPr>
            <a:picLocks noChangeAspect="1"/>
          </p:cNvPicPr>
          <p:nvPr/>
        </p:nvPicPr>
        <p:blipFill>
          <a:blip r:embed="rId4"/>
          <a:stretch>
            <a:fillRect/>
          </a:stretch>
        </p:blipFill>
        <p:spPr>
          <a:xfrm>
            <a:off x="577901" y="3824021"/>
            <a:ext cx="261518" cy="261518"/>
          </a:xfrm>
          <a:prstGeom prst="rect">
            <a:avLst/>
          </a:prstGeom>
        </p:spPr>
      </p:pic>
      <p:sp>
        <p:nvSpPr>
          <p:cNvPr id="14" name="Text 8"/>
          <p:cNvSpPr txBox="1"/>
          <p:nvPr/>
        </p:nvSpPr>
        <p:spPr>
          <a:xfrm>
            <a:off x="1143000" y="365760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Export as STL: Grade6_JE_YourName.</a:t>
            </a:r>
            <a:endParaRPr lang="en-US" sz="1600" dirty="0"/>
          </a:p>
        </p:txBody>
      </p:sp>
      <p:sp>
        <p:nvSpPr>
          <p:cNvPr id="15" name="panel"/>
          <p:cNvSpPr/>
          <p:nvPr/>
        </p:nvSpPr>
        <p:spPr>
          <a:xfrm>
            <a:off x="6263640" y="1188720"/>
            <a:ext cx="2423160" cy="3246120"/>
          </a:xfrm>
          <a:prstGeom prst="roundRect">
            <a:avLst>
              <a:gd name="adj" fmla="val 4528"/>
            </a:avLst>
          </a:prstGeom>
          <a:solidFill>
            <a:srgbClr val="0E7C80"/>
          </a:solidFill>
          <a:ln w="12700">
            <a:solidFill>
              <a:srgbClr val="0E7C80"/>
            </a:solidFill>
            <a:prstDash val="solid"/>
          </a:ln>
        </p:spPr>
      </p:sp>
      <p:sp>
        <p:nvSpPr>
          <p:cNvPr id="16" name="Shape 10"/>
          <p:cNvSpPr/>
          <p:nvPr/>
        </p:nvSpPr>
        <p:spPr>
          <a:xfrm>
            <a:off x="6903720" y="1463040"/>
            <a:ext cx="1143000" cy="1143000"/>
          </a:xfrm>
          <a:prstGeom prst="ellipse">
            <a:avLst/>
          </a:prstGeom>
          <a:solidFill>
            <a:srgbClr val="FFFFFF"/>
          </a:solidFill>
          <a:ln w="12700">
            <a:solidFill>
              <a:srgbClr val="FFFFFF"/>
            </a:solidFill>
            <a:prstDash val="solid"/>
          </a:ln>
        </p:spPr>
      </p:sp>
      <p:pic>
        <p:nvPicPr>
          <p:cNvPr id="17" name="Image 4" descr="preencoded.png">    </p:cNvPr>
          <p:cNvPicPr>
            <a:picLocks noChangeAspect="1"/>
          </p:cNvPicPr>
          <p:nvPr/>
        </p:nvPicPr>
        <p:blipFill>
          <a:blip r:embed="rId5"/>
          <a:stretch>
            <a:fillRect/>
          </a:stretch>
        </p:blipFill>
        <p:spPr>
          <a:xfrm>
            <a:off x="7178040" y="1737360"/>
            <a:ext cx="594360" cy="594360"/>
          </a:xfrm>
          <a:prstGeom prst="rect">
            <a:avLst/>
          </a:prstGeom>
        </p:spPr>
      </p:pic>
      <p:sp>
        <p:nvSpPr>
          <p:cNvPr id="18" name="Text 11"/>
          <p:cNvSpPr txBox="1"/>
          <p:nvPr/>
        </p:nvSpPr>
        <p:spPr>
          <a:xfrm>
            <a:off x="6400800" y="2788920"/>
            <a:ext cx="2148840" cy="320040"/>
          </a:xfrm>
          <a:prstGeom prst="rect">
            <a:avLst/>
          </a:prstGeom>
          <a:noFill/>
          <a:ln/>
        </p:spPr>
        <p:txBody>
          <a:bodyPr wrap="square" lIns="0" tIns="0" rIns="0" bIns="0" rtlCol="0" anchor="ctr"/>
          <a:lstStyle/>
          <a:p>
            <a:pPr algn="ctr" indent="0" marL="0">
              <a:buNone/>
            </a:pPr>
            <a:r>
              <a:rPr lang="en-US" sz="1400" b="1" dirty="0">
                <a:solidFill>
                  <a:srgbClr val="F2A31B"/>
                </a:solidFill>
                <a:latin typeface="Calibri" pitchFamily="34" charset="0"/>
                <a:ea typeface="Calibri" pitchFamily="34" charset="-122"/>
                <a:cs typeface="Calibri" pitchFamily="34" charset="-120"/>
              </a:rPr>
              <a:t>Think</a:t>
            </a:r>
            <a:endParaRPr lang="en-US" sz="1400" dirty="0"/>
          </a:p>
        </p:txBody>
      </p:sp>
      <p:sp>
        <p:nvSpPr>
          <p:cNvPr id="19" name="Text 12"/>
          <p:cNvSpPr txBox="1"/>
          <p:nvPr/>
        </p:nvSpPr>
        <p:spPr>
          <a:xfrm>
            <a:off x="6446520" y="3154680"/>
            <a:ext cx="2057400" cy="11430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Explain one of these points to your partner in your own words.</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Today's two jobs</a:t>
            </a:r>
            <a:endParaRPr lang="en-US" sz="3000" dirty="0"/>
          </a:p>
        </p:txBody>
      </p:sp>
      <p:sp>
        <p:nvSpPr>
          <p:cNvPr id="3" name="step0"/>
          <p:cNvSpPr/>
          <p:nvPr/>
        </p:nvSpPr>
        <p:spPr>
          <a:xfrm>
            <a:off x="457200" y="1188720"/>
            <a:ext cx="2590800" cy="1463040"/>
          </a:xfrm>
          <a:prstGeom prst="roundRect">
            <a:avLst>
              <a:gd name="adj" fmla="val 7500"/>
            </a:avLst>
          </a:prstGeom>
          <a:solidFill>
            <a:srgbClr val="E6F2F2"/>
          </a:solidFill>
          <a:ln w="12700">
            <a:solidFill>
              <a:srgbClr val="E6F2F2"/>
            </a:solidFill>
            <a:prstDash val="solid"/>
          </a:ln>
        </p:spPr>
      </p:sp>
      <p:sp>
        <p:nvSpPr>
          <p:cNvPr id="4" name="Shape 2"/>
          <p:cNvSpPr/>
          <p:nvPr/>
        </p:nvSpPr>
        <p:spPr>
          <a:xfrm>
            <a:off x="594360" y="1325880"/>
            <a:ext cx="457200" cy="457200"/>
          </a:xfrm>
          <a:prstGeom prst="ellipse">
            <a:avLst/>
          </a:prstGeom>
          <a:solidFill>
            <a:srgbClr val="0E7C80"/>
          </a:solidFill>
          <a:ln w="12700">
            <a:solidFill>
              <a:srgbClr val="0E7C80"/>
            </a:solidFill>
            <a:prstDash val="solid"/>
          </a:ln>
        </p:spPr>
      </p:sp>
      <p:sp>
        <p:nvSpPr>
          <p:cNvPr id="5" name="Text 3"/>
          <p:cNvSpPr txBox="1"/>
          <p:nvPr/>
        </p:nvSpPr>
        <p:spPr>
          <a:xfrm>
            <a:off x="5943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5943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Safety pledge and goggles on</a:t>
            </a:r>
            <a:endParaRPr lang="en-US" sz="1300" dirty="0"/>
          </a:p>
        </p:txBody>
      </p:sp>
      <p:sp>
        <p:nvSpPr>
          <p:cNvPr id="7" name="step1"/>
          <p:cNvSpPr/>
          <p:nvPr/>
        </p:nvSpPr>
        <p:spPr>
          <a:xfrm>
            <a:off x="3276600" y="1188720"/>
            <a:ext cx="2590800" cy="1463040"/>
          </a:xfrm>
          <a:prstGeom prst="roundRect">
            <a:avLst>
              <a:gd name="adj" fmla="val 7500"/>
            </a:avLst>
          </a:prstGeom>
          <a:solidFill>
            <a:srgbClr val="E6F2F2"/>
          </a:solidFill>
          <a:ln w="12700">
            <a:solidFill>
              <a:srgbClr val="E6F2F2"/>
            </a:solidFill>
            <a:prstDash val="solid"/>
          </a:ln>
        </p:spPr>
      </p:sp>
      <p:sp>
        <p:nvSpPr>
          <p:cNvPr id="8" name="Shape 6"/>
          <p:cNvSpPr/>
          <p:nvPr/>
        </p:nvSpPr>
        <p:spPr>
          <a:xfrm>
            <a:off x="3413760" y="1325880"/>
            <a:ext cx="457200" cy="457200"/>
          </a:xfrm>
          <a:prstGeom prst="ellipse">
            <a:avLst/>
          </a:prstGeom>
          <a:solidFill>
            <a:srgbClr val="0E7C80"/>
          </a:solidFill>
          <a:ln w="12700">
            <a:solidFill>
              <a:srgbClr val="0E7C80"/>
            </a:solidFill>
            <a:prstDash val="solid"/>
          </a:ln>
        </p:spPr>
      </p:sp>
      <p:sp>
        <p:nvSpPr>
          <p:cNvPr id="9" name="Text 7"/>
          <p:cNvSpPr txBox="1"/>
          <p:nvPr/>
        </p:nvSpPr>
        <p:spPr>
          <a:xfrm>
            <a:off x="34137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34137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Sand edges at the sanding machine</a:t>
            </a:r>
            <a:endParaRPr lang="en-US" sz="1300" dirty="0"/>
          </a:p>
        </p:txBody>
      </p:sp>
      <p:sp>
        <p:nvSpPr>
          <p:cNvPr id="11" name="step2"/>
          <p:cNvSpPr/>
          <p:nvPr/>
        </p:nvSpPr>
        <p:spPr>
          <a:xfrm>
            <a:off x="6096000" y="1188720"/>
            <a:ext cx="2590800" cy="1463040"/>
          </a:xfrm>
          <a:prstGeom prst="roundRect">
            <a:avLst>
              <a:gd name="adj" fmla="val 7500"/>
            </a:avLst>
          </a:prstGeom>
          <a:solidFill>
            <a:srgbClr val="E6F2F2"/>
          </a:solidFill>
          <a:ln w="12700">
            <a:solidFill>
              <a:srgbClr val="E6F2F2"/>
            </a:solidFill>
            <a:prstDash val="solid"/>
          </a:ln>
        </p:spPr>
      </p:sp>
      <p:sp>
        <p:nvSpPr>
          <p:cNvPr id="12" name="Shape 10"/>
          <p:cNvSpPr/>
          <p:nvPr/>
        </p:nvSpPr>
        <p:spPr>
          <a:xfrm>
            <a:off x="6233160" y="1325880"/>
            <a:ext cx="457200" cy="457200"/>
          </a:xfrm>
          <a:prstGeom prst="ellipse">
            <a:avLst/>
          </a:prstGeom>
          <a:solidFill>
            <a:srgbClr val="0E7C80"/>
          </a:solidFill>
          <a:ln w="12700">
            <a:solidFill>
              <a:srgbClr val="0E7C80"/>
            </a:solidFill>
            <a:prstDash val="solid"/>
          </a:ln>
        </p:spPr>
      </p:sp>
      <p:sp>
        <p:nvSpPr>
          <p:cNvPr id="13" name="Text 11"/>
          <p:cNvSpPr txBox="1"/>
          <p:nvPr/>
        </p:nvSpPr>
        <p:spPr>
          <a:xfrm>
            <a:off x="62331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62331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Clean the hole and fit the keyring</a:t>
            </a:r>
            <a:endParaRPr lang="en-US" sz="1300" dirty="0"/>
          </a:p>
        </p:txBody>
      </p:sp>
      <p:sp>
        <p:nvSpPr>
          <p:cNvPr id="15" name="step3"/>
          <p:cNvSpPr/>
          <p:nvPr/>
        </p:nvSpPr>
        <p:spPr>
          <a:xfrm>
            <a:off x="457200" y="2880360"/>
            <a:ext cx="2590800" cy="1463040"/>
          </a:xfrm>
          <a:prstGeom prst="roundRect">
            <a:avLst>
              <a:gd name="adj" fmla="val 7500"/>
            </a:avLst>
          </a:prstGeom>
          <a:solidFill>
            <a:srgbClr val="FCEFF3"/>
          </a:solidFill>
          <a:ln w="12700">
            <a:solidFill>
              <a:srgbClr val="FCEFF3"/>
            </a:solidFill>
            <a:prstDash val="solid"/>
          </a:ln>
        </p:spPr>
      </p:sp>
      <p:sp>
        <p:nvSpPr>
          <p:cNvPr id="16" name="Shape 14"/>
          <p:cNvSpPr/>
          <p:nvPr/>
        </p:nvSpPr>
        <p:spPr>
          <a:xfrm>
            <a:off x="594360" y="3017520"/>
            <a:ext cx="457200" cy="457200"/>
          </a:xfrm>
          <a:prstGeom prst="ellipse">
            <a:avLst/>
          </a:prstGeom>
          <a:solidFill>
            <a:srgbClr val="9E1B4B"/>
          </a:solidFill>
          <a:ln w="12700">
            <a:solidFill>
              <a:srgbClr val="9E1B4B"/>
            </a:solidFill>
            <a:prstDash val="solid"/>
          </a:ln>
        </p:spPr>
      </p:sp>
      <p:sp>
        <p:nvSpPr>
          <p:cNvPr id="17" name="Text 15"/>
          <p:cNvSpPr txBox="1"/>
          <p:nvPr/>
        </p:nvSpPr>
        <p:spPr>
          <a:xfrm>
            <a:off x="5943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5943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Quality check your maker mark</a:t>
            </a:r>
            <a:endParaRPr lang="en-US" sz="1300" dirty="0"/>
          </a:p>
        </p:txBody>
      </p:sp>
      <p:sp>
        <p:nvSpPr>
          <p:cNvPr id="19" name="step4"/>
          <p:cNvSpPr/>
          <p:nvPr/>
        </p:nvSpPr>
        <p:spPr>
          <a:xfrm>
            <a:off x="3276600" y="2880360"/>
            <a:ext cx="2590800" cy="1463040"/>
          </a:xfrm>
          <a:prstGeom prst="roundRect">
            <a:avLst>
              <a:gd name="adj" fmla="val 7500"/>
            </a:avLst>
          </a:prstGeom>
          <a:solidFill>
            <a:srgbClr val="FCEFF3"/>
          </a:solidFill>
          <a:ln w="12700">
            <a:solidFill>
              <a:srgbClr val="FCEFF3"/>
            </a:solidFill>
            <a:prstDash val="solid"/>
          </a:ln>
        </p:spPr>
      </p:sp>
      <p:sp>
        <p:nvSpPr>
          <p:cNvPr id="20" name="Shape 18"/>
          <p:cNvSpPr/>
          <p:nvPr/>
        </p:nvSpPr>
        <p:spPr>
          <a:xfrm>
            <a:off x="3413760" y="3017520"/>
            <a:ext cx="457200" cy="457200"/>
          </a:xfrm>
          <a:prstGeom prst="ellipse">
            <a:avLst/>
          </a:prstGeom>
          <a:solidFill>
            <a:srgbClr val="9E1B4B"/>
          </a:solidFill>
          <a:ln w="12700">
            <a:solidFill>
              <a:srgbClr val="9E1B4B"/>
            </a:solidFill>
            <a:prstDash val="solid"/>
          </a:ln>
        </p:spPr>
      </p:sp>
      <p:sp>
        <p:nvSpPr>
          <p:cNvPr id="21" name="Text 19"/>
          <p:cNvSpPr txBox="1"/>
          <p:nvPr/>
        </p:nvSpPr>
        <p:spPr>
          <a:xfrm>
            <a:off x="34137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22" name="Text 20"/>
          <p:cNvSpPr txBox="1"/>
          <p:nvPr/>
        </p:nvSpPr>
        <p:spPr>
          <a:xfrm>
            <a:off x="34137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Check your Junior Engineer model</a:t>
            </a:r>
            <a:endParaRPr lang="en-US" sz="1300" dirty="0"/>
          </a:p>
        </p:txBody>
      </p:sp>
      <p:sp>
        <p:nvSpPr>
          <p:cNvPr id="23" name="step5"/>
          <p:cNvSpPr/>
          <p:nvPr/>
        </p:nvSpPr>
        <p:spPr>
          <a:xfrm>
            <a:off x="6096000" y="2880360"/>
            <a:ext cx="2590800" cy="1463040"/>
          </a:xfrm>
          <a:prstGeom prst="roundRect">
            <a:avLst>
              <a:gd name="adj" fmla="val 7500"/>
            </a:avLst>
          </a:prstGeom>
          <a:solidFill>
            <a:srgbClr val="FCEFF3"/>
          </a:solidFill>
          <a:ln w="12700">
            <a:solidFill>
              <a:srgbClr val="FCEFF3"/>
            </a:solidFill>
            <a:prstDash val="solid"/>
          </a:ln>
        </p:spPr>
      </p:sp>
      <p:sp>
        <p:nvSpPr>
          <p:cNvPr id="24" name="Shape 22"/>
          <p:cNvSpPr/>
          <p:nvPr/>
        </p:nvSpPr>
        <p:spPr>
          <a:xfrm>
            <a:off x="6233160" y="3017520"/>
            <a:ext cx="457200" cy="457200"/>
          </a:xfrm>
          <a:prstGeom prst="ellipse">
            <a:avLst/>
          </a:prstGeom>
          <a:solidFill>
            <a:srgbClr val="9E1B4B"/>
          </a:solidFill>
          <a:ln w="12700">
            <a:solidFill>
              <a:srgbClr val="9E1B4B"/>
            </a:solidFill>
            <a:prstDash val="solid"/>
          </a:ln>
        </p:spPr>
      </p:sp>
      <p:sp>
        <p:nvSpPr>
          <p:cNvPr id="25" name="Text 23"/>
          <p:cNvSpPr txBox="1"/>
          <p:nvPr/>
        </p:nvSpPr>
        <p:spPr>
          <a:xfrm>
            <a:off x="62331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a:t>
            </a:r>
            <a:endParaRPr lang="en-US" sz="1500" dirty="0"/>
          </a:p>
        </p:txBody>
      </p:sp>
      <p:sp>
        <p:nvSpPr>
          <p:cNvPr id="26" name="Text 24"/>
          <p:cNvSpPr txBox="1"/>
          <p:nvPr/>
        </p:nvSpPr>
        <p:spPr>
          <a:xfrm>
            <a:off x="62331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Export STL for printing</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Safety First</a:t>
            </a:r>
            <a:endParaRPr lang="en-US" sz="3000" dirty="0"/>
          </a:p>
        </p:txBody>
      </p:sp>
      <p:sp>
        <p:nvSpPr>
          <p:cNvPr id="3" name="Shape 1"/>
          <p:cNvSpPr/>
          <p:nvPr/>
        </p:nvSpPr>
        <p:spPr>
          <a:xfrm>
            <a:off x="457200" y="1234440"/>
            <a:ext cx="1280160" cy="1280160"/>
          </a:xfrm>
          <a:prstGeom prst="ellipse">
            <a:avLst/>
          </a:prstGeom>
          <a:solidFill>
            <a:srgbClr val="9E1B4B"/>
          </a:solidFill>
          <a:ln w="12700">
            <a:solidFill>
              <a:srgbClr val="9E1B4B"/>
            </a:solidFill>
            <a:prstDash val="solid"/>
          </a:ln>
        </p:spPr>
      </p:sp>
      <p:pic>
        <p:nvPicPr>
          <p:cNvPr id="4" name="Image 0" descr="preencoded.png">    </p:cNvPr>
          <p:cNvPicPr>
            <a:picLocks noChangeAspect="1"/>
          </p:cNvPicPr>
          <p:nvPr/>
        </p:nvPicPr>
        <p:blipFill>
          <a:blip r:embed="rId1"/>
          <a:stretch>
            <a:fillRect/>
          </a:stretch>
        </p:blipFill>
        <p:spPr>
          <a:xfrm>
            <a:off x="764438" y="1541678"/>
            <a:ext cx="665683" cy="665683"/>
          </a:xfrm>
          <a:prstGeom prst="rect">
            <a:avLst/>
          </a:prstGeom>
        </p:spPr>
      </p:pic>
      <p:sp>
        <p:nvSpPr>
          <p:cNvPr id="5" name="Text 2"/>
          <p:cNvSpPr txBox="1"/>
          <p:nvPr/>
        </p:nvSpPr>
        <p:spPr>
          <a:xfrm>
            <a:off x="274320" y="2651760"/>
            <a:ext cx="1645920" cy="548640"/>
          </a:xfrm>
          <a:prstGeom prst="rect">
            <a:avLst/>
          </a:prstGeom>
          <a:noFill/>
          <a:ln/>
        </p:spPr>
        <p:txBody>
          <a:bodyPr wrap="square" lIns="0" tIns="0" rIns="0" bIns="0" rtlCol="0" anchor="ctr"/>
          <a:lstStyle/>
          <a:p>
            <a:pPr algn="ctr" indent="0" marL="0">
              <a:buNone/>
            </a:pPr>
            <a:r>
              <a:rPr lang="en-US" sz="1200" b="1" dirty="0">
                <a:solidFill>
                  <a:schemeClr val="accent2"/>
                </a:solidFill>
                <a:latin typeface="Calibri" pitchFamily="34" charset="0"/>
                <a:ea typeface="Calibri" pitchFamily="34" charset="-122"/>
                <a:cs typeface="Calibri" pitchFamily="34" charset="-120"/>
              </a:rPr>
              <a:t>Every time. No exceptions.</a:t>
            </a:r>
            <a:endParaRPr lang="en-US" sz="1200" dirty="0"/>
          </a:p>
        </p:txBody>
      </p:sp>
      <p:sp>
        <p:nvSpPr>
          <p:cNvPr id="6" name="safe0"/>
          <p:cNvSpPr/>
          <p:nvPr/>
        </p:nvSpPr>
        <p:spPr>
          <a:xfrm>
            <a:off x="2194560" y="1188720"/>
            <a:ext cx="6492240" cy="566928"/>
          </a:xfrm>
          <a:prstGeom prst="roundRect">
            <a:avLst>
              <a:gd name="adj" fmla="val 19355"/>
            </a:avLst>
          </a:prstGeom>
          <a:solidFill>
            <a:srgbClr val="FCEFF3"/>
          </a:solidFill>
          <a:ln w="12700">
            <a:solidFill>
              <a:srgbClr val="FCEFF3"/>
            </a:solidFill>
            <a:prstDash val="solid"/>
          </a:ln>
        </p:spPr>
      </p:sp>
      <p:sp>
        <p:nvSpPr>
          <p:cNvPr id="7" name="Text 4"/>
          <p:cNvSpPr txBox="1"/>
          <p:nvPr/>
        </p:nvSpPr>
        <p:spPr>
          <a:xfrm>
            <a:off x="2377440" y="1188720"/>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Goggles on before the machine is switched on.</a:t>
            </a:r>
            <a:endParaRPr lang="en-US" sz="1500" dirty="0"/>
          </a:p>
        </p:txBody>
      </p:sp>
      <p:sp>
        <p:nvSpPr>
          <p:cNvPr id="8" name="safe1"/>
          <p:cNvSpPr/>
          <p:nvPr/>
        </p:nvSpPr>
        <p:spPr>
          <a:xfrm>
            <a:off x="2194560" y="1847088"/>
            <a:ext cx="6492240" cy="566928"/>
          </a:xfrm>
          <a:prstGeom prst="roundRect">
            <a:avLst>
              <a:gd name="adj" fmla="val 19355"/>
            </a:avLst>
          </a:prstGeom>
          <a:solidFill>
            <a:srgbClr val="FFFFFF"/>
          </a:solidFill>
          <a:ln w="12700">
            <a:solidFill>
              <a:srgbClr val="FFFFFF"/>
            </a:solidFill>
            <a:prstDash val="solid"/>
          </a:ln>
        </p:spPr>
      </p:sp>
      <p:sp>
        <p:nvSpPr>
          <p:cNvPr id="9" name="Text 6"/>
          <p:cNvSpPr txBox="1"/>
          <p:nvPr/>
        </p:nvSpPr>
        <p:spPr>
          <a:xfrm>
            <a:off x="2377440" y="1847088"/>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Hair tied back, sleeves rolled up, no loose items.</a:t>
            </a:r>
            <a:endParaRPr lang="en-US" sz="1500" dirty="0"/>
          </a:p>
        </p:txBody>
      </p:sp>
      <p:sp>
        <p:nvSpPr>
          <p:cNvPr id="10" name="safe2"/>
          <p:cNvSpPr/>
          <p:nvPr/>
        </p:nvSpPr>
        <p:spPr>
          <a:xfrm>
            <a:off x="2194560" y="2505456"/>
            <a:ext cx="6492240" cy="566928"/>
          </a:xfrm>
          <a:prstGeom prst="roundRect">
            <a:avLst>
              <a:gd name="adj" fmla="val 19355"/>
            </a:avLst>
          </a:prstGeom>
          <a:solidFill>
            <a:srgbClr val="FCEFF3"/>
          </a:solidFill>
          <a:ln w="12700">
            <a:solidFill>
              <a:srgbClr val="FCEFF3"/>
            </a:solidFill>
            <a:prstDash val="solid"/>
          </a:ln>
        </p:spPr>
      </p:sp>
      <p:sp>
        <p:nvSpPr>
          <p:cNvPr id="11" name="Text 8"/>
          <p:cNvSpPr txBox="1"/>
          <p:nvPr/>
        </p:nvSpPr>
        <p:spPr>
          <a:xfrm>
            <a:off x="2377440" y="2505456"/>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Only one person at a machine, with the teacher watching.</a:t>
            </a:r>
            <a:endParaRPr lang="en-US" sz="1500" dirty="0"/>
          </a:p>
        </p:txBody>
      </p:sp>
      <p:sp>
        <p:nvSpPr>
          <p:cNvPr id="12" name="safe3"/>
          <p:cNvSpPr/>
          <p:nvPr/>
        </p:nvSpPr>
        <p:spPr>
          <a:xfrm>
            <a:off x="2194560" y="3163824"/>
            <a:ext cx="6492240" cy="566928"/>
          </a:xfrm>
          <a:prstGeom prst="roundRect">
            <a:avLst>
              <a:gd name="adj" fmla="val 19355"/>
            </a:avLst>
          </a:prstGeom>
          <a:solidFill>
            <a:srgbClr val="FFFFFF"/>
          </a:solidFill>
          <a:ln w="12700">
            <a:solidFill>
              <a:srgbClr val="FFFFFF"/>
            </a:solidFill>
            <a:prstDash val="solid"/>
          </a:ln>
        </p:spPr>
      </p:sp>
      <p:sp>
        <p:nvSpPr>
          <p:cNvPr id="13" name="Text 10"/>
          <p:cNvSpPr txBox="1"/>
          <p:nvPr/>
        </p:nvSpPr>
        <p:spPr>
          <a:xfrm>
            <a:off x="2377440" y="3163824"/>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Switch off and wait for the machine to stop before touching it.</a:t>
            </a:r>
            <a:endParaRPr lang="en-US" sz="1500" dirty="0"/>
          </a:p>
        </p:txBody>
      </p:sp>
      <p:sp>
        <p:nvSpPr>
          <p:cNvPr id="14" name="safe4"/>
          <p:cNvSpPr/>
          <p:nvPr/>
        </p:nvSpPr>
        <p:spPr>
          <a:xfrm>
            <a:off x="2194560" y="3822192"/>
            <a:ext cx="6492240" cy="566928"/>
          </a:xfrm>
          <a:prstGeom prst="roundRect">
            <a:avLst>
              <a:gd name="adj" fmla="val 19355"/>
            </a:avLst>
          </a:prstGeom>
          <a:solidFill>
            <a:srgbClr val="FCEFF3"/>
          </a:solidFill>
          <a:ln w="12700">
            <a:solidFill>
              <a:srgbClr val="FCEFF3"/>
            </a:solidFill>
            <a:prstDash val="solid"/>
          </a:ln>
        </p:spPr>
      </p:sp>
      <p:sp>
        <p:nvSpPr>
          <p:cNvPr id="15" name="Text 12"/>
          <p:cNvSpPr txBox="1"/>
          <p:nvPr/>
        </p:nvSpPr>
        <p:spPr>
          <a:xfrm>
            <a:off x="2377440" y="3822192"/>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Never touch the 3D printer nozzle or bed.</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Your task today</a:t>
            </a:r>
            <a:endParaRPr lang="en-US" sz="3000" dirty="0"/>
          </a:p>
        </p:txBody>
      </p:sp>
      <p:sp>
        <p:nvSpPr>
          <p:cNvPr id="3" name="Shape 1"/>
          <p:cNvSpPr/>
          <p:nvPr/>
        </p:nvSpPr>
        <p:spPr>
          <a:xfrm>
            <a:off x="457200" y="1261872"/>
            <a:ext cx="411480" cy="411480"/>
          </a:xfrm>
          <a:prstGeom prst="roundRect">
            <a:avLst>
              <a:gd name="adj" fmla="val 13333"/>
            </a:avLst>
          </a:prstGeom>
          <a:solidFill>
            <a:srgbClr val="FFFFFF"/>
          </a:solidFill>
          <a:ln w="25400">
            <a:solidFill>
              <a:srgbClr val="0E7C80"/>
            </a:solidFill>
            <a:prstDash val="solid"/>
          </a:ln>
        </p:spPr>
      </p:sp>
      <p:sp>
        <p:nvSpPr>
          <p:cNvPr id="4" name="Text 2"/>
          <p:cNvSpPr txBox="1"/>
          <p:nvPr/>
        </p:nvSpPr>
        <p:spPr>
          <a:xfrm>
            <a:off x="1051560" y="11887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Take the machine safety pledge.</a:t>
            </a:r>
            <a:endParaRPr lang="en-US" sz="1600" dirty="0"/>
          </a:p>
        </p:txBody>
      </p:sp>
      <p:sp>
        <p:nvSpPr>
          <p:cNvPr id="5" name="Shape 3"/>
          <p:cNvSpPr/>
          <p:nvPr/>
        </p:nvSpPr>
        <p:spPr>
          <a:xfrm>
            <a:off x="457200" y="1947672"/>
            <a:ext cx="411480" cy="411480"/>
          </a:xfrm>
          <a:prstGeom prst="roundRect">
            <a:avLst>
              <a:gd name="adj" fmla="val 13333"/>
            </a:avLst>
          </a:prstGeom>
          <a:solidFill>
            <a:srgbClr val="FFFFFF"/>
          </a:solidFill>
          <a:ln w="25400">
            <a:solidFill>
              <a:srgbClr val="0E7C80"/>
            </a:solidFill>
            <a:prstDash val="solid"/>
          </a:ln>
        </p:spPr>
      </p:sp>
      <p:sp>
        <p:nvSpPr>
          <p:cNvPr id="6" name="Text 4"/>
          <p:cNvSpPr txBox="1"/>
          <p:nvPr/>
        </p:nvSpPr>
        <p:spPr>
          <a:xfrm>
            <a:off x="1051560" y="18745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Finish your maker mark at the sanding machine and fit the keyring.</a:t>
            </a:r>
            <a:endParaRPr lang="en-US" sz="1600" dirty="0"/>
          </a:p>
        </p:txBody>
      </p:sp>
      <p:sp>
        <p:nvSpPr>
          <p:cNvPr id="7" name="Shape 5"/>
          <p:cNvSpPr/>
          <p:nvPr/>
        </p:nvSpPr>
        <p:spPr>
          <a:xfrm>
            <a:off x="457200" y="2633472"/>
            <a:ext cx="411480" cy="411480"/>
          </a:xfrm>
          <a:prstGeom prst="roundRect">
            <a:avLst>
              <a:gd name="adj" fmla="val 13333"/>
            </a:avLst>
          </a:prstGeom>
          <a:solidFill>
            <a:srgbClr val="FFFFFF"/>
          </a:solidFill>
          <a:ln w="25400">
            <a:solidFill>
              <a:srgbClr val="0E7C80"/>
            </a:solidFill>
            <a:prstDash val="solid"/>
          </a:ln>
        </p:spPr>
      </p:sp>
      <p:sp>
        <p:nvSpPr>
          <p:cNvPr id="8" name="Text 6"/>
          <p:cNvSpPr txBox="1"/>
          <p:nvPr/>
        </p:nvSpPr>
        <p:spPr>
          <a:xfrm>
            <a:off x="1051560" y="25603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Complete the quality checklist.</a:t>
            </a:r>
            <a:endParaRPr lang="en-US" sz="1600" dirty="0"/>
          </a:p>
        </p:txBody>
      </p:sp>
      <p:sp>
        <p:nvSpPr>
          <p:cNvPr id="9" name="Shape 7"/>
          <p:cNvSpPr/>
          <p:nvPr/>
        </p:nvSpPr>
        <p:spPr>
          <a:xfrm>
            <a:off x="457200" y="3319272"/>
            <a:ext cx="411480" cy="411480"/>
          </a:xfrm>
          <a:prstGeom prst="roundRect">
            <a:avLst>
              <a:gd name="adj" fmla="val 13333"/>
            </a:avLst>
          </a:prstGeom>
          <a:solidFill>
            <a:srgbClr val="FFFFFF"/>
          </a:solidFill>
          <a:ln w="25400">
            <a:solidFill>
              <a:srgbClr val="0E7C80"/>
            </a:solidFill>
            <a:prstDash val="solid"/>
          </a:ln>
        </p:spPr>
      </p:sp>
      <p:sp>
        <p:nvSpPr>
          <p:cNvPr id="10" name="Text 8"/>
          <p:cNvSpPr txBox="1"/>
          <p:nvPr/>
        </p:nvSpPr>
        <p:spPr>
          <a:xfrm>
            <a:off x="1051560" y="32461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Check, fix and export your Junior Engineer model as STL.</a:t>
            </a:r>
            <a:endParaRPr lang="en-US" sz="1600" dirty="0"/>
          </a:p>
        </p:txBody>
      </p:sp>
      <p:sp>
        <p:nvSpPr>
          <p:cNvPr id="11" name="wsCard"/>
          <p:cNvSpPr/>
          <p:nvPr/>
        </p:nvSpPr>
        <p:spPr>
          <a:xfrm>
            <a:off x="6263640" y="1188720"/>
            <a:ext cx="2423160" cy="3246120"/>
          </a:xfrm>
          <a:prstGeom prst="roundRect">
            <a:avLst>
              <a:gd name="adj" fmla="val 4528"/>
            </a:avLst>
          </a:prstGeom>
          <a:solidFill>
            <a:srgbClr val="E6F2F2"/>
          </a:solidFill>
          <a:ln w="12700">
            <a:solidFill>
              <a:srgbClr val="E6F2F2"/>
            </a:solidFill>
            <a:prstDash val="solid"/>
          </a:ln>
        </p:spPr>
      </p:sp>
      <p:sp>
        <p:nvSpPr>
          <p:cNvPr id="12" name="Shape 10"/>
          <p:cNvSpPr/>
          <p:nvPr/>
        </p:nvSpPr>
        <p:spPr>
          <a:xfrm>
            <a:off x="6949440" y="1417320"/>
            <a:ext cx="1051560" cy="1051560"/>
          </a:xfrm>
          <a:prstGeom prst="ellipse">
            <a:avLst/>
          </a:prstGeom>
          <a:solidFill>
            <a:srgbClr val="0E7C80"/>
          </a:solidFill>
          <a:ln w="12700">
            <a:solidFill>
              <a:srgbClr val="0E7C80"/>
            </a:solidFill>
            <a:prstDash val="solid"/>
          </a:ln>
        </p:spPr>
      </p:sp>
      <p:pic>
        <p:nvPicPr>
          <p:cNvPr id="13" name="Image 0" descr="preencoded.png">    </p:cNvPr>
          <p:cNvPicPr>
            <a:picLocks noChangeAspect="1"/>
          </p:cNvPicPr>
          <p:nvPr/>
        </p:nvPicPr>
        <p:blipFill>
          <a:blip r:embed="rId1"/>
          <a:stretch>
            <a:fillRect/>
          </a:stretch>
        </p:blipFill>
        <p:spPr>
          <a:xfrm>
            <a:off x="7201814" y="1669694"/>
            <a:ext cx="546811" cy="546811"/>
          </a:xfrm>
          <a:prstGeom prst="rect">
            <a:avLst/>
          </a:prstGeom>
        </p:spPr>
      </p:pic>
      <p:sp>
        <p:nvSpPr>
          <p:cNvPr id="14" name="Text 11"/>
          <p:cNvSpPr txBox="1"/>
          <p:nvPr/>
        </p:nvSpPr>
        <p:spPr>
          <a:xfrm>
            <a:off x="6400800" y="2606040"/>
            <a:ext cx="2148840" cy="365760"/>
          </a:xfrm>
          <a:prstGeom prst="rect">
            <a:avLst/>
          </a:prstGeom>
          <a:noFill/>
          <a:ln/>
        </p:spPr>
        <p:txBody>
          <a:bodyPr wrap="square" lIns="0" tIns="0" rIns="0" bIns="0" rtlCol="0" anchor="ctr"/>
          <a:lstStyle/>
          <a:p>
            <a:pPr algn="ctr" indent="0" marL="0">
              <a:buNone/>
            </a:pPr>
            <a:r>
              <a:rPr lang="en-US" sz="1600" b="1" dirty="0">
                <a:solidFill>
                  <a:schemeClr val="tx2"/>
                </a:solidFill>
                <a:latin typeface="Calibri" pitchFamily="34" charset="0"/>
                <a:ea typeface="Calibri" pitchFamily="34" charset="-122"/>
                <a:cs typeface="Calibri" pitchFamily="34" charset="-120"/>
              </a:rPr>
              <a:t>Worksheet</a:t>
            </a:r>
            <a:endParaRPr lang="en-US" sz="1600" dirty="0"/>
          </a:p>
        </p:txBody>
      </p:sp>
      <p:sp>
        <p:nvSpPr>
          <p:cNvPr id="15" name="Text 12"/>
          <p:cNvSpPr txBox="1"/>
          <p:nvPr/>
        </p:nvSpPr>
        <p:spPr>
          <a:xfrm>
            <a:off x="6400800" y="3017520"/>
            <a:ext cx="2148840" cy="82296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Finishing and Print Check</a:t>
            </a:r>
            <a:endParaRPr lang="en-US" sz="14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Choose Your Challenge</a:t>
            </a:r>
            <a:endParaRPr lang="en-US" sz="3000" dirty="0"/>
          </a:p>
        </p:txBody>
      </p:sp>
      <p:sp>
        <p:nvSpPr>
          <p:cNvPr id="3" name="lvl0"/>
          <p:cNvSpPr/>
          <p:nvPr/>
        </p:nvSpPr>
        <p:spPr>
          <a:xfrm>
            <a:off x="457200" y="1188720"/>
            <a:ext cx="2596896" cy="3246120"/>
          </a:xfrm>
          <a:prstGeom prst="roundRect">
            <a:avLst>
              <a:gd name="adj" fmla="val 4225"/>
            </a:avLst>
          </a:prstGeom>
          <a:solidFill>
            <a:srgbClr val="F3F5F6"/>
          </a:solidFill>
          <a:ln w="12700">
            <a:solidFill>
              <a:srgbClr val="F3F5F6"/>
            </a:solidFill>
            <a:prstDash val="solid"/>
          </a:ln>
        </p:spPr>
      </p:sp>
      <p:sp>
        <p:nvSpPr>
          <p:cNvPr id="4" name="Shape 2"/>
          <p:cNvSpPr/>
          <p:nvPr/>
        </p:nvSpPr>
        <p:spPr>
          <a:xfrm>
            <a:off x="640080" y="1371600"/>
            <a:ext cx="640080" cy="640080"/>
          </a:xfrm>
          <a:prstGeom prst="ellipse">
            <a:avLst/>
          </a:prstGeom>
          <a:solidFill>
            <a:srgbClr val="2E8B57"/>
          </a:solidFill>
          <a:ln w="12700">
            <a:solidFill>
              <a:srgbClr val="2E8B57"/>
            </a:solidFill>
            <a:prstDash val="solid"/>
          </a:ln>
        </p:spPr>
      </p:sp>
      <p:pic>
        <p:nvPicPr>
          <p:cNvPr id="5" name="Image 0" descr="preencoded.png">    </p:cNvPr>
          <p:cNvPicPr>
            <a:picLocks noChangeAspect="1"/>
          </p:cNvPicPr>
          <p:nvPr/>
        </p:nvPicPr>
        <p:blipFill>
          <a:blip r:embed="rId1"/>
          <a:stretch>
            <a:fillRect/>
          </a:stretch>
        </p:blipFill>
        <p:spPr>
          <a:xfrm>
            <a:off x="793699" y="1525219"/>
            <a:ext cx="332842" cy="332842"/>
          </a:xfrm>
          <a:prstGeom prst="rect">
            <a:avLst/>
          </a:prstGeom>
        </p:spPr>
      </p:pic>
      <p:sp>
        <p:nvSpPr>
          <p:cNvPr id="6" name="Text 3"/>
          <p:cNvSpPr txBox="1"/>
          <p:nvPr/>
        </p:nvSpPr>
        <p:spPr>
          <a:xfrm>
            <a:off x="1417320" y="1417320"/>
            <a:ext cx="1554480" cy="548640"/>
          </a:xfrm>
          <a:prstGeom prst="rect">
            <a:avLst/>
          </a:prstGeom>
          <a:noFill/>
          <a:ln/>
        </p:spPr>
        <p:txBody>
          <a:bodyPr wrap="square" lIns="0" tIns="0" rIns="0" bIns="0" rtlCol="0" anchor="ctr"/>
          <a:lstStyle/>
          <a:p>
            <a:pPr indent="0" marL="0">
              <a:buNone/>
            </a:pPr>
            <a:r>
              <a:rPr lang="en-US" sz="2000" b="1" dirty="0">
                <a:solidFill>
                  <a:srgbClr val="2E8B57"/>
                </a:solidFill>
                <a:latin typeface="Calibri" pitchFamily="34" charset="0"/>
                <a:ea typeface="Calibri" pitchFamily="34" charset="-122"/>
                <a:cs typeface="Calibri" pitchFamily="34" charset="-120"/>
              </a:rPr>
              <a:t>Beginning</a:t>
            </a:r>
            <a:endParaRPr lang="en-US" sz="2000" dirty="0"/>
          </a:p>
        </p:txBody>
      </p:sp>
      <p:sp>
        <p:nvSpPr>
          <p:cNvPr id="7" name="Text 4"/>
          <p:cNvSpPr txBox="1"/>
          <p:nvPr/>
        </p:nvSpPr>
        <p:spPr>
          <a:xfrm>
            <a:off x="640080"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Sand by hand with sandpaper first, then use the sanding machine with the teacher beside you.</a:t>
            </a:r>
            <a:endParaRPr lang="en-US" sz="1400" dirty="0"/>
          </a:p>
        </p:txBody>
      </p:sp>
      <p:sp>
        <p:nvSpPr>
          <p:cNvPr id="8" name="lvl1"/>
          <p:cNvSpPr/>
          <p:nvPr/>
        </p:nvSpPr>
        <p:spPr>
          <a:xfrm>
            <a:off x="3273552" y="1188720"/>
            <a:ext cx="2596896" cy="3246120"/>
          </a:xfrm>
          <a:prstGeom prst="roundRect">
            <a:avLst>
              <a:gd name="adj" fmla="val 4225"/>
            </a:avLst>
          </a:prstGeom>
          <a:solidFill>
            <a:srgbClr val="F3F5F6"/>
          </a:solidFill>
          <a:ln w="12700">
            <a:solidFill>
              <a:srgbClr val="F3F5F6"/>
            </a:solidFill>
            <a:prstDash val="solid"/>
          </a:ln>
        </p:spPr>
      </p:sp>
      <p:sp>
        <p:nvSpPr>
          <p:cNvPr id="9" name="Shape 6"/>
          <p:cNvSpPr/>
          <p:nvPr/>
        </p:nvSpPr>
        <p:spPr>
          <a:xfrm>
            <a:off x="3456432" y="1371600"/>
            <a:ext cx="640080" cy="640080"/>
          </a:xfrm>
          <a:prstGeom prst="ellipse">
            <a:avLst/>
          </a:prstGeom>
          <a:solidFill>
            <a:srgbClr val="0E7C80"/>
          </a:solidFill>
          <a:ln w="12700">
            <a:solidFill>
              <a:srgbClr val="0E7C80"/>
            </a:solidFill>
            <a:prstDash val="solid"/>
          </a:ln>
        </p:spPr>
      </p:sp>
      <p:pic>
        <p:nvPicPr>
          <p:cNvPr id="10" name="Image 1" descr="preencoded.png">    </p:cNvPr>
          <p:cNvPicPr>
            <a:picLocks noChangeAspect="1"/>
          </p:cNvPicPr>
          <p:nvPr/>
        </p:nvPicPr>
        <p:blipFill>
          <a:blip r:embed="rId2"/>
          <a:stretch>
            <a:fillRect/>
          </a:stretch>
        </p:blipFill>
        <p:spPr>
          <a:xfrm>
            <a:off x="3610051" y="1525219"/>
            <a:ext cx="332842" cy="332842"/>
          </a:xfrm>
          <a:prstGeom prst="rect">
            <a:avLst/>
          </a:prstGeom>
        </p:spPr>
      </p:pic>
      <p:sp>
        <p:nvSpPr>
          <p:cNvPr id="11" name="Text 7"/>
          <p:cNvSpPr txBox="1"/>
          <p:nvPr/>
        </p:nvSpPr>
        <p:spPr>
          <a:xfrm>
            <a:off x="4233672" y="1417320"/>
            <a:ext cx="1554480" cy="548640"/>
          </a:xfrm>
          <a:prstGeom prst="rect">
            <a:avLst/>
          </a:prstGeom>
          <a:noFill/>
          <a:ln/>
        </p:spPr>
        <p:txBody>
          <a:bodyPr wrap="square" lIns="0" tIns="0" rIns="0" bIns="0" rtlCol="0" anchor="ctr"/>
          <a:lstStyle/>
          <a:p>
            <a:pPr indent="0" marL="0">
              <a:buNone/>
            </a:pPr>
            <a:r>
              <a:rPr lang="en-US" sz="2000" b="1" dirty="0">
                <a:solidFill>
                  <a:srgbClr val="0E7C80"/>
                </a:solidFill>
                <a:latin typeface="Calibri" pitchFamily="34" charset="0"/>
                <a:ea typeface="Calibri" pitchFamily="34" charset="-122"/>
                <a:cs typeface="Calibri" pitchFamily="34" charset="-120"/>
              </a:rPr>
              <a:t>On</a:t>
            </a:r>
            <a:endParaRPr lang="en-US" sz="2000" dirty="0"/>
          </a:p>
        </p:txBody>
      </p:sp>
      <p:sp>
        <p:nvSpPr>
          <p:cNvPr id="12" name="Text 8"/>
          <p:cNvSpPr txBox="1"/>
          <p:nvPr/>
        </p:nvSpPr>
        <p:spPr>
          <a:xfrm>
            <a:off x="3456432"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Finish your piece on the sanding machine and export your model independently.</a:t>
            </a:r>
            <a:endParaRPr lang="en-US" sz="1400" dirty="0"/>
          </a:p>
        </p:txBody>
      </p:sp>
      <p:sp>
        <p:nvSpPr>
          <p:cNvPr id="13" name="lvl2"/>
          <p:cNvSpPr/>
          <p:nvPr/>
        </p:nvSpPr>
        <p:spPr>
          <a:xfrm>
            <a:off x="6089904" y="1188720"/>
            <a:ext cx="2596896" cy="3246120"/>
          </a:xfrm>
          <a:prstGeom prst="roundRect">
            <a:avLst>
              <a:gd name="adj" fmla="val 4225"/>
            </a:avLst>
          </a:prstGeom>
          <a:solidFill>
            <a:srgbClr val="F3F5F6"/>
          </a:solidFill>
          <a:ln w="12700">
            <a:solidFill>
              <a:srgbClr val="F3F5F6"/>
            </a:solidFill>
            <a:prstDash val="solid"/>
          </a:ln>
        </p:spPr>
      </p:sp>
      <p:sp>
        <p:nvSpPr>
          <p:cNvPr id="14" name="Shape 10"/>
          <p:cNvSpPr/>
          <p:nvPr/>
        </p:nvSpPr>
        <p:spPr>
          <a:xfrm>
            <a:off x="6272784" y="1371600"/>
            <a:ext cx="640080" cy="640080"/>
          </a:xfrm>
          <a:prstGeom prst="ellipse">
            <a:avLst/>
          </a:prstGeom>
          <a:solidFill>
            <a:srgbClr val="9E1B4B"/>
          </a:solidFill>
          <a:ln w="12700">
            <a:solidFill>
              <a:srgbClr val="9E1B4B"/>
            </a:solidFill>
            <a:prstDash val="solid"/>
          </a:ln>
        </p:spPr>
      </p:sp>
      <p:pic>
        <p:nvPicPr>
          <p:cNvPr id="15" name="Image 2" descr="preencoded.png">    </p:cNvPr>
          <p:cNvPicPr>
            <a:picLocks noChangeAspect="1"/>
          </p:cNvPicPr>
          <p:nvPr/>
        </p:nvPicPr>
        <p:blipFill>
          <a:blip r:embed="rId3"/>
          <a:stretch>
            <a:fillRect/>
          </a:stretch>
        </p:blipFill>
        <p:spPr>
          <a:xfrm>
            <a:off x="6426403" y="1525219"/>
            <a:ext cx="332842" cy="332842"/>
          </a:xfrm>
          <a:prstGeom prst="rect">
            <a:avLst/>
          </a:prstGeom>
        </p:spPr>
      </p:pic>
      <p:sp>
        <p:nvSpPr>
          <p:cNvPr id="16" name="Text 11"/>
          <p:cNvSpPr txBox="1"/>
          <p:nvPr/>
        </p:nvSpPr>
        <p:spPr>
          <a:xfrm>
            <a:off x="7050024" y="1417320"/>
            <a:ext cx="1554480" cy="548640"/>
          </a:xfrm>
          <a:prstGeom prst="rect">
            <a:avLst/>
          </a:prstGeom>
          <a:noFill/>
          <a:ln/>
        </p:spPr>
        <p:txBody>
          <a:bodyPr wrap="square" lIns="0" tIns="0" rIns="0" bIns="0" rtlCol="0" anchor="ctr"/>
          <a:lstStyle/>
          <a:p>
            <a:pPr indent="0" marL="0">
              <a:buNone/>
            </a:pPr>
            <a:r>
              <a:rPr lang="en-US" sz="2000" b="1" dirty="0">
                <a:solidFill>
                  <a:srgbClr val="9E1B4B"/>
                </a:solidFill>
                <a:latin typeface="Calibri" pitchFamily="34" charset="0"/>
                <a:ea typeface="Calibri" pitchFamily="34" charset="-122"/>
                <a:cs typeface="Calibri" pitchFamily="34" charset="-120"/>
              </a:rPr>
              <a:t>Above</a:t>
            </a:r>
            <a:endParaRPr lang="en-US" sz="2000" dirty="0"/>
          </a:p>
        </p:txBody>
      </p:sp>
      <p:sp>
        <p:nvSpPr>
          <p:cNvPr id="17" name="Text 12"/>
          <p:cNvSpPr txBox="1"/>
          <p:nvPr/>
        </p:nvSpPr>
        <p:spPr>
          <a:xfrm>
            <a:off x="6272784"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Use the hand drill to add a decorative detail, and write a short quality report comparing your piece with a professional product.</a:t>
            </a:r>
            <a:endParaRPr lang="en-US" sz="14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Live Quiz Time</a:t>
            </a:r>
            <a:endParaRPr lang="en-US" sz="3000" dirty="0"/>
          </a:p>
        </p:txBody>
      </p:sp>
      <p:sp>
        <p:nvSpPr>
          <p:cNvPr id="3" name="Shape 1"/>
          <p:cNvSpPr/>
          <p:nvPr/>
        </p:nvSpPr>
        <p:spPr>
          <a:xfrm>
            <a:off x="457200" y="1234440"/>
            <a:ext cx="1463040" cy="1463040"/>
          </a:xfrm>
          <a:prstGeom prst="ellipse">
            <a:avLst/>
          </a:prstGeom>
          <a:solidFill>
            <a:srgbClr val="FFFFFF"/>
          </a:solidFill>
          <a:ln w="12700">
            <a:solidFill>
              <a:srgbClr val="FFFFFF"/>
            </a:solidFill>
            <a:prstDash val="solid"/>
          </a:ln>
        </p:spPr>
      </p:sp>
      <p:pic>
        <p:nvPicPr>
          <p:cNvPr id="4" name="Image 0" descr="preencoded.png">    </p:cNvPr>
          <p:cNvPicPr>
            <a:picLocks noChangeAspect="1"/>
          </p:cNvPicPr>
          <p:nvPr/>
        </p:nvPicPr>
        <p:blipFill>
          <a:blip r:embed="rId1"/>
          <a:stretch>
            <a:fillRect/>
          </a:stretch>
        </p:blipFill>
        <p:spPr>
          <a:xfrm>
            <a:off x="808330" y="1585570"/>
            <a:ext cx="760781" cy="760781"/>
          </a:xfrm>
          <a:prstGeom prst="rect">
            <a:avLst/>
          </a:prstGeom>
        </p:spPr>
      </p:pic>
      <p:sp>
        <p:nvSpPr>
          <p:cNvPr id="5" name="Text 2"/>
          <p:cNvSpPr txBox="1"/>
          <p:nvPr/>
        </p:nvSpPr>
        <p:spPr>
          <a:xfrm>
            <a:off x="2286000" y="1234440"/>
            <a:ext cx="6400800" cy="2194560"/>
          </a:xfrm>
          <a:prstGeom prst="rect">
            <a:avLst/>
          </a:prstGeom>
          <a:noFill/>
          <a:ln/>
        </p:spPr>
        <p:txBody>
          <a:bodyPr wrap="square" lIns="0" tIns="0" rIns="0" bIns="0" rtlCol="0" anchor="t"/>
          <a:lstStyle/>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1. Open the TCD website and tap Join a Quiz.</a:t>
            </a:r>
            <a:endParaRPr lang="en-US" sz="1800" dirty="0"/>
          </a:p>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2. Enter the quiz code on the board.</a:t>
            </a:r>
            <a:endParaRPr lang="en-US" sz="1800" dirty="0"/>
          </a:p>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3. Type your Student ID, first name and last name.</a:t>
            </a:r>
            <a:endParaRPr lang="en-US" sz="1800" dirty="0"/>
          </a:p>
          <a:p>
            <a:pPr indent="0" marL="0">
              <a:buNone/>
            </a:pPr>
            <a:r>
              <a:rPr lang="en-US" sz="1800" dirty="0">
                <a:solidFill>
                  <a:schemeClr val="bg1"/>
                </a:solidFill>
                <a:latin typeface="Calibri" pitchFamily="34" charset="0"/>
                <a:ea typeface="Calibri" pitchFamily="34" charset="-122"/>
                <a:cs typeface="Calibri" pitchFamily="34" charset="-120"/>
              </a:rPr>
              <a:t>4. Answer 8 questions. Fast and correct answers score more points!</a:t>
            </a:r>
            <a:endParaRPr lang="en-US" sz="1800" dirty="0"/>
          </a:p>
        </p:txBody>
      </p:sp>
      <p:sp>
        <p:nvSpPr>
          <p:cNvPr id="6" name="codeBox"/>
          <p:cNvSpPr/>
          <p:nvPr/>
        </p:nvSpPr>
        <p:spPr>
          <a:xfrm>
            <a:off x="2286000" y="3611880"/>
            <a:ext cx="3840480" cy="777240"/>
          </a:xfrm>
          <a:prstGeom prst="roundRect">
            <a:avLst>
              <a:gd name="adj" fmla="val 14118"/>
            </a:avLst>
          </a:prstGeom>
          <a:solidFill>
            <a:srgbClr val="FFFFFF"/>
          </a:solidFill>
          <a:ln w="12700">
            <a:solidFill>
              <a:srgbClr val="FFFFFF"/>
            </a:solidFill>
            <a:prstDash val="solid"/>
          </a:ln>
        </p:spPr>
      </p:sp>
      <p:sp>
        <p:nvSpPr>
          <p:cNvPr id="7" name="Text 4"/>
          <p:cNvSpPr txBox="1"/>
          <p:nvPr/>
        </p:nvSpPr>
        <p:spPr>
          <a:xfrm>
            <a:off x="2286000" y="3611880"/>
            <a:ext cx="3840480" cy="777240"/>
          </a:xfrm>
          <a:prstGeom prst="rect">
            <a:avLst/>
          </a:prstGeom>
          <a:noFill/>
          <a:ln/>
        </p:spPr>
        <p:txBody>
          <a:bodyPr wrap="square" lIns="0" tIns="0" rIns="0" bIns="0" rtlCol="0" anchor="ctr"/>
          <a:lstStyle/>
          <a:p>
            <a:pPr algn="ctr" indent="0" marL="0">
              <a:buNone/>
            </a:pPr>
            <a:r>
              <a:rPr lang="en-US" sz="2200" b="1" dirty="0">
                <a:solidFill>
                  <a:srgbClr val="0E7C80"/>
                </a:solidFill>
                <a:latin typeface="Calibri" pitchFamily="34" charset="0"/>
                <a:ea typeface="Calibri" pitchFamily="34" charset="-122"/>
                <a:cs typeface="Calibri" pitchFamily="34" charset="-120"/>
              </a:rPr>
              <a:t>Quiz code:  _ _ _ _ _ _</a:t>
            </a:r>
            <a:endParaRPr lang="en-US" sz="22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Reflect: Exit Ticket</a:t>
            </a:r>
            <a:endParaRPr lang="en-US" sz="3000" dirty="0"/>
          </a:p>
        </p:txBody>
      </p:sp>
      <p:sp>
        <p:nvSpPr>
          <p:cNvPr id="3" name="ref0"/>
          <p:cNvSpPr/>
          <p:nvPr/>
        </p:nvSpPr>
        <p:spPr>
          <a:xfrm>
            <a:off x="457200" y="1188720"/>
            <a:ext cx="4754880" cy="777240"/>
          </a:xfrm>
          <a:prstGeom prst="roundRect">
            <a:avLst>
              <a:gd name="adj" fmla="val 14118"/>
            </a:avLst>
          </a:prstGeom>
          <a:solidFill>
            <a:srgbClr val="E6F2F2"/>
          </a:solidFill>
          <a:ln w="12700">
            <a:solidFill>
              <a:srgbClr val="E6F2F2"/>
            </a:solidFill>
            <a:prstDash val="solid"/>
          </a:ln>
        </p:spPr>
      </p:sp>
      <p:sp>
        <p:nvSpPr>
          <p:cNvPr id="4" name="Text 2"/>
          <p:cNvSpPr txBox="1"/>
          <p:nvPr/>
        </p:nvSpPr>
        <p:spPr>
          <a:xfrm>
            <a:off x="640080" y="11887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Which machine safety rule did you follow most carefully?</a:t>
            </a:r>
            <a:endParaRPr lang="en-US" sz="1600" dirty="0"/>
          </a:p>
        </p:txBody>
      </p:sp>
      <p:sp>
        <p:nvSpPr>
          <p:cNvPr id="5" name="ref1"/>
          <p:cNvSpPr/>
          <p:nvPr/>
        </p:nvSpPr>
        <p:spPr>
          <a:xfrm>
            <a:off x="457200" y="2103120"/>
            <a:ext cx="4754880" cy="777240"/>
          </a:xfrm>
          <a:prstGeom prst="roundRect">
            <a:avLst>
              <a:gd name="adj" fmla="val 14118"/>
            </a:avLst>
          </a:prstGeom>
          <a:solidFill>
            <a:srgbClr val="F3F5F6"/>
          </a:solidFill>
          <a:ln w="12700">
            <a:solidFill>
              <a:srgbClr val="F3F5F6"/>
            </a:solidFill>
            <a:prstDash val="solid"/>
          </a:ln>
        </p:spPr>
      </p:sp>
      <p:sp>
        <p:nvSpPr>
          <p:cNvPr id="6" name="Text 4"/>
          <p:cNvSpPr txBox="1"/>
          <p:nvPr/>
        </p:nvSpPr>
        <p:spPr>
          <a:xfrm>
            <a:off x="640080" y="21031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How did finishing change your maker mark?</a:t>
            </a:r>
            <a:endParaRPr lang="en-US" sz="1600" dirty="0"/>
          </a:p>
        </p:txBody>
      </p:sp>
      <p:sp>
        <p:nvSpPr>
          <p:cNvPr id="7" name="Text 5"/>
          <p:cNvSpPr txBox="1"/>
          <p:nvPr/>
        </p:nvSpPr>
        <p:spPr>
          <a:xfrm>
            <a:off x="5577840" y="1188720"/>
            <a:ext cx="3108960" cy="3657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Check your success criteria</a:t>
            </a:r>
            <a:endParaRPr lang="en-US" sz="1500" dirty="0"/>
          </a:p>
        </p:txBody>
      </p:sp>
      <p:sp>
        <p:nvSpPr>
          <p:cNvPr id="8" name="Text 6"/>
          <p:cNvSpPr txBox="1"/>
          <p:nvPr/>
        </p:nvSpPr>
        <p:spPr>
          <a:xfrm>
            <a:off x="5577840" y="1645920"/>
            <a:ext cx="310896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name the Unimat Cool Tools machines and what each one does.</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sand and finish my maker mark safely using the sanding machine.</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follow the safety rules for machine tools every time.</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check and export my Junior Engineer model for printing.</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TCD Dubai">
  <a:themeElements>
    <a:clrScheme name="TCD Dubai">
      <a:dk1>
        <a:srgbClr val="1F2A33"/>
      </a:dk1>
      <a:lt1>
        <a:srgbClr val="FFFFFF"/>
      </a:lt1>
      <a:dk2>
        <a:srgbClr val="0E7C80"/>
      </a:dk2>
      <a:lt2>
        <a:srgbClr val="E6F2F2"/>
      </a:lt2>
      <a:accent1>
        <a:srgbClr val="0E7C80"/>
      </a:accent1>
      <a:accent2>
        <a:srgbClr val="9E1B4B"/>
      </a:accent2>
      <a:accent3>
        <a:srgbClr val="F2A31B"/>
      </a:accent3>
      <a:accent4>
        <a:srgbClr val="2E8B57"/>
      </a:accent4>
      <a:accent5>
        <a:srgbClr val="3A6EA5"/>
      </a:accent5>
      <a:accent6>
        <a:srgbClr val="5F6B73"/>
      </a:accent6>
      <a:hlink>
        <a:srgbClr val="0E7C80"/>
      </a:hlink>
      <a:folHlink>
        <a:srgbClr val="9E1B4B"/>
      </a:folHlink>
    </a:clrScheme>
    <a:fontScheme name="TCD Dubai">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Emirates National Schools TCD Dubai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 Maker Mark: Unimat Cool Tools and 3D Print</dc:title>
  <dc:subject>PptxGenJS Presentation</dc:subject>
  <dc:creator>Ms. Lubna Kakkengal and Mr. Dilan Devendra</dc:creator>
  <cp:lastModifiedBy>Ms. Lubna Kakkengal and Mr. Dilan Devendra</cp:lastModifiedBy>
  <cp:revision>1</cp:revision>
  <dcterms:created xsi:type="dcterms:W3CDTF">2026-10-24T13:20:58Z</dcterms:created>
  <dcterms:modified xsi:type="dcterms:W3CDTF">2026-10-24T13:20:58Z</dcterms:modified>
</cp:coreProperties>
</file>