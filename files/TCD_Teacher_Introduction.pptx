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8" r:id="rId6"/>
    <p:sldId id="262" r:id="rId7"/>
    <p:sldId id="264" r:id="rId8"/>
    <p:sldId id="263" r:id="rId9"/>
    <p:sldId id="265" r:id="rId10"/>
    <p:sldId id="27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bna Kakkengal" userId="e6498a5d-28b3-4b6a-8ee9-60ac9fa7031d" providerId="ADAL" clId="{0FAFB8D6-C382-49D4-A18A-845D8C692B21}"/>
    <pc:docChg chg="undo custSel delSld modSld sldOrd">
      <pc:chgData name="Lubna Kakkengal" userId="e6498a5d-28b3-4b6a-8ee9-60ac9fa7031d" providerId="ADAL" clId="{0FAFB8D6-C382-49D4-A18A-845D8C692B21}" dt="2026-05-15T06:08:45.294" v="156" actId="20577"/>
      <pc:docMkLst>
        <pc:docMk/>
      </pc:docMkLst>
      <pc:sldChg chg="modSp mod">
        <pc:chgData name="Lubna Kakkengal" userId="e6498a5d-28b3-4b6a-8ee9-60ac9fa7031d" providerId="ADAL" clId="{0FAFB8D6-C382-49D4-A18A-845D8C692B21}" dt="2026-05-15T06:08:45.294" v="156" actId="20577"/>
        <pc:sldMkLst>
          <pc:docMk/>
          <pc:sldMk cId="0" sldId="256"/>
        </pc:sldMkLst>
        <pc:spChg chg="mod">
          <ac:chgData name="Lubna Kakkengal" userId="e6498a5d-28b3-4b6a-8ee9-60ac9fa7031d" providerId="ADAL" clId="{0FAFB8D6-C382-49D4-A18A-845D8C692B21}" dt="2026-05-15T06:08:45.294" v="156" actId="20577"/>
          <ac:spMkLst>
            <pc:docMk/>
            <pc:sldMk cId="0" sldId="256"/>
            <ac:spMk id="12" creationId="{00000000-0000-0000-0000-000000000000}"/>
          </ac:spMkLst>
        </pc:spChg>
      </pc:sldChg>
      <pc:sldChg chg="modSp mod">
        <pc:chgData name="Lubna Kakkengal" userId="e6498a5d-28b3-4b6a-8ee9-60ac9fa7031d" providerId="ADAL" clId="{0FAFB8D6-C382-49D4-A18A-845D8C692B21}" dt="2026-05-15T05:49:36.114" v="1" actId="14100"/>
        <pc:sldMkLst>
          <pc:docMk/>
          <pc:sldMk cId="0" sldId="259"/>
        </pc:sldMkLst>
        <pc:picChg chg="mod">
          <ac:chgData name="Lubna Kakkengal" userId="e6498a5d-28b3-4b6a-8ee9-60ac9fa7031d" providerId="ADAL" clId="{0FAFB8D6-C382-49D4-A18A-845D8C692B21}" dt="2026-05-15T05:49:36.114" v="1" actId="14100"/>
          <ac:picMkLst>
            <pc:docMk/>
            <pc:sldMk cId="0" sldId="259"/>
            <ac:picMk id="3" creationId="{00000000-0000-0000-0000-000000000000}"/>
          </ac:picMkLst>
        </pc:picChg>
      </pc:sldChg>
      <pc:sldChg chg="del">
        <pc:chgData name="Lubna Kakkengal" userId="e6498a5d-28b3-4b6a-8ee9-60ac9fa7031d" providerId="ADAL" clId="{0FAFB8D6-C382-49D4-A18A-845D8C692B21}" dt="2026-05-15T06:07:09.419" v="146" actId="47"/>
        <pc:sldMkLst>
          <pc:docMk/>
          <pc:sldMk cId="0" sldId="260"/>
        </pc:sldMkLst>
      </pc:sldChg>
      <pc:sldChg chg="del ord">
        <pc:chgData name="Lubna Kakkengal" userId="e6498a5d-28b3-4b6a-8ee9-60ac9fa7031d" providerId="ADAL" clId="{0FAFB8D6-C382-49D4-A18A-845D8C692B21}" dt="2026-05-15T06:08:03.504" v="151" actId="47"/>
        <pc:sldMkLst>
          <pc:docMk/>
          <pc:sldMk cId="0" sldId="261"/>
        </pc:sldMkLst>
      </pc:sldChg>
      <pc:sldChg chg="ord">
        <pc:chgData name="Lubna Kakkengal" userId="e6498a5d-28b3-4b6a-8ee9-60ac9fa7031d" providerId="ADAL" clId="{0FAFB8D6-C382-49D4-A18A-845D8C692B21}" dt="2026-05-15T06:07:27.927" v="150"/>
        <pc:sldMkLst>
          <pc:docMk/>
          <pc:sldMk cId="0" sldId="262"/>
        </pc:sldMkLst>
      </pc:sldChg>
      <pc:sldChg chg="delSp modSp mod ord">
        <pc:chgData name="Lubna Kakkengal" userId="e6498a5d-28b3-4b6a-8ee9-60ac9fa7031d" providerId="ADAL" clId="{0FAFB8D6-C382-49D4-A18A-845D8C692B21}" dt="2026-05-15T06:07:18.781" v="148"/>
        <pc:sldMkLst>
          <pc:docMk/>
          <pc:sldMk cId="0" sldId="264"/>
        </pc:sldMkLst>
        <pc:spChg chg="mod">
          <ac:chgData name="Lubna Kakkengal" userId="e6498a5d-28b3-4b6a-8ee9-60ac9fa7031d" providerId="ADAL" clId="{0FAFB8D6-C382-49D4-A18A-845D8C692B21}" dt="2026-05-15T05:53:01.952" v="29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3:19.158" v="40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3:24.272" v="49" actId="20577"/>
          <ac:spMkLst>
            <pc:docMk/>
            <pc:sldMk cId="0" sldId="264"/>
            <ac:spMk id="14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4:48.871" v="121" actId="103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4:48.871" v="121" actId="1038"/>
          <ac:spMkLst>
            <pc:docMk/>
            <pc:sldMk cId="0" sldId="264"/>
            <ac:spMk id="18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4:48.871" v="121" actId="1038"/>
          <ac:spMkLst>
            <pc:docMk/>
            <pc:sldMk cId="0" sldId="264"/>
            <ac:spMk id="19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4:48.871" v="121" actId="1038"/>
          <ac:spMkLst>
            <pc:docMk/>
            <pc:sldMk cId="0" sldId="264"/>
            <ac:spMk id="20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5:54:48.871" v="121" actId="103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Lubna Kakkengal" userId="e6498a5d-28b3-4b6a-8ee9-60ac9fa7031d" providerId="ADAL" clId="{0FAFB8D6-C382-49D4-A18A-845D8C692B21}" dt="2026-05-15T05:53:31.061" v="51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Lubna Kakkengal" userId="e6498a5d-28b3-4b6a-8ee9-60ac9fa7031d" providerId="ADAL" clId="{0FAFB8D6-C382-49D4-A18A-845D8C692B21}" dt="2026-05-15T05:53:28.252" v="50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Lubna Kakkengal" userId="e6498a5d-28b3-4b6a-8ee9-60ac9fa7031d" providerId="ADAL" clId="{0FAFB8D6-C382-49D4-A18A-845D8C692B21}" dt="2026-05-15T05:55:01.156" v="122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Lubna Kakkengal" userId="e6498a5d-28b3-4b6a-8ee9-60ac9fa7031d" providerId="ADAL" clId="{0FAFB8D6-C382-49D4-A18A-845D8C692B21}" dt="2026-05-15T05:53:36.207" v="52" actId="478"/>
          <ac:spMkLst>
            <pc:docMk/>
            <pc:sldMk cId="0" sldId="264"/>
            <ac:spMk id="25" creationId="{00000000-0000-0000-0000-000000000000}"/>
          </ac:spMkLst>
        </pc:spChg>
        <pc:spChg chg="del mod">
          <ac:chgData name="Lubna Kakkengal" userId="e6498a5d-28b3-4b6a-8ee9-60ac9fa7031d" providerId="ADAL" clId="{0FAFB8D6-C382-49D4-A18A-845D8C692B21}" dt="2026-05-15T05:54:28.031" v="64" actId="478"/>
          <ac:spMkLst>
            <pc:docMk/>
            <pc:sldMk cId="0" sldId="264"/>
            <ac:spMk id="26" creationId="{00000000-0000-0000-0000-000000000000}"/>
          </ac:spMkLst>
        </pc:spChg>
      </pc:sldChg>
      <pc:sldChg chg="modSp mod">
        <pc:chgData name="Lubna Kakkengal" userId="e6498a5d-28b3-4b6a-8ee9-60ac9fa7031d" providerId="ADAL" clId="{0FAFB8D6-C382-49D4-A18A-845D8C692B21}" dt="2026-05-15T06:01:43.700" v="132" actId="20577"/>
        <pc:sldMkLst>
          <pc:docMk/>
          <pc:sldMk cId="0" sldId="265"/>
        </pc:sldMkLst>
        <pc:spChg chg="mod">
          <ac:chgData name="Lubna Kakkengal" userId="e6498a5d-28b3-4b6a-8ee9-60ac9fa7031d" providerId="ADAL" clId="{0FAFB8D6-C382-49D4-A18A-845D8C692B21}" dt="2026-05-15T05:56:18.007" v="124" actId="20577"/>
          <ac:spMkLst>
            <pc:docMk/>
            <pc:sldMk cId="0" sldId="265"/>
            <ac:spMk id="18" creationId="{00000000-0000-0000-0000-000000000000}"/>
          </ac:spMkLst>
        </pc:spChg>
        <pc:spChg chg="mod">
          <ac:chgData name="Lubna Kakkengal" userId="e6498a5d-28b3-4b6a-8ee9-60ac9fa7031d" providerId="ADAL" clId="{0FAFB8D6-C382-49D4-A18A-845D8C692B21}" dt="2026-05-15T06:01:43.700" v="132" actId="20577"/>
          <ac:spMkLst>
            <pc:docMk/>
            <pc:sldMk cId="0" sldId="265"/>
            <ac:spMk id="24" creationId="{00000000-0000-0000-0000-000000000000}"/>
          </ac:spMkLst>
        </pc:spChg>
      </pc:sldChg>
      <pc:sldChg chg="del ord">
        <pc:chgData name="Lubna Kakkengal" userId="e6498a5d-28b3-4b6a-8ee9-60ac9fa7031d" providerId="ADAL" clId="{0FAFB8D6-C382-49D4-A18A-845D8C692B21}" dt="2026-05-15T06:07:05.285" v="145" actId="47"/>
        <pc:sldMkLst>
          <pc:docMk/>
          <pc:sldMk cId="0" sldId="266"/>
        </pc:sldMkLst>
      </pc:sldChg>
      <pc:sldChg chg="ord">
        <pc:chgData name="Lubna Kakkengal" userId="e6498a5d-28b3-4b6a-8ee9-60ac9fa7031d" providerId="ADAL" clId="{0FAFB8D6-C382-49D4-A18A-845D8C692B21}" dt="2026-05-15T06:01:57.945" v="134"/>
        <pc:sldMkLst>
          <pc:docMk/>
          <pc:sldMk cId="0" sldId="268"/>
        </pc:sldMkLst>
      </pc:sldChg>
      <pc:sldChg chg="del">
        <pc:chgData name="Lubna Kakkengal" userId="e6498a5d-28b3-4b6a-8ee9-60ac9fa7031d" providerId="ADAL" clId="{0FAFB8D6-C382-49D4-A18A-845D8C692B21}" dt="2026-05-15T06:08:18.418" v="152" actId="4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5355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7rwNMRkWOEY" TargetMode="Externa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jpeg"/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2.jpe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6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2.jpe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jpeg"/><Relationship Id="rId3" Type="http://schemas.openxmlformats.org/officeDocument/2006/relationships/image" Target="../media/image1.jpeg"/><Relationship Id="rId7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jpeg"/><Relationship Id="rId5" Type="http://schemas.openxmlformats.org/officeDocument/2006/relationships/image" Target="../media/image24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109728" cy="5143500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3474720" cy="388620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75" y="107266"/>
            <a:ext cx="516988" cy="51698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84407"/>
            <a:ext cx="1005840" cy="373134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alphaModFix amt="25000"/>
          </a:blip>
          <a:stretch>
            <a:fillRect/>
          </a:stretch>
        </p:blipFill>
        <p:spPr>
          <a:xfrm>
            <a:off x="576775" y="1885071"/>
            <a:ext cx="2560320" cy="2560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49040" y="36576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&amp;</a:t>
            </a:r>
            <a:endParaRPr lang="en-US" sz="4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Career Centre</a:t>
            </a:r>
            <a:endParaRPr lang="en-US" sz="4000" dirty="0"/>
          </a:p>
        </p:txBody>
      </p:sp>
      <p:sp>
        <p:nvSpPr>
          <p:cNvPr id="10" name="Text 5"/>
          <p:cNvSpPr/>
          <p:nvPr/>
        </p:nvSpPr>
        <p:spPr>
          <a:xfrm>
            <a:off x="3749040" y="2148840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B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Dubai  ·  TCD</a:t>
            </a:r>
            <a:endParaRPr lang="en-US" sz="2400" dirty="0"/>
          </a:p>
        </p:txBody>
      </p:sp>
      <p:sp>
        <p:nvSpPr>
          <p:cNvPr id="11" name="Shape 6"/>
          <p:cNvSpPr/>
          <p:nvPr/>
        </p:nvSpPr>
        <p:spPr>
          <a:xfrm>
            <a:off x="3749040" y="2715768"/>
            <a:ext cx="5029200" cy="64008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2" name="Text 7"/>
          <p:cNvSpPr/>
          <p:nvPr/>
        </p:nvSpPr>
        <p:spPr>
          <a:xfrm>
            <a:off x="3749040" y="2834640"/>
            <a:ext cx="5212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Introduction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National </a:t>
            </a:r>
            <a:r>
              <a:rPr lang="en-US" sz="1400">
                <a:solidFill>
                  <a:srgbClr val="9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, Dubai </a:t>
            </a:r>
            <a:r>
              <a:rPr lang="en-US" sz="1400" dirty="0">
                <a:solidFill>
                  <a:srgbClr val="9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Khawaneej 2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749040" y="429768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8B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Your Creativity  ·  Build Your Future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TCD?  —  The Big Picture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028" y="91440"/>
            <a:ext cx="530352" cy="5303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4"/>
          <p:cNvSpPr/>
          <p:nvPr/>
        </p:nvSpPr>
        <p:spPr>
          <a:xfrm>
            <a:off x="256032" y="914400"/>
            <a:ext cx="2743200" cy="182880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872" y="1188720"/>
            <a:ext cx="731520" cy="731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65760" y="20116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DOING Engine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93192" y="26517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TCD is the applied-learning heart of ENS Dubai. NOT extra-curricular — it IS the curriculum, made visible and tangible for every student.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3163824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8"/>
          <p:cNvSpPr/>
          <p:nvPr/>
        </p:nvSpPr>
        <p:spPr>
          <a:xfrm>
            <a:off x="3163824" y="914400"/>
            <a:ext cx="2743200" cy="182880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9664" y="1188720"/>
            <a:ext cx="731520" cy="7315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273552" y="20116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Workshops, 10 Skills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3300984" y="26517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multi-skill workshops cover 10+ different activities — robotics, cool tools, 3D printing, jewellery, candle-making, coding and more.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6071616" y="91440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2"/>
          <p:cNvSpPr/>
          <p:nvPr/>
        </p:nvSpPr>
        <p:spPr>
          <a:xfrm>
            <a:off x="6071616" y="914400"/>
            <a:ext cx="2743200" cy="182880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7456" y="1188720"/>
            <a:ext cx="731520" cy="7315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181344" y="2011680"/>
            <a:ext cx="2523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Subject Lives Here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6208776" y="265176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TCD project is linked to Science, Maths, English, Arts, Social Studies, ICT,.. You bring the theory. TCD turns it into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TCD (Dubai) vs TCC (MBZ &amp; Al Ain) — What's Different?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116" y="91440"/>
            <a:ext cx="517691" cy="517691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914400"/>
            <a:ext cx="42062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4"/>
          <p:cNvSpPr/>
          <p:nvPr/>
        </p:nvSpPr>
        <p:spPr>
          <a:xfrm>
            <a:off x="274320" y="914400"/>
            <a:ext cx="4206240" cy="475488"/>
          </a:xfrm>
          <a:prstGeom prst="rect">
            <a:avLst/>
          </a:prstGeom>
          <a:solidFill>
            <a:srgbClr val="6E7878"/>
          </a:solidFill>
          <a:ln w="12700">
            <a:solidFill>
              <a:srgbClr val="6E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5"/>
          <p:cNvSpPr/>
          <p:nvPr/>
        </p:nvSpPr>
        <p:spPr>
          <a:xfrm>
            <a:off x="384048" y="914400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TCC  —  </a:t>
            </a: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  <a:hlinkClick r:id="rId5"/>
              </a:rPr>
              <a:t>MBZ</a:t>
            </a: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&amp; Al Ain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457200" y="148132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19+ specialist workshops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fabrication labs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wood, construction, electrical, cooking, automotive, information </a:t>
            </a:r>
            <a:r>
              <a:rPr lang="en-US" sz="1300" dirty="0" err="1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techhnology</a:t>
            </a: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fashion, health, media, smart building, </a:t>
            </a:r>
            <a:r>
              <a:rPr lang="en-US" sz="1300" dirty="0" err="1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pathway specialisation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select ONE pathway to deep-dive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754880" y="914400"/>
            <a:ext cx="4206240" cy="40050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8"/>
          <p:cNvSpPr/>
          <p:nvPr/>
        </p:nvSpPr>
        <p:spPr>
          <a:xfrm>
            <a:off x="4754880" y="914400"/>
            <a:ext cx="4206240" cy="47548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9"/>
          <p:cNvSpPr/>
          <p:nvPr/>
        </p:nvSpPr>
        <p:spPr>
          <a:xfrm>
            <a:off x="4864608" y="914400"/>
            <a:ext cx="39867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TCD  —  Dubai  (US!)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937760" y="1481328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multi-skill workshops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different skills in ONE flexible space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4–8 broad foundations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experiences ALL skill areas</a:t>
            </a:r>
            <a:endParaRPr lang="en-US" sz="130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curiosity → leads to TCC pathways later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20040" y="4782312"/>
            <a:ext cx="8595360" cy="274320"/>
          </a:xfrm>
          <a:prstGeom prst="rect">
            <a:avLst/>
          </a:prstGeom>
          <a:solidFill>
            <a:srgbClr val="E8BE60"/>
          </a:solidFill>
          <a:ln w="12700">
            <a:solidFill>
              <a:srgbClr val="E8BE6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6" name="Text 12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TCD = The entry point that builds curiosity &amp; skills → leading to TCC pathway specialisation in higher grades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9144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Skills in 2 Workshops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91440"/>
            <a:ext cx="594360" cy="5943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91440"/>
            <a:ext cx="123444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583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B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rotate through these skills across Grades 4–8</a:t>
            </a:r>
            <a:endParaRPr lang="en-US" sz="1200" dirty="0"/>
          </a:p>
        </p:txBody>
      </p:sp>
      <p:sp>
        <p:nvSpPr>
          <p:cNvPr id="6" name="Shape 2"/>
          <p:cNvSpPr/>
          <p:nvPr/>
        </p:nvSpPr>
        <p:spPr>
          <a:xfrm>
            <a:off x="164592" y="1051560"/>
            <a:ext cx="1627632" cy="1737360"/>
          </a:xfrm>
          <a:prstGeom prst="rect">
            <a:avLst/>
          </a:prstGeom>
          <a:solidFill>
            <a:srgbClr val="821E3C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7" name="Shape 3"/>
          <p:cNvSpPr/>
          <p:nvPr/>
        </p:nvSpPr>
        <p:spPr>
          <a:xfrm>
            <a:off x="210312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8" name="Text 4"/>
          <p:cNvSpPr/>
          <p:nvPr/>
        </p:nvSpPr>
        <p:spPr>
          <a:xfrm>
            <a:off x="210312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1216152"/>
            <a:ext cx="54864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28600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Candle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1920240" y="1051560"/>
            <a:ext cx="1627632" cy="1737360"/>
          </a:xfrm>
          <a:prstGeom prst="rect">
            <a:avLst/>
          </a:prstGeom>
          <a:solidFill>
            <a:srgbClr val="007878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7"/>
          <p:cNvSpPr/>
          <p:nvPr/>
        </p:nvSpPr>
        <p:spPr>
          <a:xfrm>
            <a:off x="1965960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8"/>
          <p:cNvSpPr/>
          <p:nvPr/>
        </p:nvSpPr>
        <p:spPr>
          <a:xfrm>
            <a:off x="1965960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984248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3675888" y="1051560"/>
            <a:ext cx="1627632" cy="1737360"/>
          </a:xfrm>
          <a:prstGeom prst="rect">
            <a:avLst/>
          </a:prstGeom>
          <a:solidFill>
            <a:srgbClr val="6A1B9A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7" name="Shape 11"/>
          <p:cNvSpPr/>
          <p:nvPr/>
        </p:nvSpPr>
        <p:spPr>
          <a:xfrm>
            <a:off x="3721608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2"/>
          <p:cNvSpPr/>
          <p:nvPr/>
        </p:nvSpPr>
        <p:spPr>
          <a:xfrm>
            <a:off x="3721608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384" y="121615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739896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Design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Branding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5431536" y="1051560"/>
            <a:ext cx="1627632" cy="1737360"/>
          </a:xfrm>
          <a:prstGeom prst="rect">
            <a:avLst/>
          </a:prstGeom>
          <a:solidFill>
            <a:srgbClr val="AD1457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5"/>
          <p:cNvSpPr/>
          <p:nvPr/>
        </p:nvSpPr>
        <p:spPr>
          <a:xfrm>
            <a:off x="5477256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16"/>
          <p:cNvSpPr/>
          <p:nvPr/>
        </p:nvSpPr>
        <p:spPr>
          <a:xfrm>
            <a:off x="5477256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5495544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26" name="Shape 18"/>
          <p:cNvSpPr/>
          <p:nvPr/>
        </p:nvSpPr>
        <p:spPr>
          <a:xfrm>
            <a:off x="7187184" y="1051560"/>
            <a:ext cx="1627632" cy="1737360"/>
          </a:xfrm>
          <a:prstGeom prst="rect">
            <a:avLst/>
          </a:prstGeom>
          <a:solidFill>
            <a:srgbClr val="005050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7" name="Shape 19"/>
          <p:cNvSpPr/>
          <p:nvPr/>
        </p:nvSpPr>
        <p:spPr>
          <a:xfrm>
            <a:off x="7232904" y="1106424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8" name="Text 20"/>
          <p:cNvSpPr/>
          <p:nvPr/>
        </p:nvSpPr>
        <p:spPr>
          <a:xfrm>
            <a:off x="7232904" y="11064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6680" y="1216152"/>
            <a:ext cx="548640" cy="54864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51192" y="1856232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150" dirty="0"/>
          </a:p>
        </p:txBody>
      </p:sp>
      <p:sp>
        <p:nvSpPr>
          <p:cNvPr id="31" name="Shape 22"/>
          <p:cNvSpPr/>
          <p:nvPr/>
        </p:nvSpPr>
        <p:spPr>
          <a:xfrm>
            <a:off x="164592" y="2953512"/>
            <a:ext cx="1627632" cy="1737360"/>
          </a:xfrm>
          <a:prstGeom prst="rect">
            <a:avLst/>
          </a:prstGeom>
          <a:solidFill>
            <a:srgbClr val="1565C0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2" name="Shape 23"/>
          <p:cNvSpPr/>
          <p:nvPr/>
        </p:nvSpPr>
        <p:spPr>
          <a:xfrm>
            <a:off x="210312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3" name="Text 24"/>
          <p:cNvSpPr/>
          <p:nvPr/>
        </p:nvSpPr>
        <p:spPr>
          <a:xfrm>
            <a:off x="210312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20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088" y="3118104"/>
            <a:ext cx="548640" cy="54864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28600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Design &amp;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Printing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1920240" y="2953512"/>
            <a:ext cx="1627632" cy="1737360"/>
          </a:xfrm>
          <a:prstGeom prst="rect">
            <a:avLst/>
          </a:prstGeom>
          <a:solidFill>
            <a:srgbClr val="821E3C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7" name="Shape 27"/>
          <p:cNvSpPr/>
          <p:nvPr/>
        </p:nvSpPr>
        <p:spPr>
          <a:xfrm>
            <a:off x="1965960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8" name="Text 28"/>
          <p:cNvSpPr/>
          <p:nvPr/>
        </p:nvSpPr>
        <p:spPr>
          <a:xfrm>
            <a:off x="1965960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29"/>
          <p:cNvSpPr/>
          <p:nvPr/>
        </p:nvSpPr>
        <p:spPr>
          <a:xfrm>
            <a:off x="1984248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Laser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</a:t>
            </a:r>
            <a:endParaRPr lang="en-US" sz="1150" dirty="0"/>
          </a:p>
        </p:txBody>
      </p:sp>
      <p:sp>
        <p:nvSpPr>
          <p:cNvPr id="41" name="Shape 30"/>
          <p:cNvSpPr/>
          <p:nvPr/>
        </p:nvSpPr>
        <p:spPr>
          <a:xfrm>
            <a:off x="3675888" y="2953512"/>
            <a:ext cx="1627632" cy="1737360"/>
          </a:xfrm>
          <a:prstGeom prst="rect">
            <a:avLst/>
          </a:prstGeom>
          <a:solidFill>
            <a:srgbClr val="4E342E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2" name="Shape 31"/>
          <p:cNvSpPr/>
          <p:nvPr/>
        </p:nvSpPr>
        <p:spPr>
          <a:xfrm>
            <a:off x="3721608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3" name="Text 32"/>
          <p:cNvSpPr/>
          <p:nvPr/>
        </p:nvSpPr>
        <p:spPr>
          <a:xfrm>
            <a:off x="3721608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12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5384" y="3118104"/>
            <a:ext cx="548640" cy="54864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3739896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 Tools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(Woodwork)</a:t>
            </a:r>
            <a:endParaRPr lang="en-US" sz="1150" dirty="0"/>
          </a:p>
        </p:txBody>
      </p:sp>
      <p:sp>
        <p:nvSpPr>
          <p:cNvPr id="46" name="Shape 34"/>
          <p:cNvSpPr/>
          <p:nvPr/>
        </p:nvSpPr>
        <p:spPr>
          <a:xfrm>
            <a:off x="5431536" y="2953512"/>
            <a:ext cx="1627632" cy="1737360"/>
          </a:xfrm>
          <a:prstGeom prst="rect">
            <a:avLst/>
          </a:prstGeom>
          <a:solidFill>
            <a:srgbClr val="6D4C41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47" name="Shape 35"/>
          <p:cNvSpPr/>
          <p:nvPr/>
        </p:nvSpPr>
        <p:spPr>
          <a:xfrm>
            <a:off x="5477256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8" name="Text 36"/>
          <p:cNvSpPr/>
          <p:nvPr/>
        </p:nvSpPr>
        <p:spPr>
          <a:xfrm>
            <a:off x="5477256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</a:t>
            </a:r>
            <a:endParaRPr lang="en-US" sz="1200" dirty="0"/>
          </a:p>
        </p:txBody>
      </p:sp>
      <p:sp>
        <p:nvSpPr>
          <p:cNvPr id="50" name="Text 37"/>
          <p:cNvSpPr/>
          <p:nvPr/>
        </p:nvSpPr>
        <p:spPr>
          <a:xfrm>
            <a:off x="5495544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Pottery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</a:t>
            </a:r>
            <a:endParaRPr lang="en-US" sz="1150" dirty="0"/>
          </a:p>
        </p:txBody>
      </p:sp>
      <p:sp>
        <p:nvSpPr>
          <p:cNvPr id="51" name="Shape 38"/>
          <p:cNvSpPr/>
          <p:nvPr/>
        </p:nvSpPr>
        <p:spPr>
          <a:xfrm>
            <a:off x="7187184" y="2953512"/>
            <a:ext cx="1627632" cy="1737360"/>
          </a:xfrm>
          <a:prstGeom prst="rect">
            <a:avLst/>
          </a:prstGeom>
          <a:solidFill>
            <a:srgbClr val="8B6914"/>
          </a:solidFill>
          <a:ln w="12700">
            <a:solidFill>
              <a:srgbClr val="FFFFFF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52" name="Shape 39"/>
          <p:cNvSpPr/>
          <p:nvPr/>
        </p:nvSpPr>
        <p:spPr>
          <a:xfrm>
            <a:off x="7232904" y="3008376"/>
            <a:ext cx="411480" cy="411480"/>
          </a:xfrm>
          <a:prstGeom prst="ellipse">
            <a:avLst/>
          </a:prstGeom>
          <a:solidFill>
            <a:srgbClr val="000000">
              <a:alpha val="19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53" name="Text 40"/>
          <p:cNvSpPr/>
          <p:nvPr/>
        </p:nvSpPr>
        <p:spPr>
          <a:xfrm>
            <a:off x="7232904" y="300837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1200" dirty="0"/>
          </a:p>
        </p:txBody>
      </p:sp>
      <p:sp>
        <p:nvSpPr>
          <p:cNvPr id="55" name="Text 41"/>
          <p:cNvSpPr/>
          <p:nvPr/>
        </p:nvSpPr>
        <p:spPr>
          <a:xfrm>
            <a:off x="7251192" y="3758184"/>
            <a:ext cx="14996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Jewellery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pic>
        <p:nvPicPr>
          <p:cNvPr id="1028" name="Picture 4" descr="Pottery Logo PNGs for Free Download">
            <a:extLst>
              <a:ext uri="{FF2B5EF4-FFF2-40B4-BE49-F238E27FC236}">
                <a16:creationId xmlns:a16="http://schemas.microsoft.com/office/drawing/2014/main" id="{E224BFC0-6299-2147-2408-30ADC9266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9322" y="3118104"/>
            <a:ext cx="456343" cy="45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37mm Badge Pin For Crafts Materials ...">
            <a:extLst>
              <a:ext uri="{FF2B5EF4-FFF2-40B4-BE49-F238E27FC236}">
                <a16:creationId xmlns:a16="http://schemas.microsoft.com/office/drawing/2014/main" id="{AB45DA20-F2A6-45E8-BA25-825D9C1CD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5038" y="1293920"/>
            <a:ext cx="440627" cy="440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aser Cutting in Manufacturing ...">
            <a:extLst>
              <a:ext uri="{FF2B5EF4-FFF2-40B4-BE49-F238E27FC236}">
                <a16:creationId xmlns:a16="http://schemas.microsoft.com/office/drawing/2014/main" id="{4D9115D7-3C05-FDC4-7A77-67E2C19710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662" y="3118104"/>
            <a:ext cx="472713" cy="314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ow to Make Cold Process Soap">
            <a:extLst>
              <a:ext uri="{FF2B5EF4-FFF2-40B4-BE49-F238E27FC236}">
                <a16:creationId xmlns:a16="http://schemas.microsoft.com/office/drawing/2014/main" id="{26FD1A3B-5FE6-1BAC-A91C-FDD65C04D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661" y="1316736"/>
            <a:ext cx="435281" cy="417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TCD Needs From YOU: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Partnership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91440"/>
            <a:ext cx="530352" cy="5303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914400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1234440"/>
            <a:ext cx="594360" cy="59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24712" y="1051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theory first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1124712" y="1508760"/>
            <a:ext cx="32461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topic in your classroom BEFORE the TCD session. Students who arrive with background knowledge go deeper and further.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4709160" y="914400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1234440"/>
            <a:ext cx="594360" cy="59436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577840" y="1051560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2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key vocabulary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577840" y="1508760"/>
            <a:ext cx="32461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TCD instructor know what terminology students know. Aligned vocabulary = stronger evidence of academic transfer.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256032" y="2944368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" y="3264408"/>
            <a:ext cx="594360" cy="5943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24712" y="30815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8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portfolio evidence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1124712" y="3538728"/>
            <a:ext cx="32461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TCD portfolios show academic understanding. Reference them in your lessons - they are valid cross-curricular evidence.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4709160" y="2944368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264408"/>
            <a:ext cx="594360" cy="59436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77840" y="3081528"/>
            <a:ext cx="32461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if you can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5577840" y="3538728"/>
            <a:ext cx="32461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Observing your students in the workshop gives insight you cannot get in a classroom. It also signals to students that this work matters.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YOUR Subject Lives Inside Every TCD Project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1440"/>
            <a:ext cx="530352" cy="5303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914400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4"/>
          <p:cNvSpPr/>
          <p:nvPr/>
        </p:nvSpPr>
        <p:spPr>
          <a:xfrm>
            <a:off x="256032" y="914400"/>
            <a:ext cx="1143000" cy="120700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1024128"/>
            <a:ext cx="594360" cy="5943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1752" y="16459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SCIENCE</a:t>
            </a:r>
            <a:endParaRPr lang="en-US" sz="850" dirty="0"/>
          </a:p>
        </p:txBody>
      </p:sp>
      <p:sp>
        <p:nvSpPr>
          <p:cNvPr id="11" name="Text 6"/>
          <p:cNvSpPr/>
          <p:nvPr/>
        </p:nvSpPr>
        <p:spPr>
          <a:xfrm>
            <a:off x="1490472" y="1005840"/>
            <a:ext cx="2907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Forces, energy, circuits, plant biology → Bridge testing, solar models, hydroponics data, robotics systems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09160" y="914400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8"/>
          <p:cNvSpPr/>
          <p:nvPr/>
        </p:nvSpPr>
        <p:spPr>
          <a:xfrm>
            <a:off x="4709160" y="914400"/>
            <a:ext cx="1143000" cy="12070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1024128"/>
            <a:ext cx="594360" cy="59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1645920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MATHS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5943600" y="1005840"/>
            <a:ext cx="2907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Measurement, scale, geometry, data, budgeting → CAD dimensions, 3D print sizing, enterprise pricing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256032" y="2267712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2"/>
          <p:cNvSpPr/>
          <p:nvPr/>
        </p:nvSpPr>
        <p:spPr>
          <a:xfrm>
            <a:off x="256032" y="2267712"/>
            <a:ext cx="1143000" cy="1207008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2377440"/>
            <a:ext cx="594360" cy="59436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01752" y="299923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/ ELA</a:t>
            </a:r>
            <a:endParaRPr lang="en-US" sz="850" dirty="0"/>
          </a:p>
        </p:txBody>
      </p:sp>
      <p:sp>
        <p:nvSpPr>
          <p:cNvPr id="21" name="Text 14"/>
          <p:cNvSpPr/>
          <p:nvPr/>
        </p:nvSpPr>
        <p:spPr>
          <a:xfrm>
            <a:off x="1490472" y="2359152"/>
            <a:ext cx="2907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briefs, technical vocab, presentations → Project reports, product pitches, portfolio reflections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4709160" y="2267712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3" name="Shape 16"/>
          <p:cNvSpPr/>
          <p:nvPr/>
        </p:nvSpPr>
        <p:spPr>
          <a:xfrm>
            <a:off x="4709160" y="2267712"/>
            <a:ext cx="1143000" cy="1207008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377440"/>
            <a:ext cx="594360" cy="5943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754880" y="2999232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STUDIES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5943600" y="2359152"/>
            <a:ext cx="2907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sustainability, innovation, community → Smart city models, food security solutions, cultural designs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256032" y="3621024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8" name="Shape 20"/>
          <p:cNvSpPr/>
          <p:nvPr/>
        </p:nvSpPr>
        <p:spPr>
          <a:xfrm>
            <a:off x="256032" y="3621024"/>
            <a:ext cx="1143000" cy="12070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352" y="3730752"/>
            <a:ext cx="594360" cy="5943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301752" y="435254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VISUAL ARTS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1490472" y="3712464"/>
            <a:ext cx="2907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colour, aesthetics, branding → Candle/soap design, logo creation, ceramics, jewellery making</a:t>
            </a:r>
            <a:endParaRPr lang="en-US" sz="1100" dirty="0"/>
          </a:p>
        </p:txBody>
      </p:sp>
      <p:sp>
        <p:nvSpPr>
          <p:cNvPr id="32" name="Shape 23"/>
          <p:cNvSpPr/>
          <p:nvPr/>
        </p:nvSpPr>
        <p:spPr>
          <a:xfrm>
            <a:off x="4709160" y="3621024"/>
            <a:ext cx="4224528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33" name="Shape 24"/>
          <p:cNvSpPr/>
          <p:nvPr/>
        </p:nvSpPr>
        <p:spPr>
          <a:xfrm>
            <a:off x="4709160" y="3621024"/>
            <a:ext cx="1143000" cy="1207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3730752"/>
            <a:ext cx="594360" cy="59436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4754880" y="4352544"/>
            <a:ext cx="1051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ICT / TECH</a:t>
            </a:r>
            <a:endParaRPr lang="en-US" sz="850" dirty="0"/>
          </a:p>
        </p:txBody>
      </p:sp>
      <p:sp>
        <p:nvSpPr>
          <p:cNvPr id="36" name="Text 26"/>
          <p:cNvSpPr/>
          <p:nvPr/>
        </p:nvSpPr>
        <p:spPr>
          <a:xfrm>
            <a:off x="5943600" y="3712464"/>
            <a:ext cx="290779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Algorithms, digital citizenship, CAD, coding → Robotics, 3D design workflow, digital media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Projects— Robotics, Smart City &amp; Sustainable Design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91440"/>
            <a:ext cx="530352" cy="5303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28600" y="914400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4"/>
          <p:cNvSpPr/>
          <p:nvPr/>
        </p:nvSpPr>
        <p:spPr>
          <a:xfrm>
            <a:off x="228600" y="914400"/>
            <a:ext cx="4224528" cy="402336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5"/>
          <p:cNvSpPr/>
          <p:nvPr/>
        </p:nvSpPr>
        <p:spPr>
          <a:xfrm>
            <a:off x="320040" y="914400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Robotics Coding Challenge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20040" y="1371600"/>
            <a:ext cx="4041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robots (Photon, Edison, VinciBot) to complete missions. Design algorithms, troubleshoot logic, map routes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20040" y="2176272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0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ICT: algorithms, input/output  |  Maths: coordinates, angles  |  ELA: technical explanation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690872" y="914400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3" name="Shape 9"/>
          <p:cNvSpPr/>
          <p:nvPr/>
        </p:nvSpPr>
        <p:spPr>
          <a:xfrm>
            <a:off x="4690872" y="914400"/>
            <a:ext cx="4224528" cy="402336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4" name="Text 10"/>
          <p:cNvSpPr/>
          <p:nvPr/>
        </p:nvSpPr>
        <p:spPr>
          <a:xfrm>
            <a:off x="4782312" y="914400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3D Design for a Real User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82312" y="1371600"/>
            <a:ext cx="4041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→ TinkerCAD/simple CAD → 3D printed object. Students measure, constrain and iterate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82312" y="2176272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82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Maths: geometry, scale, dimensions  |  Science: materials  |  Arts: form &amp; function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14596" y="2971800"/>
            <a:ext cx="4224528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8" name="Shape 14"/>
          <p:cNvSpPr/>
          <p:nvPr/>
        </p:nvSpPr>
        <p:spPr>
          <a:xfrm>
            <a:off x="2514596" y="2971800"/>
            <a:ext cx="4224528" cy="402336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9" name="Text 15"/>
          <p:cNvSpPr/>
          <p:nvPr/>
        </p:nvSpPr>
        <p:spPr>
          <a:xfrm>
            <a:off x="2606036" y="2971800"/>
            <a:ext cx="4041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City Automation Model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606036" y="3429000"/>
            <a:ext cx="40416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Sensor-controlled micro-system (smart crossing, streetlight, garden). Code, test, explain social impact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606036" y="4233672"/>
            <a:ext cx="40416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0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Science: circuits, energy  |  Social Studies: UAE smart cities  |  ELA: technical report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Sample Project  —  Grade 4: Classroom Helper Challenge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91440"/>
            <a:ext cx="530352" cy="53035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56032" y="91440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8" name="Shape 4"/>
          <p:cNvSpPr/>
          <p:nvPr/>
        </p:nvSpPr>
        <p:spPr>
          <a:xfrm>
            <a:off x="256032" y="914400"/>
            <a:ext cx="4160520" cy="38404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9" name="Text 5"/>
          <p:cNvSpPr/>
          <p:nvPr/>
        </p:nvSpPr>
        <p:spPr>
          <a:xfrm>
            <a:off x="347472" y="914400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Do (1.5 hrs)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65760" y="1371600"/>
            <a:ext cx="393192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Interview classmates — find a real classroom need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 Write a simple design brief (objective + constraints)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Sketch 2 ideas, choose the best one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 Build first prototype: foam, card, </a:t>
            </a:r>
            <a:r>
              <a:rPr lang="en-US" sz="1200" dirty="0" err="1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Whybricks</a:t>
            </a: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3D print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Test it — get peer feedback</a:t>
            </a:r>
            <a:endParaRPr lang="en-US" sz="12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Improve it &amp; present to the class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91440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2" name="Shape 8"/>
          <p:cNvSpPr/>
          <p:nvPr/>
        </p:nvSpPr>
        <p:spPr>
          <a:xfrm>
            <a:off x="4663440" y="914400"/>
            <a:ext cx="4251960" cy="38404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3" name="Text 9"/>
          <p:cNvSpPr/>
          <p:nvPr/>
        </p:nvSpPr>
        <p:spPr>
          <a:xfrm>
            <a:off x="4754880" y="914400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Subject Is Already In Here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09160" y="1389888"/>
            <a:ext cx="1024128" cy="713232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5" name="Text 11"/>
          <p:cNvSpPr/>
          <p:nvPr/>
        </p:nvSpPr>
        <p:spPr>
          <a:xfrm>
            <a:off x="4709160" y="1389888"/>
            <a:ext cx="1024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SCIENCE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806440" y="1453896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of materials + simple forces (push/pull, friction)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09160" y="2240280"/>
            <a:ext cx="1024128" cy="713232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8" name="Text 14"/>
          <p:cNvSpPr/>
          <p:nvPr/>
        </p:nvSpPr>
        <p:spPr>
          <a:xfrm>
            <a:off x="4709160" y="2240280"/>
            <a:ext cx="1024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806440" y="2304288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Measurement: length, area, comparison, shape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709160" y="3090672"/>
            <a:ext cx="1024128" cy="713232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1" name="Text 17"/>
          <p:cNvSpPr/>
          <p:nvPr/>
        </p:nvSpPr>
        <p:spPr>
          <a:xfrm>
            <a:off x="4709160" y="3090672"/>
            <a:ext cx="1024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5806440" y="3154680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questions, design brief writing, oral explanation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709160" y="3941064"/>
            <a:ext cx="1024128" cy="713232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4" name="Text 20"/>
          <p:cNvSpPr/>
          <p:nvPr/>
        </p:nvSpPr>
        <p:spPr>
          <a:xfrm>
            <a:off x="4709160" y="3941064"/>
            <a:ext cx="10241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STUDIES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5806440" y="4005072"/>
            <a:ext cx="3017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&amp; community responsibility, user needs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256032" y="4791456"/>
            <a:ext cx="8631936" cy="256032"/>
          </a:xfrm>
          <a:prstGeom prst="rect">
            <a:avLst/>
          </a:prstGeom>
          <a:solidFill>
            <a:srgbClr val="E0EAEA"/>
          </a:solidFill>
          <a:ln w="12700">
            <a:solidFill>
              <a:srgbClr val="E0EAEA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7" name="Text 23"/>
          <p:cNvSpPr/>
          <p:nvPr/>
        </p:nvSpPr>
        <p:spPr>
          <a:xfrm>
            <a:off x="256032" y="4791456"/>
            <a:ext cx="8631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Whybricks  ·  Safe craft tools  ·  3Doodler pens  ·  Rulers  ·  iPads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498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749808"/>
          </a:xfrm>
          <a:prstGeom prst="rect">
            <a:avLst/>
          </a:prstGeom>
          <a:solidFill>
            <a:srgbClr val="005050"/>
          </a:solidFill>
          <a:ln w="12700">
            <a:solidFill>
              <a:srgbClr val="00505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 is a Curriculum Outcome;</a:t>
            </a:r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Just a Rule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1440"/>
            <a:ext cx="512064" cy="51206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91440"/>
            <a:ext cx="1325880" cy="530352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960120"/>
            <a:ext cx="502920" cy="5029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41248" y="9875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82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who makes a great product but cannot explain risk controls has NOT met the TCD standard.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228600" y="1627632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0" name="Shape 5"/>
          <p:cNvSpPr/>
          <p:nvPr/>
        </p:nvSpPr>
        <p:spPr>
          <a:xfrm>
            <a:off x="228600" y="1627632"/>
            <a:ext cx="1463040" cy="749808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1" name="Text 6"/>
          <p:cNvSpPr/>
          <p:nvPr/>
        </p:nvSpPr>
        <p:spPr>
          <a:xfrm>
            <a:off x="228600" y="1627632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1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28600" y="206654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4–5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1783080" y="168249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Maker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783080" y="2048256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Scissors, rulers, 3D pens, Whybricks, Photon kits, iPads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228600" y="2478024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16" name="Shape 11"/>
          <p:cNvSpPr/>
          <p:nvPr/>
        </p:nvSpPr>
        <p:spPr>
          <a:xfrm>
            <a:off x="228600" y="2478024"/>
            <a:ext cx="1463040" cy="749808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7" name="Text 12"/>
          <p:cNvSpPr/>
          <p:nvPr/>
        </p:nvSpPr>
        <p:spPr>
          <a:xfrm>
            <a:off x="228600" y="2478024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2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228600" y="2916936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5–7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783080" y="253288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8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Technician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783080" y="2898648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tools, robotics kits, CAD/3D print, textiles, hydroponics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28600" y="3328416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/>
          </a:p>
        </p:txBody>
      </p:sp>
      <p:sp>
        <p:nvSpPr>
          <p:cNvPr id="22" name="Shape 17"/>
          <p:cNvSpPr/>
          <p:nvPr/>
        </p:nvSpPr>
        <p:spPr>
          <a:xfrm>
            <a:off x="228600" y="3328416"/>
            <a:ext cx="1463040" cy="749808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3" name="Text 18"/>
          <p:cNvSpPr/>
          <p:nvPr/>
        </p:nvSpPr>
        <p:spPr>
          <a:xfrm>
            <a:off x="228600" y="3328416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Level 3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28600" y="3767328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8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1783080" y="3383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21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Fabricator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1783080" y="374904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Cordless drills, clamps, vices, 3D printers, Unimat demo, wax &amp; textiles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28600" y="4178808"/>
            <a:ext cx="86868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EA"/>
            </a:solidFill>
            <a:prstDash val="solid"/>
          </a:ln>
          <a:effectLst>
            <a:outerShdw blurRad="88900" dist="381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28" name="Shape 23"/>
          <p:cNvSpPr/>
          <p:nvPr/>
        </p:nvSpPr>
        <p:spPr>
          <a:xfrm>
            <a:off x="228600" y="4178808"/>
            <a:ext cx="1463040" cy="749808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29" name="Text 24"/>
          <p:cNvSpPr/>
          <p:nvPr/>
        </p:nvSpPr>
        <p:spPr>
          <a:xfrm>
            <a:off x="228600" y="4178808"/>
            <a:ext cx="1463040" cy="4389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RESTRICTED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228600" y="4617720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only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178308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Controlled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1783080" y="4599432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4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Kiln, hot wax systems, soldering, advanced machine setups, high-heat processes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28600" y="5074920"/>
            <a:ext cx="8686800" cy="36576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2052" name="Picture 4" descr="Educational Toys for Skill Development: UNIMAT 1 Kit">
            <a:extLst>
              <a:ext uri="{FF2B5EF4-FFF2-40B4-BE49-F238E27FC236}">
                <a16:creationId xmlns:a16="http://schemas.microsoft.com/office/drawing/2014/main" id="{C5C100B4-97CA-465F-D54B-B778AE927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249" y="3387148"/>
            <a:ext cx="1290711" cy="64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First Pottery Kiln: WHAT SIZE Should You Really Get? (See Inside My Small  Kiln!)">
            <a:extLst>
              <a:ext uri="{FF2B5EF4-FFF2-40B4-BE49-F238E27FC236}">
                <a16:creationId xmlns:a16="http://schemas.microsoft.com/office/drawing/2014/main" id="{A8AEFD4E-8760-CF16-688B-4F586D4217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" t="10394" r="43756"/>
          <a:stretch>
            <a:fillRect/>
          </a:stretch>
        </p:blipFill>
        <p:spPr bwMode="auto">
          <a:xfrm>
            <a:off x="7528078" y="4251293"/>
            <a:ext cx="622391" cy="586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Reuse - Candle Recycling Into New Candle">
            <a:extLst>
              <a:ext uri="{FF2B5EF4-FFF2-40B4-BE49-F238E27FC236}">
                <a16:creationId xmlns:a16="http://schemas.microsoft.com/office/drawing/2014/main" id="{7288E4D7-2122-1210-E359-92A9D231C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7971" y="4249237"/>
            <a:ext cx="585989" cy="58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7878"/>
          </a:solidFill>
          <a:ln w="12700">
            <a:solidFill>
              <a:srgbClr val="007878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91440" cy="5143500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3840480" cy="662940"/>
          </a:xfrm>
          <a:prstGeom prst="rect">
            <a:avLst/>
          </a:prstGeom>
          <a:solidFill>
            <a:srgbClr val="821E3C"/>
          </a:solidFill>
          <a:ln w="12700">
            <a:solidFill>
              <a:srgbClr val="821E3C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" y="4596160"/>
            <a:ext cx="478759" cy="478759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" y="68580"/>
            <a:ext cx="868680" cy="31024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313" y="1618414"/>
            <a:ext cx="2587826" cy="25878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069080" y="3200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8B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Discover Your Talents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E8BE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… and Develop Your Skills</a:t>
            </a:r>
            <a:endParaRPr lang="en-US" sz="2000" dirty="0"/>
          </a:p>
        </p:txBody>
      </p:sp>
      <p:sp>
        <p:nvSpPr>
          <p:cNvPr id="9" name="Shape 4"/>
          <p:cNvSpPr/>
          <p:nvPr/>
        </p:nvSpPr>
        <p:spPr>
          <a:xfrm>
            <a:off x="4069080" y="1389888"/>
            <a:ext cx="4846320" cy="54864"/>
          </a:xfrm>
          <a:prstGeom prst="rect">
            <a:avLst/>
          </a:prstGeom>
          <a:solidFill>
            <a:srgbClr val="C8A040"/>
          </a:solidFill>
          <a:ln w="12700">
            <a:solidFill>
              <a:srgbClr val="C8A040"/>
            </a:solidFill>
            <a:prstDash val="solid"/>
          </a:ln>
        </p:spPr>
        <p:txBody>
          <a:bodyPr/>
          <a:lstStyle/>
          <a:p>
            <a:endParaRPr lang="en-AE"/>
          </a:p>
        </p:txBody>
      </p:sp>
      <p:sp>
        <p:nvSpPr>
          <p:cNvPr id="10" name="Text 5"/>
          <p:cNvSpPr/>
          <p:nvPr/>
        </p:nvSpPr>
        <p:spPr>
          <a:xfrm>
            <a:off x="4069080" y="1536192"/>
            <a:ext cx="48463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TCD is embedded curriculum</a:t>
            </a:r>
            <a:endParaRPr lang="en-US" sz="13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1.5-hr session links to your subject</a:t>
            </a:r>
            <a:endParaRPr lang="en-US" sz="13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portfolios of real evidence</a:t>
            </a:r>
            <a:endParaRPr lang="en-US" sz="13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is taught as a curriculum outcome</a:t>
            </a:r>
            <a:endParaRPr lang="en-US" sz="1350" dirty="0"/>
          </a:p>
          <a:p>
            <a:pPr marL="342900" indent="-342900">
              <a:lnSpc>
                <a:spcPct val="155000"/>
              </a:lnSpc>
              <a:buSzPct val="100000"/>
              <a:buChar char="•"/>
            </a:pPr>
            <a:r>
              <a:rPr lang="en-US" sz="1350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skills now → TCC pathways later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069080" y="42062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A0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Questions? Let's build this together!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4069080" y="48006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EC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Emirates National Schools  ·  TCD Dubai  ·  Al Khawaneej 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978</Words>
  <Application>Microsoft Office PowerPoint</Application>
  <PresentationFormat>On-screen Show (16:9)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TCD Teacher Introduction</dc:title>
  <dc:subject>PptxGenJS Presentation</dc:subject>
  <dc:creator>PptxGenJS</dc:creator>
  <cp:lastModifiedBy>Lubna Kakkengal</cp:lastModifiedBy>
  <cp:revision>3</cp:revision>
  <dcterms:created xsi:type="dcterms:W3CDTF">2026-05-14T20:00:38Z</dcterms:created>
  <dcterms:modified xsi:type="dcterms:W3CDTF">2026-05-15T06:08:51Z</dcterms:modified>
</cp:coreProperties>
</file>