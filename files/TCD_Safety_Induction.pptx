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7" r:id="rId1"/>
  </p:sldMasterIdLst>
  <p:notesMasterIdLst>
    <p:notesMasterId r:id="rId10"/>
  </p:notesMasterIdLst>
  <p:sldIdLst>
    <p:sldId id="264" r:id="rId2"/>
    <p:sldId id="257" r:id="rId3"/>
    <p:sldId id="258" r:id="rId4"/>
    <p:sldId id="263" r:id="rId5"/>
    <p:sldId id="259" r:id="rId6"/>
    <p:sldId id="260" r:id="rId7"/>
    <p:sldId id="261" r:id="rId8"/>
    <p:sldId id="262" r:id="rId9"/>
  </p:sldIdLst>
  <p:sldSz cx="9144000" cy="5143500" type="screen16x9"/>
  <p:notesSz cx="5143500" cy="9144000"/>
  <p:embeddedFontLst>
    <p:embeddedFont>
      <p:font typeface="Arial Black" panose="020B0A04020102020204" pitchFamily="34" charset="0"/>
      <p:bold r:id="rId11"/>
    </p:embeddedFont>
    <p:embeddedFont>
      <p:font typeface="DM Sans" pitchFamily="2" charset="0"/>
      <p:regular r:id="rId12"/>
      <p:bold r:id="rId13"/>
      <p:italic r:id="rId14"/>
      <p:boldItalic r:id="rId15"/>
    </p:embeddedFont>
    <p:embeddedFont>
      <p:font typeface="PT Serif" panose="020A0603040505020204" pitchFamily="18" charset="0"/>
      <p:regular r:id="rId16"/>
      <p:bold r:id="rId17"/>
      <p:italic r:id="rId18"/>
      <p:boldItalic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BF0500-71E1-4E93-ADE1-3F0D57256C0E}" v="1" dt="2026-09-02T03:47:19.1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bna Kakkengal" userId="e6498a5d-28b3-4b6a-8ee9-60ac9fa7031d" providerId="ADAL" clId="{0FAFB8D6-C382-49D4-A18A-845D8C692B21}"/>
    <pc:docChg chg="addSld modSld sldOrd">
      <pc:chgData name="Lubna Kakkengal" userId="e6498a5d-28b3-4b6a-8ee9-60ac9fa7031d" providerId="ADAL" clId="{0FAFB8D6-C382-49D4-A18A-845D8C692B21}" dt="2026-09-02T03:47:19.124" v="4" actId="931"/>
      <pc:docMkLst>
        <pc:docMk/>
      </pc:docMkLst>
      <pc:sldChg chg="addSp modSp new ord">
        <pc:chgData name="Lubna Kakkengal" userId="e6498a5d-28b3-4b6a-8ee9-60ac9fa7031d" providerId="ADAL" clId="{0FAFB8D6-C382-49D4-A18A-845D8C692B21}" dt="2026-09-02T03:47:19.124" v="4" actId="931"/>
        <pc:sldMkLst>
          <pc:docMk/>
          <pc:sldMk cId="2985734566" sldId="264"/>
        </pc:sldMkLst>
        <pc:spChg chg="add mod">
          <ac:chgData name="Lubna Kakkengal" userId="e6498a5d-28b3-4b6a-8ee9-60ac9fa7031d" providerId="ADAL" clId="{0FAFB8D6-C382-49D4-A18A-845D8C692B21}" dt="2026-09-02T03:47:19.124" v="4" actId="931"/>
          <ac:spMkLst>
            <pc:docMk/>
            <pc:sldMk cId="2985734566" sldId="264"/>
            <ac:spMk id="4" creationId="{6A19C6C1-F663-8359-C736-8C1EBD372EF6}"/>
          </ac:spMkLst>
        </pc:spChg>
        <pc:picChg chg="add mod">
          <ac:chgData name="Lubna Kakkengal" userId="e6498a5d-28b3-4b6a-8ee9-60ac9fa7031d" providerId="ADAL" clId="{0FAFB8D6-C382-49D4-A18A-845D8C692B21}" dt="2026-09-02T03:47:19.124" v="4" actId="931"/>
          <ac:picMkLst>
            <pc:docMk/>
            <pc:sldMk cId="2985734566" sldId="264"/>
            <ac:picMk id="3" creationId="{5978F1B3-6B4E-8188-B883-91045808061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9330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1EB10-1169-5BB6-F9DB-5DC5FEF420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AAEDAE-4EA6-CCD5-57D7-3DCA71D0DE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9C08-B311-C6BC-4220-D17BCE2C2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66859-1E5E-4880-9416-93EED9DE821D}" type="datetimeFigureOut">
              <a:rPr lang="en-AE" smtClean="0"/>
              <a:t>02/09/2026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78561-D8A6-BA79-4C8F-7963E3E49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D95D3-D569-E03E-CDF2-74CFDFAB2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90960-230B-4565-B825-358E8894E071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10876540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BC1DD-4512-675A-A8B4-3AAB47A4C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4510C-9F92-1FE5-AFC3-590FCA1E7A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7F558C-3642-9141-1F47-A0EA31EA0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66859-1E5E-4880-9416-93EED9DE821D}" type="datetimeFigureOut">
              <a:rPr lang="en-AE" smtClean="0"/>
              <a:t>02/09/2026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78683F-2AAE-0A33-3071-E07DB373E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2E7B07-B1FC-1DAD-DA53-DD131268B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90960-230B-4565-B825-358E8894E071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05681053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C877F-5DB2-A1D4-B6E0-A82A14785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E23502-D1BB-6446-3E1B-100E4EF816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EF9B0E-4B63-6029-6843-585C036CF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66859-1E5E-4880-9416-93EED9DE821D}" type="datetimeFigureOut">
              <a:rPr lang="en-AE" smtClean="0"/>
              <a:t>02/09/2026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CDD09-C037-8877-B345-8FB233F38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66C228-AB61-C8B5-F042-249377956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90960-230B-4565-B825-358E8894E071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42423701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3FB84-0C7A-F522-024D-204B19980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8B4A2-8D00-6139-6D04-053F6050DA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A06047-E442-0C1B-B482-FD46722A77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2492F7-58AD-8949-F742-D9F6A4D1D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66859-1E5E-4880-9416-93EED9DE821D}" type="datetimeFigureOut">
              <a:rPr lang="en-AE" smtClean="0"/>
              <a:t>02/09/2026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023072-CA83-877B-0088-44DF7E16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C335CC-699B-6BC8-3328-8204CCC37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90960-230B-4565-B825-358E8894E071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08194222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85B06-960F-4C64-9118-399FCD750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D7E153-6FBB-E2FD-D158-CE0CC1DF2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BE5C67-B428-FBCC-1045-89C73AA48B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6C97FE-045D-3A21-134B-3B59D8BADE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713CA8-A203-181F-48BA-8A949AFFCA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D08259-7965-0DC0-925E-DF66927EB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66859-1E5E-4880-9416-93EED9DE821D}" type="datetimeFigureOut">
              <a:rPr lang="en-AE" smtClean="0"/>
              <a:t>02/09/2026</a:t>
            </a:fld>
            <a:endParaRPr lang="en-A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10056C-4B78-B605-4825-C97E4DE3A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CA9D6C-0C2F-BDE7-878A-C9AA7FD0B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90960-230B-4565-B825-358E8894E071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30293914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CF6D9-2B21-9115-A598-7692EB063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449A26-D977-28AC-9336-1A45B0F11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66859-1E5E-4880-9416-93EED9DE821D}" type="datetimeFigureOut">
              <a:rPr lang="en-AE" smtClean="0"/>
              <a:t>02/09/2026</a:t>
            </a:fld>
            <a:endParaRPr lang="en-A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6C3F38-495B-12BB-7219-9835A3F49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5F180B-7315-C254-5813-F3ADDFA29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90960-230B-4565-B825-358E8894E071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3080958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9FE3B3-963C-D105-6504-7D698120A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66859-1E5E-4880-9416-93EED9DE821D}" type="datetimeFigureOut">
              <a:rPr lang="en-AE" smtClean="0"/>
              <a:t>02/09/2026</a:t>
            </a:fld>
            <a:endParaRPr lang="en-A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AB9852-FFE0-60F9-71BE-D7D4298AC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10664A-A0EF-C416-160B-381FDBA77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90960-230B-4565-B825-358E8894E071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43905647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270B8-B941-C2F3-2CB9-413D9BB5A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CEDAB-A4A2-A383-621E-73A55466C7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98072F-3B18-745A-665E-5A92F3AD52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CB266A-7DD9-170F-7DAA-8ED1EA22C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66859-1E5E-4880-9416-93EED9DE821D}" type="datetimeFigureOut">
              <a:rPr lang="en-AE" smtClean="0"/>
              <a:t>02/09/2026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D8F4E3-F400-3B2E-9266-144DEFED5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99CA93-B74D-2007-F5F8-524F773BC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90960-230B-4565-B825-358E8894E071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74410176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C7480-B972-585A-0D0C-09E104ADE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EC6C20-43B4-E7EB-51C4-031C591DDD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E31397-A19E-EED6-78A5-1FB9A48867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25C6A2-206C-5C7C-704D-2972BCAFA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66859-1E5E-4880-9416-93EED9DE821D}" type="datetimeFigureOut">
              <a:rPr lang="en-AE" smtClean="0"/>
              <a:t>02/09/2026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C350AD-F026-AC73-08DB-A6EBBF805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7BC30B-3264-8CE3-DFF7-684B316EC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90960-230B-4565-B825-358E8894E071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56173914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DEF53-2130-2257-89A8-92668BB3D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AD684D-CF88-7DF6-9528-91B2F6FD44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DDC00E-0669-9690-4448-991D44CCE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66859-1E5E-4880-9416-93EED9DE821D}" type="datetimeFigureOut">
              <a:rPr lang="en-AE" smtClean="0"/>
              <a:t>02/09/2026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A885B-CA20-5A17-24CD-36924FCED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C758F-9BDF-30E5-7B3B-16F3F3C78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90960-230B-4565-B825-358E8894E071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06379479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FD9612-B2AA-6718-143D-6542EE0AC2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A1C241-66A5-0087-5CF8-12E9345D76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F45B5-274F-3C77-23DE-D3FD16FF4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66859-1E5E-4880-9416-93EED9DE821D}" type="datetimeFigureOut">
              <a:rPr lang="en-AE" smtClean="0"/>
              <a:t>02/09/2026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3489C1-04F7-3BDE-C652-D9BAA14B8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43218B-0F8B-F8DC-F475-8DBC3951C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90960-230B-4565-B825-358E8894E071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83399610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202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09317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77223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95297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09035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8851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1871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0E5C7F-8638-6DF6-D1ED-63FF83184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C2336B-CCA2-6D24-906E-58F0AAE66B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D23483-BBE2-DC79-8B65-3806A6B565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666859-1E5E-4880-9416-93EED9DE821D}" type="datetimeFigureOut">
              <a:rPr lang="en-AE" smtClean="0"/>
              <a:t>02/09/2026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0CBA34-25A8-5A74-252B-062030B888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AD40D-B9F4-04C2-72F4-4F0294D61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990960-230B-4565-B825-358E8894E071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936537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  <p:sldLayoutId id="2147483674" r:id="rId17"/>
    <p:sldLayoutId id="2147483675" r:id="rId18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englishjoinsus.blogspot.com/2016/09/welcome-back.html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creativecommons.org/licenses/by-nc/3.0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jpeg"/><Relationship Id="rId3" Type="http://schemas.openxmlformats.org/officeDocument/2006/relationships/image" Target="../media/image5.jpeg"/><Relationship Id="rId7" Type="http://schemas.openxmlformats.org/officeDocument/2006/relationships/image" Target="../media/image9.png"/><Relationship Id="rId12" Type="http://schemas.openxmlformats.org/officeDocument/2006/relationships/image" Target="../media/image1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8.png"/><Relationship Id="rId11" Type="http://schemas.openxmlformats.org/officeDocument/2006/relationships/image" Target="../media/image13.jpe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jpe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78F1B3-6B4E-8188-B883-9104580806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251460"/>
            <a:ext cx="9144000" cy="46405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A19C6C1-F663-8359-C736-8C1EBD372EF6}"/>
              </a:ext>
            </a:extLst>
          </p:cNvPr>
          <p:cNvSpPr txBox="1"/>
          <p:nvPr/>
        </p:nvSpPr>
        <p:spPr>
          <a:xfrm>
            <a:off x="0" y="4892040"/>
            <a:ext cx="914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E" sz="900">
                <a:hlinkClick r:id="rId3" tooltip="https://englishjoinsus.blogspot.com/2016/09/welcome-back.html"/>
              </a:rPr>
              <a:t>This Photo</a:t>
            </a:r>
            <a:r>
              <a:rPr lang="en-AE" sz="900"/>
              <a:t> by Unknown Author is licensed under </a:t>
            </a:r>
            <a:r>
              <a:rPr lang="en-AE" sz="900">
                <a:hlinkClick r:id="rId4" tooltip="https://creativecommons.org/licenses/by-nc/3.0/"/>
              </a:rPr>
              <a:t>CC BY-NC</a:t>
            </a:r>
            <a:endParaRPr lang="en-AE" sz="900"/>
          </a:p>
        </p:txBody>
      </p:sp>
    </p:spTree>
    <p:extLst>
      <p:ext uri="{BB962C8B-B14F-4D97-AF65-F5344CB8AC3E}">
        <p14:creationId xmlns:p14="http://schemas.microsoft.com/office/powerpoint/2010/main" val="2985734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63117" y="2369195"/>
            <a:ext cx="5817766" cy="405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5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SAFETY FIRST</a:t>
            </a:r>
            <a:endParaRPr lang="en-US" sz="5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ECA97E-5B5A-CCF8-C1EA-76DA7DD347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3203" y="208084"/>
            <a:ext cx="797756" cy="79775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63FACE0-2773-E36E-4788-169DF287E6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303335"/>
            <a:ext cx="1703272" cy="60725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2177331"/>
            <a:ext cx="4031531" cy="405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Workshop Safety Guidelines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40023" y="2890961"/>
            <a:ext cx="8063954" cy="1450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9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Safety is our top priority</a:t>
            </a:r>
            <a:endParaRPr lang="en-US" sz="1400" dirty="0"/>
          </a:p>
          <a:p>
            <a:pPr marL="171450" indent="-171450" algn="l">
              <a:lnSpc>
                <a:spcPts val="19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Rules must be followed at all times</a:t>
            </a:r>
            <a:endParaRPr lang="en-US" sz="1400" dirty="0"/>
          </a:p>
          <a:p>
            <a:pPr marL="171450" indent="-171450" algn="l">
              <a:lnSpc>
                <a:spcPts val="19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Zero tolerance for safety violations</a:t>
            </a:r>
            <a:endParaRPr lang="en-US" sz="1400" dirty="0"/>
          </a:p>
          <a:p>
            <a:pPr marL="171450" indent="-171450" algn="l">
              <a:lnSpc>
                <a:spcPts val="19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 students are responsible for their own safety</a:t>
            </a:r>
            <a:endParaRPr lang="en-US" sz="1400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4E156EC4-6E7B-C5E9-D7D7-B76624AF9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8082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1B7503D-14B0-B668-4488-8E290DC90C3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7893966" y="4153120"/>
            <a:ext cx="797756" cy="7977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E91C9D-B584-1D53-6576-E8ED34D4AD79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>
            <a:off x="446882" y="4248371"/>
            <a:ext cx="1703272" cy="6072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9144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 Skills in 2 Workshops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91440"/>
            <a:ext cx="594360" cy="59436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91440"/>
            <a:ext cx="1234440" cy="5943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20040" y="6583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B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rotate through these skills across Grades 4–8</a:t>
            </a:r>
            <a:endParaRPr lang="en-US" sz="1200" dirty="0"/>
          </a:p>
        </p:txBody>
      </p:sp>
      <p:sp>
        <p:nvSpPr>
          <p:cNvPr id="6" name="Shape 2"/>
          <p:cNvSpPr/>
          <p:nvPr/>
        </p:nvSpPr>
        <p:spPr>
          <a:xfrm>
            <a:off x="164592" y="1051560"/>
            <a:ext cx="1627632" cy="1737360"/>
          </a:xfrm>
          <a:prstGeom prst="rect">
            <a:avLst/>
          </a:prstGeom>
          <a:solidFill>
            <a:srgbClr val="821E3C"/>
          </a:solidFill>
          <a:ln w="12700">
            <a:solidFill>
              <a:srgbClr val="FFFFFF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7" name="Shape 3"/>
          <p:cNvSpPr/>
          <p:nvPr/>
        </p:nvSpPr>
        <p:spPr>
          <a:xfrm>
            <a:off x="210312" y="1106424"/>
            <a:ext cx="411480" cy="411480"/>
          </a:xfrm>
          <a:prstGeom prst="ellipse">
            <a:avLst/>
          </a:prstGeom>
          <a:solidFill>
            <a:srgbClr val="000000">
              <a:alpha val="19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Text 4"/>
          <p:cNvSpPr/>
          <p:nvPr/>
        </p:nvSpPr>
        <p:spPr>
          <a:xfrm>
            <a:off x="210312" y="11064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" y="1216152"/>
            <a:ext cx="548640" cy="5486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28600" y="1856232"/>
            <a:ext cx="14996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Candle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</a:t>
            </a:r>
            <a:endParaRPr lang="en-US" sz="1150" dirty="0"/>
          </a:p>
        </p:txBody>
      </p:sp>
      <p:sp>
        <p:nvSpPr>
          <p:cNvPr id="11" name="Shape 6"/>
          <p:cNvSpPr/>
          <p:nvPr/>
        </p:nvSpPr>
        <p:spPr>
          <a:xfrm>
            <a:off x="1920240" y="1051560"/>
            <a:ext cx="1627632" cy="1737360"/>
          </a:xfrm>
          <a:prstGeom prst="rect">
            <a:avLst/>
          </a:prstGeom>
          <a:solidFill>
            <a:srgbClr val="007878"/>
          </a:solidFill>
          <a:ln w="12700">
            <a:solidFill>
              <a:srgbClr val="FFFFFF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2" name="Shape 7"/>
          <p:cNvSpPr/>
          <p:nvPr/>
        </p:nvSpPr>
        <p:spPr>
          <a:xfrm>
            <a:off x="1965960" y="1106424"/>
            <a:ext cx="411480" cy="411480"/>
          </a:xfrm>
          <a:prstGeom prst="ellipse">
            <a:avLst/>
          </a:prstGeom>
          <a:solidFill>
            <a:srgbClr val="000000">
              <a:alpha val="19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" name="Text 8"/>
          <p:cNvSpPr/>
          <p:nvPr/>
        </p:nvSpPr>
        <p:spPr>
          <a:xfrm>
            <a:off x="1965960" y="11064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1984248" y="1856232"/>
            <a:ext cx="14996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3675888" y="1051560"/>
            <a:ext cx="1627632" cy="1737360"/>
          </a:xfrm>
          <a:prstGeom prst="rect">
            <a:avLst/>
          </a:prstGeom>
          <a:solidFill>
            <a:srgbClr val="6A1B9A"/>
          </a:solidFill>
          <a:ln w="12700">
            <a:solidFill>
              <a:srgbClr val="FFFFFF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7" name="Shape 11"/>
          <p:cNvSpPr/>
          <p:nvPr/>
        </p:nvSpPr>
        <p:spPr>
          <a:xfrm>
            <a:off x="3721608" y="1106424"/>
            <a:ext cx="411480" cy="411480"/>
          </a:xfrm>
          <a:prstGeom prst="ellipse">
            <a:avLst/>
          </a:prstGeom>
          <a:solidFill>
            <a:srgbClr val="000000">
              <a:alpha val="19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8" name="Text 12"/>
          <p:cNvSpPr/>
          <p:nvPr/>
        </p:nvSpPr>
        <p:spPr>
          <a:xfrm>
            <a:off x="3721608" y="11064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2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5384" y="1216152"/>
            <a:ext cx="548640" cy="54864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739896" y="1856232"/>
            <a:ext cx="14996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Design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Branding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5431536" y="1051560"/>
            <a:ext cx="1627632" cy="1737360"/>
          </a:xfrm>
          <a:prstGeom prst="rect">
            <a:avLst/>
          </a:prstGeom>
          <a:solidFill>
            <a:srgbClr val="AD1457"/>
          </a:solidFill>
          <a:ln w="12700">
            <a:solidFill>
              <a:srgbClr val="FFFFFF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2" name="Shape 15"/>
          <p:cNvSpPr/>
          <p:nvPr/>
        </p:nvSpPr>
        <p:spPr>
          <a:xfrm>
            <a:off x="5477256" y="1106424"/>
            <a:ext cx="411480" cy="411480"/>
          </a:xfrm>
          <a:prstGeom prst="ellipse">
            <a:avLst/>
          </a:prstGeom>
          <a:solidFill>
            <a:srgbClr val="000000">
              <a:alpha val="19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3" name="Text 16"/>
          <p:cNvSpPr/>
          <p:nvPr/>
        </p:nvSpPr>
        <p:spPr>
          <a:xfrm>
            <a:off x="5477256" y="11064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17"/>
          <p:cNvSpPr/>
          <p:nvPr/>
        </p:nvSpPr>
        <p:spPr>
          <a:xfrm>
            <a:off x="5495544" y="1856232"/>
            <a:ext cx="14996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</a:t>
            </a:r>
            <a:endParaRPr lang="en-US" sz="1150" dirty="0"/>
          </a:p>
        </p:txBody>
      </p:sp>
      <p:sp>
        <p:nvSpPr>
          <p:cNvPr id="26" name="Shape 18"/>
          <p:cNvSpPr/>
          <p:nvPr/>
        </p:nvSpPr>
        <p:spPr>
          <a:xfrm>
            <a:off x="7187184" y="1051560"/>
            <a:ext cx="1627632" cy="1737360"/>
          </a:xfrm>
          <a:prstGeom prst="rect">
            <a:avLst/>
          </a:prstGeom>
          <a:solidFill>
            <a:srgbClr val="005050"/>
          </a:solidFill>
          <a:ln w="12700">
            <a:solidFill>
              <a:srgbClr val="FFFFFF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7" name="Shape 19"/>
          <p:cNvSpPr/>
          <p:nvPr/>
        </p:nvSpPr>
        <p:spPr>
          <a:xfrm>
            <a:off x="7232904" y="1106424"/>
            <a:ext cx="411480" cy="411480"/>
          </a:xfrm>
          <a:prstGeom prst="ellipse">
            <a:avLst/>
          </a:prstGeom>
          <a:solidFill>
            <a:srgbClr val="000000">
              <a:alpha val="19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8" name="Text 20"/>
          <p:cNvSpPr/>
          <p:nvPr/>
        </p:nvSpPr>
        <p:spPr>
          <a:xfrm>
            <a:off x="7232904" y="11064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20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6680" y="1216152"/>
            <a:ext cx="548640" cy="54864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251192" y="1856232"/>
            <a:ext cx="14996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&amp;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</a:t>
            </a:r>
            <a:endParaRPr lang="en-US" sz="1150" dirty="0"/>
          </a:p>
        </p:txBody>
      </p:sp>
      <p:sp>
        <p:nvSpPr>
          <p:cNvPr id="31" name="Shape 22"/>
          <p:cNvSpPr/>
          <p:nvPr/>
        </p:nvSpPr>
        <p:spPr>
          <a:xfrm>
            <a:off x="164592" y="2953512"/>
            <a:ext cx="1627632" cy="1737360"/>
          </a:xfrm>
          <a:prstGeom prst="rect">
            <a:avLst/>
          </a:prstGeom>
          <a:solidFill>
            <a:srgbClr val="1565C0"/>
          </a:solidFill>
          <a:ln w="12700">
            <a:solidFill>
              <a:srgbClr val="FFFFFF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32" name="Shape 23"/>
          <p:cNvSpPr/>
          <p:nvPr/>
        </p:nvSpPr>
        <p:spPr>
          <a:xfrm>
            <a:off x="210312" y="3008376"/>
            <a:ext cx="411480" cy="411480"/>
          </a:xfrm>
          <a:prstGeom prst="ellipse">
            <a:avLst/>
          </a:prstGeom>
          <a:solidFill>
            <a:srgbClr val="000000">
              <a:alpha val="19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3" name="Text 24"/>
          <p:cNvSpPr/>
          <p:nvPr/>
        </p:nvSpPr>
        <p:spPr>
          <a:xfrm>
            <a:off x="210312" y="300837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200" dirty="0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088" y="3118104"/>
            <a:ext cx="548640" cy="54864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228600" y="3758184"/>
            <a:ext cx="14996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Design &amp;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Printing</a:t>
            </a:r>
            <a:endParaRPr lang="en-US" sz="1150" dirty="0"/>
          </a:p>
        </p:txBody>
      </p:sp>
      <p:sp>
        <p:nvSpPr>
          <p:cNvPr id="36" name="Shape 26"/>
          <p:cNvSpPr/>
          <p:nvPr/>
        </p:nvSpPr>
        <p:spPr>
          <a:xfrm>
            <a:off x="1920240" y="2953512"/>
            <a:ext cx="1627632" cy="1737360"/>
          </a:xfrm>
          <a:prstGeom prst="rect">
            <a:avLst/>
          </a:prstGeom>
          <a:solidFill>
            <a:srgbClr val="821E3C"/>
          </a:solidFill>
          <a:ln w="12700">
            <a:solidFill>
              <a:srgbClr val="FFFFFF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37" name="Shape 27"/>
          <p:cNvSpPr/>
          <p:nvPr/>
        </p:nvSpPr>
        <p:spPr>
          <a:xfrm>
            <a:off x="1965960" y="3008376"/>
            <a:ext cx="411480" cy="411480"/>
          </a:xfrm>
          <a:prstGeom prst="ellipse">
            <a:avLst/>
          </a:prstGeom>
          <a:solidFill>
            <a:srgbClr val="000000">
              <a:alpha val="19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8" name="Text 28"/>
          <p:cNvSpPr/>
          <p:nvPr/>
        </p:nvSpPr>
        <p:spPr>
          <a:xfrm>
            <a:off x="1965960" y="300837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200" dirty="0"/>
          </a:p>
        </p:txBody>
      </p:sp>
      <p:sp>
        <p:nvSpPr>
          <p:cNvPr id="40" name="Text 29"/>
          <p:cNvSpPr/>
          <p:nvPr/>
        </p:nvSpPr>
        <p:spPr>
          <a:xfrm>
            <a:off x="1984248" y="3758184"/>
            <a:ext cx="14996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Cutting</a:t>
            </a:r>
            <a:endParaRPr lang="en-US" sz="1150" dirty="0"/>
          </a:p>
        </p:txBody>
      </p:sp>
      <p:sp>
        <p:nvSpPr>
          <p:cNvPr id="41" name="Shape 30"/>
          <p:cNvSpPr/>
          <p:nvPr/>
        </p:nvSpPr>
        <p:spPr>
          <a:xfrm>
            <a:off x="3675888" y="2953512"/>
            <a:ext cx="1627632" cy="1737360"/>
          </a:xfrm>
          <a:prstGeom prst="rect">
            <a:avLst/>
          </a:prstGeom>
          <a:solidFill>
            <a:srgbClr val="4E342E"/>
          </a:solidFill>
          <a:ln w="12700">
            <a:solidFill>
              <a:srgbClr val="FFFFFF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42" name="Shape 31"/>
          <p:cNvSpPr/>
          <p:nvPr/>
        </p:nvSpPr>
        <p:spPr>
          <a:xfrm>
            <a:off x="3721608" y="3008376"/>
            <a:ext cx="411480" cy="411480"/>
          </a:xfrm>
          <a:prstGeom prst="ellipse">
            <a:avLst/>
          </a:prstGeom>
          <a:solidFill>
            <a:srgbClr val="000000">
              <a:alpha val="19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3" name="Text 32"/>
          <p:cNvSpPr/>
          <p:nvPr/>
        </p:nvSpPr>
        <p:spPr>
          <a:xfrm>
            <a:off x="3721608" y="300837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1200" dirty="0"/>
          </a:p>
        </p:txBody>
      </p:sp>
      <p:pic>
        <p:nvPicPr>
          <p:cNvPr id="44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15384" y="3118104"/>
            <a:ext cx="548640" cy="548640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3739896" y="3758184"/>
            <a:ext cx="14996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 Tools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(Woodwork)</a:t>
            </a:r>
            <a:endParaRPr lang="en-US" sz="1150" dirty="0"/>
          </a:p>
        </p:txBody>
      </p:sp>
      <p:sp>
        <p:nvSpPr>
          <p:cNvPr id="46" name="Shape 34"/>
          <p:cNvSpPr/>
          <p:nvPr/>
        </p:nvSpPr>
        <p:spPr>
          <a:xfrm>
            <a:off x="5431536" y="2953512"/>
            <a:ext cx="1627632" cy="1737360"/>
          </a:xfrm>
          <a:prstGeom prst="rect">
            <a:avLst/>
          </a:prstGeom>
          <a:solidFill>
            <a:srgbClr val="6D4C41"/>
          </a:solidFill>
          <a:ln w="12700">
            <a:solidFill>
              <a:srgbClr val="FFFFFF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47" name="Shape 35"/>
          <p:cNvSpPr/>
          <p:nvPr/>
        </p:nvSpPr>
        <p:spPr>
          <a:xfrm>
            <a:off x="5477256" y="3008376"/>
            <a:ext cx="411480" cy="411480"/>
          </a:xfrm>
          <a:prstGeom prst="ellipse">
            <a:avLst/>
          </a:prstGeom>
          <a:solidFill>
            <a:srgbClr val="000000">
              <a:alpha val="19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8" name="Text 36"/>
          <p:cNvSpPr/>
          <p:nvPr/>
        </p:nvSpPr>
        <p:spPr>
          <a:xfrm>
            <a:off x="5477256" y="300837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1200" dirty="0"/>
          </a:p>
        </p:txBody>
      </p:sp>
      <p:sp>
        <p:nvSpPr>
          <p:cNvPr id="50" name="Text 37"/>
          <p:cNvSpPr/>
          <p:nvPr/>
        </p:nvSpPr>
        <p:spPr>
          <a:xfrm>
            <a:off x="5495544" y="3758184"/>
            <a:ext cx="14996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Pottery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</a:t>
            </a:r>
            <a:endParaRPr lang="en-US" sz="1150" dirty="0"/>
          </a:p>
        </p:txBody>
      </p:sp>
      <p:sp>
        <p:nvSpPr>
          <p:cNvPr id="51" name="Shape 38"/>
          <p:cNvSpPr/>
          <p:nvPr/>
        </p:nvSpPr>
        <p:spPr>
          <a:xfrm>
            <a:off x="7187184" y="2953512"/>
            <a:ext cx="1627632" cy="1737360"/>
          </a:xfrm>
          <a:prstGeom prst="rect">
            <a:avLst/>
          </a:prstGeom>
          <a:solidFill>
            <a:srgbClr val="8B6914"/>
          </a:solidFill>
          <a:ln w="12700">
            <a:solidFill>
              <a:srgbClr val="FFFFFF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52" name="Shape 39"/>
          <p:cNvSpPr/>
          <p:nvPr/>
        </p:nvSpPr>
        <p:spPr>
          <a:xfrm>
            <a:off x="7232904" y="3008376"/>
            <a:ext cx="411480" cy="411480"/>
          </a:xfrm>
          <a:prstGeom prst="ellipse">
            <a:avLst/>
          </a:prstGeom>
          <a:solidFill>
            <a:srgbClr val="000000">
              <a:alpha val="19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3" name="Text 40"/>
          <p:cNvSpPr/>
          <p:nvPr/>
        </p:nvSpPr>
        <p:spPr>
          <a:xfrm>
            <a:off x="7232904" y="300837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1200" dirty="0"/>
          </a:p>
        </p:txBody>
      </p:sp>
      <p:sp>
        <p:nvSpPr>
          <p:cNvPr id="55" name="Text 41"/>
          <p:cNvSpPr/>
          <p:nvPr/>
        </p:nvSpPr>
        <p:spPr>
          <a:xfrm>
            <a:off x="7251192" y="3758184"/>
            <a:ext cx="14996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Jewellery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150" dirty="0"/>
          </a:p>
        </p:txBody>
      </p:sp>
      <p:pic>
        <p:nvPicPr>
          <p:cNvPr id="1028" name="Picture 4" descr="Pottery Logo PNGs for Free Download">
            <a:extLst>
              <a:ext uri="{FF2B5EF4-FFF2-40B4-BE49-F238E27FC236}">
                <a16:creationId xmlns:a16="http://schemas.microsoft.com/office/drawing/2014/main" id="{E224BFC0-6299-2147-2408-30ADC9266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9322" y="3118104"/>
            <a:ext cx="456343" cy="456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37mm Badge Pin For Crafts Materials ...">
            <a:extLst>
              <a:ext uri="{FF2B5EF4-FFF2-40B4-BE49-F238E27FC236}">
                <a16:creationId xmlns:a16="http://schemas.microsoft.com/office/drawing/2014/main" id="{AB45DA20-F2A6-45E8-BA25-825D9C1CD0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5038" y="1293920"/>
            <a:ext cx="440627" cy="440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Laser Cutting in Manufacturing ...">
            <a:extLst>
              <a:ext uri="{FF2B5EF4-FFF2-40B4-BE49-F238E27FC236}">
                <a16:creationId xmlns:a16="http://schemas.microsoft.com/office/drawing/2014/main" id="{4D9115D7-3C05-FDC4-7A77-67E2C19710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5662" y="3118104"/>
            <a:ext cx="472713" cy="314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How to Make Cold Process Soap">
            <a:extLst>
              <a:ext uri="{FF2B5EF4-FFF2-40B4-BE49-F238E27FC236}">
                <a16:creationId xmlns:a16="http://schemas.microsoft.com/office/drawing/2014/main" id="{26FD1A3B-5FE6-1BAC-A91C-FDD65C04D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5661" y="1316736"/>
            <a:ext cx="435281" cy="417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92881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0023" y="2188901"/>
            <a:ext cx="4924053" cy="506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General Workshop Conduct</a:t>
            </a:r>
            <a:endParaRPr lang="en-US" sz="3150" dirty="0"/>
          </a:p>
        </p:txBody>
      </p:sp>
      <p:sp>
        <p:nvSpPr>
          <p:cNvPr id="4" name="Text 1"/>
          <p:cNvSpPr/>
          <p:nvPr/>
        </p:nvSpPr>
        <p:spPr>
          <a:xfrm>
            <a:off x="540023" y="2819887"/>
            <a:ext cx="8063954" cy="1450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food or drinks inside the workshop</a:t>
            </a:r>
            <a:endParaRPr lang="en-US" sz="140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running or playing inside the workshop</a:t>
            </a:r>
            <a:endParaRPr lang="en-US" sz="1400" dirty="0"/>
          </a:p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400" dirty="0"/>
              <a:t>Students are required to clean their workstations and tools at the end of each session.</a:t>
            </a:r>
          </a:p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400" dirty="0"/>
              <a:t>All tools must be properly returned to their designated storage locations after use</a:t>
            </a:r>
          </a:p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4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PPE (Personal Protective Equipment) must be worn whenever instructed</a:t>
            </a: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56E03F-5474-BB0C-30F4-E889B9511C5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7893966" y="4153120"/>
            <a:ext cx="797756" cy="7977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FB63F58-4A33-F28A-B01B-812F1DAD8730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>
            <a:off x="446882" y="4248371"/>
            <a:ext cx="1703272" cy="6072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92881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0023" y="2242066"/>
            <a:ext cx="4050506" cy="506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Leaving the Workshop</a:t>
            </a:r>
            <a:endParaRPr lang="en-US" sz="3150" dirty="0"/>
          </a:p>
        </p:txBody>
      </p:sp>
      <p:sp>
        <p:nvSpPr>
          <p:cNvPr id="4" name="Text 1"/>
          <p:cNvSpPr/>
          <p:nvPr/>
        </p:nvSpPr>
        <p:spPr>
          <a:xfrm>
            <a:off x="540023" y="2979733"/>
            <a:ext cx="8063954" cy="1149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Only 1 student allowed to leave at a time (non-emergency cases)</a:t>
            </a:r>
            <a:endParaRPr lang="en-US" sz="140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Reasons: washroom / water / clinic</a:t>
            </a:r>
            <a:endParaRPr lang="en-US" sz="140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Must carry a hall pass when leaving</a:t>
            </a:r>
            <a:endParaRPr lang="en-US" sz="140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Emergency cases will be handled accordingly</a:t>
            </a: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219DD9-4AC6-358C-5A03-4916C837EC5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7893966" y="4153120"/>
            <a:ext cx="797756" cy="7977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74DC589-673C-7EBE-A441-17C7C9542D55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>
            <a:off x="446882" y="4248371"/>
            <a:ext cx="1703272" cy="60725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92881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0023" y="2167801"/>
            <a:ext cx="5072732" cy="506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Tools, Equipment &amp; Devices</a:t>
            </a:r>
            <a:endParaRPr lang="en-US" sz="3150" dirty="0"/>
          </a:p>
        </p:txBody>
      </p:sp>
      <p:sp>
        <p:nvSpPr>
          <p:cNvPr id="4" name="Text 1"/>
          <p:cNvSpPr/>
          <p:nvPr/>
        </p:nvSpPr>
        <p:spPr>
          <a:xfrm>
            <a:off x="540023" y="2905467"/>
            <a:ext cx="8063954" cy="1450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 not touch any tools/equipment/devices without instructor permission</a:t>
            </a:r>
            <a:endParaRPr lang="en-US" sz="140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Improper use of tools is strictly prohibited</a:t>
            </a:r>
            <a:endParaRPr lang="en-US" sz="140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Safety compliance is mandatory before any hands-on activity</a:t>
            </a:r>
            <a:endParaRPr lang="en-US" sz="140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PPE must be used as required for specific tasks</a:t>
            </a: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262A63-61C5-F976-A321-F66800A5383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7893966" y="4153120"/>
            <a:ext cx="797756" cy="7977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1EAF778-8F98-F1C1-4ABC-FF8E31160BC9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>
            <a:off x="446882" y="4248371"/>
            <a:ext cx="1703272" cy="60725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92881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0023" y="2045881"/>
            <a:ext cx="7291090" cy="506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Session Structure &amp; Safety Commitment</a:t>
            </a:r>
            <a:endParaRPr lang="en-US" sz="3150" dirty="0"/>
          </a:p>
        </p:txBody>
      </p:sp>
      <p:sp>
        <p:nvSpPr>
          <p:cNvPr id="4" name="Text 1"/>
          <p:cNvSpPr/>
          <p:nvPr/>
        </p:nvSpPr>
        <p:spPr>
          <a:xfrm>
            <a:off x="540023" y="2783547"/>
            <a:ext cx="8063954" cy="1450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session is </a:t>
            </a:r>
            <a:r>
              <a:rPr lang="en-US" sz="14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 hour 30 minutes</a:t>
            </a:r>
            <a:endParaRPr lang="en-US" sz="140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Hands-on, project-based learning will be conducted</a:t>
            </a:r>
            <a:endParaRPr lang="en-US" sz="140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Full attention and compliance required throughout</a:t>
            </a:r>
            <a:endParaRPr lang="en-US" sz="140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4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Safety FIRST – always follow instructions</a:t>
            </a:r>
            <a:endParaRPr lang="en-US" sz="140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compromise on rules or safety procedures</a:t>
            </a: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00DBB6-CB85-E717-FE03-8552E09C473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7893966" y="4153120"/>
            <a:ext cx="797756" cy="7977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3921EF7-7137-EB9D-D9BC-8C9721186263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>
            <a:off x="446882" y="4248371"/>
            <a:ext cx="1703272" cy="60725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191</TotalTime>
  <Words>270</Words>
  <Application>Microsoft Office PowerPoint</Application>
  <PresentationFormat>On-screen Show (16:9)</PresentationFormat>
  <Paragraphs>68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PT Serif</vt:lpstr>
      <vt:lpstr>Aptos</vt:lpstr>
      <vt:lpstr>Calibri</vt:lpstr>
      <vt:lpstr>DM Sans</vt:lpstr>
      <vt:lpstr>Arial Black</vt:lpstr>
      <vt:lpstr>Arial</vt:lpstr>
      <vt:lpstr>Aptos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Lubna Kakkengal</cp:lastModifiedBy>
  <cp:revision>6</cp:revision>
  <dcterms:created xsi:type="dcterms:W3CDTF">2026-05-14T07:19:39Z</dcterms:created>
  <dcterms:modified xsi:type="dcterms:W3CDTF">2026-09-02T03:47:27Z</dcterms:modified>
</cp:coreProperties>
</file>