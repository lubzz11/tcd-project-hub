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41ab580-d748-842c-4148-a9d23f63afa6}">
          <p14:sldIdLst>
            <p14:sldId id="256"/>
            <p14:sldId id="257"/>
            <p14:sldId id="258"/>
            <p14:sldId id="259"/>
            <p14:sldId id="260"/>
          </p14:sldIdLst>
        </p14:section>
        <p14:section name="Learn" id="{672941f2-ed03-55d2-9282-b405ea575356}">
          <p14:sldIdLst>
            <p14:sldId id="261"/>
            <p14:sldId id="262"/>
            <p14:sldId id="263"/>
            <p14:sldId id="264"/>
          </p14:sldIdLst>
        </p14:section>
        <p14:section name="Make" id="{8400f65c-ab1b-436f-a9d9-85133110346a}">
          <p14:sldIdLst>
            <p14:sldId id="265"/>
            <p14:sldId id="266"/>
            <p14:sldId id="267"/>
            <p14:sldId id="268"/>
          </p14:sldIdLst>
        </p14:section>
        <p14:section name="Check" id="{48d96c9d-590a-34f3-b3fa-dc6e580169d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6 TCD class, My Maker Mark Session 2 of 3 (2 hours). Students prepare their maker mark as a laser file with separate cut and engrave layers, design the outline of a keychain or name plaque, and watch their piece being laser cut by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How can a beam of light cut through wood?
Video scenes: A focused beam: A laser focuses light into a tiny, very hot point. | Cut: Full power and slow speed: it burns all the way through. | Engrave: Less power and fast speed: it only marks the surface. | In the UAE: Laser-cut patterns shade buildings across the country. | Today: Turn your maker mark into a real keychain or plaque.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Pass around three sample pieces: one cut out, one engraved, one with both. Students decide for each: was it cut, engraved or both? How can they tell? Agree: cutting goes all the way through; engraving only marks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laser cutter, vector, raster, cut, engrave, kerf, plywood, acrylic, power, speed.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laser works: A laser focuses light into a tiny, very hot point. It moves in lines across the material like a printer. Vector lines are followed to cut or score. Raster areas are filled line by line to engrave.
A laser cutter focuses light into a tiny, very hot point. It follows vector lines to cut through material and fills raster areas line by line to engrave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 and engrave layers: Cut: a thin outline, usually set as a red hairline. Engrave: filled black areas. The outline goes around your whole piece. Your maker mark sits inside as the engrave layer.
In our files, a thin red hairline means cut, and a black filled area means engrave.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material and kerf: Keychain: about 50 mm, plaque: up to 80 by 50 mm. We use 3 mm plywood or acrylic. The laser burns away a little material, called the kerf (about 0.2 mm). Add a 4 mm hole at least 3 mm from the edge for a keyring.
The laser burns away a tiny amount of material called the kerf. Designers plan for it when parts must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Laser safety: Only the teacher operates the laser. Never leave the laser running unattended. The lid stays closed and the extraction stays on. Never look into the beam. Keep a fire blanket and extinguisher nearby.
The laser burns away a tiny amount of material called the kerf. Designers plan for it when parts must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Import your maker mark 2. Draw the outline shape 3. Add the keyring hole 4. Set cut and engrave layers 5. Teacher checks the file 6. Teacher runs the laser while you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Only the teacher operates the laser cutter. Stand behind the safety line while it runs. Never open the lid during a job. Extraction must be on before starting. Report any smell of burning or smoke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Import your maker mark into the laser software. Draw a keychain or plaque outline and add a keyring hole. Set the cut and engrave layers and check sizes. Get the teacher's file check. Observe your piece being cut and record the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does engraving do? 2. What does cutting do? 3. In our files, a thin red hairline means ... 4. What is kerf? 5. Who operates the laser cutter in TCD? 6. Why must the extraction be on? 7. A keyring hole should be at least how far from the edge? 8. Laser-cut patterns on UAE buildings are inspired by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Students compare finished pieces with their file. What changed? Exit ticket (slide 15). Pieces are kept for finishing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6  |  Term 1, Week 10  |  My Maker Mark</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Laser Cutting My Maker Mark</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My Maker Mark</a:t>
            </a:r>
            <a:endParaRPr lang="en-US" sz="1500" dirty="0"/>
          </a:p>
          <a:p>
            <a:pPr indent="0" marL="0">
              <a:buNone/>
            </a:pPr>
            <a:r>
              <a:rPr lang="en-US" sz="1500" dirty="0">
                <a:solidFill>
                  <a:schemeClr val="accent6"/>
                </a:solidFill>
              </a:rPr>
              <a:t>Grade 6  |  Term 1  |  Week 10 (2 Nov to 6 Nov)</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MY MAKER MARK</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How can a beam of light cut through wood?</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A focused beam</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laser focuses light into a tiny, very hot point.</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Cut</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Full power and slow speed: it burns all the way through.</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Engrave</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Less power and fast speed: it only marks the surface.</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In the UAE</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Laser-cut patterns shade buildings across the country.</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prepare a 2D design for the laser cutter and to understand how the laser cuts and engraves.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the difference between cutting and engraving.</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set up a file with a cut outline and an engrave area.</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choose a suitable size and material for my piece.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follow the laser cutter safety rules.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Cut or Engrave?</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Pass around three sample pieces: one cut out, one engraved, one with both.</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decide for each: was it cut, engraved or both? How can they tell?</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Agree: cutting goes all the way through; engraving only marks the surface.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499616"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laser cutter</a:t>
            </a:r>
            <a:endParaRPr lang="en-US" sz="1700" dirty="0"/>
          </a:p>
        </p:txBody>
      </p:sp>
      <p:sp>
        <p:nvSpPr>
          <p:cNvPr id="5" name="word1"/>
          <p:cNvSpPr/>
          <p:nvPr/>
        </p:nvSpPr>
        <p:spPr>
          <a:xfrm>
            <a:off x="2139696" y="1280160"/>
            <a:ext cx="1499616"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231136"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vector</a:t>
            </a:r>
            <a:endParaRPr lang="en-US" sz="1700" dirty="0"/>
          </a:p>
        </p:txBody>
      </p:sp>
      <p:sp>
        <p:nvSpPr>
          <p:cNvPr id="7" name="word2"/>
          <p:cNvSpPr/>
          <p:nvPr/>
        </p:nvSpPr>
        <p:spPr>
          <a:xfrm>
            <a:off x="3822192" y="1280160"/>
            <a:ext cx="1499616"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3913632"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raster</a:t>
            </a:r>
            <a:endParaRPr lang="en-US" sz="1700" dirty="0"/>
          </a:p>
        </p:txBody>
      </p:sp>
      <p:sp>
        <p:nvSpPr>
          <p:cNvPr id="9" name="word3"/>
          <p:cNvSpPr/>
          <p:nvPr/>
        </p:nvSpPr>
        <p:spPr>
          <a:xfrm>
            <a:off x="5504688" y="1280160"/>
            <a:ext cx="1499616"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5596128" y="128016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cut</a:t>
            </a:r>
            <a:endParaRPr lang="en-US" sz="1700" dirty="0"/>
          </a:p>
        </p:txBody>
      </p:sp>
      <p:sp>
        <p:nvSpPr>
          <p:cNvPr id="11" name="word4"/>
          <p:cNvSpPr/>
          <p:nvPr/>
        </p:nvSpPr>
        <p:spPr>
          <a:xfrm>
            <a:off x="7187184" y="1280160"/>
            <a:ext cx="1499616"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7278624" y="128016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engrave</a:t>
            </a:r>
            <a:endParaRPr lang="en-US" sz="1700" dirty="0"/>
          </a:p>
        </p:txBody>
      </p:sp>
      <p:sp>
        <p:nvSpPr>
          <p:cNvPr id="13" name="word5"/>
          <p:cNvSpPr/>
          <p:nvPr/>
        </p:nvSpPr>
        <p:spPr>
          <a:xfrm>
            <a:off x="457200" y="2240280"/>
            <a:ext cx="1499616"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548640"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kerf</a:t>
            </a:r>
            <a:endParaRPr lang="en-US" sz="1700" dirty="0"/>
          </a:p>
        </p:txBody>
      </p:sp>
      <p:sp>
        <p:nvSpPr>
          <p:cNvPr id="15" name="word6"/>
          <p:cNvSpPr/>
          <p:nvPr/>
        </p:nvSpPr>
        <p:spPr>
          <a:xfrm>
            <a:off x="2139696" y="2240280"/>
            <a:ext cx="1499616"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2231136"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plywood</a:t>
            </a:r>
            <a:endParaRPr lang="en-US" sz="1700" dirty="0"/>
          </a:p>
        </p:txBody>
      </p:sp>
      <p:sp>
        <p:nvSpPr>
          <p:cNvPr id="17" name="word7"/>
          <p:cNvSpPr/>
          <p:nvPr/>
        </p:nvSpPr>
        <p:spPr>
          <a:xfrm>
            <a:off x="3822192" y="2240280"/>
            <a:ext cx="1499616"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3913632"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acrylic</a:t>
            </a:r>
            <a:endParaRPr lang="en-US" sz="1700" dirty="0"/>
          </a:p>
        </p:txBody>
      </p:sp>
      <p:sp>
        <p:nvSpPr>
          <p:cNvPr id="19" name="word8"/>
          <p:cNvSpPr/>
          <p:nvPr/>
        </p:nvSpPr>
        <p:spPr>
          <a:xfrm>
            <a:off x="5504688" y="2240280"/>
            <a:ext cx="1499616" cy="731520"/>
          </a:xfrm>
          <a:prstGeom prst="roundRect">
            <a:avLst>
              <a:gd name="adj" fmla="val 15000"/>
            </a:avLst>
          </a:prstGeom>
          <a:solidFill>
            <a:srgbClr val="FCEFF3"/>
          </a:solidFill>
          <a:ln w="12700">
            <a:solidFill>
              <a:srgbClr val="FCEFF3"/>
            </a:solidFill>
            <a:prstDash val="solid"/>
          </a:ln>
        </p:spPr>
      </p:sp>
      <p:sp>
        <p:nvSpPr>
          <p:cNvPr id="20" name="Text 18"/>
          <p:cNvSpPr txBox="1"/>
          <p:nvPr/>
        </p:nvSpPr>
        <p:spPr>
          <a:xfrm>
            <a:off x="5596128" y="2240280"/>
            <a:ext cx="1316736"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power</a:t>
            </a:r>
            <a:endParaRPr lang="en-US" sz="1700" dirty="0"/>
          </a:p>
        </p:txBody>
      </p:sp>
      <p:sp>
        <p:nvSpPr>
          <p:cNvPr id="21" name="word9"/>
          <p:cNvSpPr/>
          <p:nvPr/>
        </p:nvSpPr>
        <p:spPr>
          <a:xfrm>
            <a:off x="7187184" y="2240280"/>
            <a:ext cx="1499616" cy="731520"/>
          </a:xfrm>
          <a:prstGeom prst="roundRect">
            <a:avLst>
              <a:gd name="adj" fmla="val 15000"/>
            </a:avLst>
          </a:prstGeom>
          <a:solidFill>
            <a:srgbClr val="E6F2F2"/>
          </a:solidFill>
          <a:ln w="12700">
            <a:solidFill>
              <a:srgbClr val="E6F2F2"/>
            </a:solidFill>
            <a:prstDash val="solid"/>
          </a:ln>
        </p:spPr>
      </p:sp>
      <p:sp>
        <p:nvSpPr>
          <p:cNvPr id="22" name="Text 20"/>
          <p:cNvSpPr txBox="1"/>
          <p:nvPr/>
        </p:nvSpPr>
        <p:spPr>
          <a:xfrm>
            <a:off x="7278624" y="2240280"/>
            <a:ext cx="1316736"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speed</a:t>
            </a:r>
            <a:endParaRPr lang="en-US" sz="1700" dirty="0"/>
          </a:p>
        </p:txBody>
      </p:sp>
      <p:sp>
        <p:nvSpPr>
          <p:cNvPr id="23" name="Text 21"/>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How the laser works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laser focuses light into a tiny, very hot point.</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It moves in lines across the material like a printer.</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Vector lines are followed to cut or score.</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Raster areas are filled line by line to engrave.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Cut and engrave layers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Cut: a thin outline, usually set as a red hairline.</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Engrave: filled black areas.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The outline goes around your whole piece.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Your maker mark sits inside as the engrave layer.</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Size, material and kerf</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Keychain: about 50 mm, plaque: up to 80 by 50 mm.</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We use 3 mm plywood or acrylic.</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laser burns away a little material, called the kerf (about 0.2 mm).</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Add a 4 mm hole at least 3 mm from the edge for a keyring.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Laser safety</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Only the teacher operates the laser.</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Never leave the laser running unattended.</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The lid stays closed and the extraction stays on.</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Never look into the beam. Keep a fire blanket and extinguisher nearby.</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From design to laser</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Import your maker mark</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Draw the outline shape</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Add the keyring hole</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Set cut and engrave layers</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Teacher checks the file</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Teacher runs the laser while you observe</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Only the teacher operates the laser cutter.</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Stand behind the safety line while it runs.</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Never open the lid during a job.</a:t>
            </a:r>
            <a:endParaRPr lang="en-US" sz="1500" dirty="0"/>
          </a:p>
        </p:txBody>
      </p:sp>
      <p:sp>
        <p:nvSpPr>
          <p:cNvPr id="12" name="safe3"/>
          <p:cNvSpPr/>
          <p:nvPr/>
        </p:nvSpPr>
        <p:spPr>
          <a:xfrm>
            <a:off x="2194560" y="3163824"/>
            <a:ext cx="6492240" cy="566928"/>
          </a:xfrm>
          <a:prstGeom prst="roundRect">
            <a:avLst>
              <a:gd name="adj" fmla="val 19355"/>
            </a:avLst>
          </a:prstGeom>
          <a:solidFill>
            <a:srgbClr val="FFFFFF"/>
          </a:solidFill>
          <a:ln w="12700">
            <a:solidFill>
              <a:srgbClr val="FFFFFF"/>
            </a:solidFill>
            <a:prstDash val="solid"/>
          </a:ln>
        </p:spPr>
      </p:sp>
      <p:sp>
        <p:nvSpPr>
          <p:cNvPr id="13" name="Text 10"/>
          <p:cNvSpPr txBox="1"/>
          <p:nvPr/>
        </p:nvSpPr>
        <p:spPr>
          <a:xfrm>
            <a:off x="2377440" y="3163824"/>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Extraction must be on before starting.</a:t>
            </a:r>
            <a:endParaRPr lang="en-US" sz="1500" dirty="0"/>
          </a:p>
        </p:txBody>
      </p:sp>
      <p:sp>
        <p:nvSpPr>
          <p:cNvPr id="14" name="safe4"/>
          <p:cNvSpPr/>
          <p:nvPr/>
        </p:nvSpPr>
        <p:spPr>
          <a:xfrm>
            <a:off x="2194560" y="3822192"/>
            <a:ext cx="6492240" cy="566928"/>
          </a:xfrm>
          <a:prstGeom prst="roundRect">
            <a:avLst>
              <a:gd name="adj" fmla="val 19355"/>
            </a:avLst>
          </a:prstGeom>
          <a:solidFill>
            <a:srgbClr val="FCEFF3"/>
          </a:solidFill>
          <a:ln w="12700">
            <a:solidFill>
              <a:srgbClr val="FCEFF3"/>
            </a:solidFill>
            <a:prstDash val="solid"/>
          </a:ln>
        </p:spPr>
      </p:sp>
      <p:sp>
        <p:nvSpPr>
          <p:cNvPr id="15" name="Text 12"/>
          <p:cNvSpPr txBox="1"/>
          <p:nvPr/>
        </p:nvSpPr>
        <p:spPr>
          <a:xfrm>
            <a:off x="2377440" y="3822192"/>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Report any smell of burning or smoke immediately.</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Import your maker mark into the laser software.</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Draw a keychain or plaque outline and add a keyring hole.</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Set the cut and engrave layers and check sizes.</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Get the teacher's file check.</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Observe your piece being cut and record the settings.</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Laser File Planner</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Use the ready-made circle keychain outline and place your maker mark inside.</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Design your own outline shape with a hole and correct layers.</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Design a plaque with your maker mark and a short engraved motto, and calculate how many pieces fit on one sheet.</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is the difference between cutting and engraving?</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safety rule is the most important around the laser, and why?</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the difference between cutting and engraving.</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set up a file with a cut outline and an engrave area.</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choose a suitable size and material for my piece.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follow the laser cutter safety rules.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Maker Mark: Laser Cutting My Maker Mark</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